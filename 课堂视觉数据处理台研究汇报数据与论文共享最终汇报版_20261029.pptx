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_tf1.xml" ContentType="application/vnd.openxmlformats-officedocument.presentationml.notesSlide+xml"/>
  <Override PartName="/ppt/notesSlides/notesSlide2_tf1.xml" ContentType="application/vnd.openxmlformats-officedocument.presentationml.notesSlide+xml"/>
  <Override PartName="/ppt/notesSlides/notesSlide3_tf1.xml" ContentType="application/vnd.openxmlformats-officedocument.presentationml.notesSlide+xml"/>
  <Override PartName="/ppt/notesSlides/notesSlide4_tf1.xml" ContentType="application/vnd.openxmlformats-officedocument.presentationml.notesSlide+xml"/>
  <Override PartName="/ppt/notesSlides/notesSlide5_tf1.xml" ContentType="application/vnd.openxmlformats-officedocument.presentationml.notesSlide+xml"/>
  <Override PartName="/ppt/notesSlides/notesSlide6_tf1.xml" ContentType="application/vnd.openxmlformats-officedocument.presentationml.notesSlide+xml"/>
  <Override PartName="/ppt/notesSlides/notesSlide7_tf1.xml" ContentType="application/vnd.openxmlformats-officedocument.presentationml.notesSlide+xml"/>
  <Override PartName="/ppt/notesSlides/notesSlide8_tf1.xml" ContentType="application/vnd.openxmlformats-officedocument.presentationml.notesSlide+xml"/>
  <Override PartName="/ppt/notesSlides/notesSlide9_tf1.xml" ContentType="application/vnd.openxmlformats-officedocument.presentationml.notesSlide+xml"/>
  <Override PartName="/ppt/notesSlides/notesSlide10_tf1.xml" ContentType="application/vnd.openxmlformats-officedocument.presentationml.notesSlide+xml"/>
  <Override PartName="/ppt/notesSlides/notesSlide11_tf1.xml" ContentType="application/vnd.openxmlformats-officedocument.presentationml.notesSlide+xml"/>
  <Override PartName="/ppt/notesSlides/notesSlide12_tf1.xml" ContentType="application/vnd.openxmlformats-officedocument.presentationml.notesSlide+xml"/>
  <Override PartName="/ppt/notesSlides/notesSlide13_tf1.xml" ContentType="application/vnd.openxmlformats-officedocument.presentationml.notesSlide+xml"/>
  <Override PartName="/ppt/notesSlides/notesSlide14_tf1.xml" ContentType="application/vnd.openxmlformats-officedocument.presentationml.notesSlide+xml"/>
  <Override PartName="/ppt/notesSlides/notesSlide14_tf2.xml" ContentType="application/vnd.openxmlformats-officedocument.presentationml.notesSlide+xml"/>
  <Override PartName="/ppt/notesSlides/notesSlide14_tf3.xml" ContentType="application/vnd.openxmlformats-officedocument.presentationml.notesSlide+xml"/>
  <Override PartName="/ppt/notesSlides/notesSlide15_tf1.xml" ContentType="application/vnd.openxmlformats-officedocument.presentationml.notesSlide+xml"/>
  <Override PartName="/ppt/notesSlides/notesSlide16_tf1.xml" ContentType="application/vnd.openxmlformats-officedocument.presentationml.notesSlide+xml"/>
  <Override PartName="/ppt/notesSlides/notesSlide17_tf1.xml" ContentType="application/vnd.openxmlformats-officedocument.presentationml.notesSlide+xml"/>
  <Override PartName="/ppt/notesSlides/notesSlide18_tf1.xml" ContentType="application/vnd.openxmlformats-officedocument.presentationml.notesSlide+xml"/>
  <Override PartName="/ppt/notesSlides/notesSlide19_tf1.xml" ContentType="application/vnd.openxmlformats-officedocument.presentationml.notesSlide+xml"/>
  <Override PartName="/ppt/notesSlides/notesSlide20_tf1.xml" ContentType="application/vnd.openxmlformats-officedocument.presentationml.notesSlide+xml"/>
  <Override PartName="/ppt/notesSlides/notesSlide21_tf1.xml" ContentType="application/vnd.openxmlformats-officedocument.presentationml.notesSlide+xml"/>
  <Override PartName="/ppt/notesSlides/notesSlide22_tf1.xml" ContentType="application/vnd.openxmlformats-officedocument.presentationml.notesSlide+xml"/>
  <Override PartName="/ppt/notesSlides/notesSlide23_tf1.xml" ContentType="application/vnd.openxmlformats-officedocument.presentationml.notesSlide+xml"/>
  <Override PartName="/ppt/notesSlides/notesSlide24_tf1.xml" ContentType="application/vnd.openxmlformats-officedocument.presentationml.notesSlide+xml"/>
  <Override PartName="/ppt/notesSlides/notesSlide25_tf1.xml" ContentType="application/vnd.openxmlformats-officedocument.presentationml.notesSlide+xml"/>
  <Override PartName="/ppt/notesSlides/notesSlide25_tf2.xml" ContentType="application/vnd.openxmlformats-officedocument.presentationml.notesSlide+xml"/>
  <Override PartName="/ppt/notesSlides/notesSlide25_tf3.xml" ContentType="application/vnd.openxmlformats-officedocument.presentationml.notesSlide+xml"/>
  <Override PartName="/ppt/notesSlides/notesSlide25_tf4.xml" ContentType="application/vnd.openxmlformats-officedocument.presentationml.notesSlide+xml"/>
  <Override PartName="/ppt/notesSlides/notesSlide25_tf5.xml" ContentType="application/vnd.openxmlformats-officedocument.presentationml.notesSlide+xml"/>
  <Override PartName="/ppt/notesSlides/notesSlide26_tf1.xml" ContentType="application/vnd.openxmlformats-officedocument.presentationml.notesSlide+xml"/>
  <Override PartName="/ppt/notesSlides/notesSlide27_tf1.xml" ContentType="application/vnd.openxmlformats-officedocument.presentationml.notesSlide+xml"/>
  <Override PartName="/ppt/notesSlides/notesSlide28_tf1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29_tf1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0_tf1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1_tf1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2_tf1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3_tf1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3_tf2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33_tf3.xml" ContentType="application/vnd.openxmlformats-officedocument.presentationml.notesSlide+xml"/>
  <Override PartName="/ppt/slides/slide4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35"/>
  </p:notesMasterIdLst>
  <p:sldIdLst>
    <p:sldId id="256" r:id="rId40"/>
    <p:sldId id="257" r:id="rId41"/>
    <p:sldId id="258" r:id="rId42"/>
    <p:sldId id="259" r:id="rId43"/>
    <p:sldId id="260" r:id="rId44"/>
    <p:sldId id="261" r:id="rId45"/>
    <p:sldId id="262" r:id="rId46"/>
    <p:sldId id="263" r:id="rId47"/>
    <p:sldId id="264" r:id="rId48"/>
    <p:sldId id="265" r:id="rId49"/>
    <p:sldId id="266" r:id="rId50"/>
    <p:sldId id="267" r:id="rId51"/>
    <p:sldId id="268" r:id="rId52"/>
    <p:sldId id="269" r:id="rId53"/>
    <p:sldId id="270" r:id="rId54"/>
    <p:sldId id="271" r:id="rId55"/>
    <p:sldId id="272" r:id="rId56"/>
    <p:sldId id="273" r:id="rId57"/>
    <p:sldId id="274" r:id="rId58"/>
    <p:sldId id="275" r:id="rId59"/>
    <p:sldId id="276" r:id="rId60"/>
    <p:sldId id="277" r:id="rId61"/>
    <p:sldId id="278" r:id="rId62"/>
    <p:sldId id="279" r:id="rId63"/>
    <p:sldId id="280" r:id="rId64"/>
    <p:sldId id="281" r:id="rId65"/>
    <p:sldId id="282" r:id="rId66"/>
    <p:sldId id="283" r:id="rId67"/>
    <p:sldId id="284" r:id="rId68"/>
    <p:sldId id="285" r:id="rId69"/>
    <p:sldId id="286" r:id="rId70"/>
    <p:sldId id="287" r:id="rId71"/>
    <p:sldId id="288" r:id="rId72"/>
    <p:sldId id="289" r:id="rId73"/>
    <p:sldId id="290" r:id="rId74"/>
    <p:sldId id="291" r:id="rId75"/>
    <p:sldId id="292" r:id="rId76"/>
    <p:sldId id="293" r:id="rId77"/>
    <p:sldId id="294" r:id="rId78"/>
    <p:sldId id="295" r:id="rId79"/>
    <p:sldId id="296" r:id="rId8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39" Type="http://schemas.openxmlformats.org/officeDocument/2006/relationships/tableStyles" Target="tableStyles.xml" /><Relationship Id="rId38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35" Type="http://schemas.openxmlformats.org/officeDocument/2006/relationships/notesMaster" Target="notesMasters/notesMaster1.xml" /><Relationship Id="rId40" Type="http://schemas.openxmlformats.org/officeDocument/2006/relationships/slide" Target="slides/slide1.xml" /><Relationship Id="rId41" Type="http://schemas.openxmlformats.org/officeDocument/2006/relationships/slide" Target="slides/slide2.xml" /><Relationship Id="rId42" Type="http://schemas.openxmlformats.org/officeDocument/2006/relationships/slide" Target="slides/slide3.xml" /><Relationship Id="rId43" Type="http://schemas.openxmlformats.org/officeDocument/2006/relationships/slide" Target="slides/slide4.xml" /><Relationship Id="rId44" Type="http://schemas.openxmlformats.org/officeDocument/2006/relationships/slide" Target="slides/slide5.xml" /><Relationship Id="rId45" Type="http://schemas.openxmlformats.org/officeDocument/2006/relationships/slide" Target="slides/slide6.xml" /><Relationship Id="rId46" Type="http://schemas.openxmlformats.org/officeDocument/2006/relationships/slide" Target="slides/slide7.xml" /><Relationship Id="rId47" Type="http://schemas.openxmlformats.org/officeDocument/2006/relationships/slide" Target="slides/slide8.xml" /><Relationship Id="rId48" Type="http://schemas.openxmlformats.org/officeDocument/2006/relationships/slide" Target="slides/slide9.xml" /><Relationship Id="rId49" Type="http://schemas.openxmlformats.org/officeDocument/2006/relationships/slide" Target="slides/slide10.xml" /><Relationship Id="rId50" Type="http://schemas.openxmlformats.org/officeDocument/2006/relationships/slide" Target="slides/slide11.xml" /><Relationship Id="rId51" Type="http://schemas.openxmlformats.org/officeDocument/2006/relationships/slide" Target="slides/slide12.xml" /><Relationship Id="rId52" Type="http://schemas.openxmlformats.org/officeDocument/2006/relationships/slide" Target="slides/slide13.xml" /><Relationship Id="rId53" Type="http://schemas.openxmlformats.org/officeDocument/2006/relationships/slide" Target="slides/slide14.xml" /><Relationship Id="rId54" Type="http://schemas.openxmlformats.org/officeDocument/2006/relationships/slide" Target="slides/slide15.xml" /><Relationship Id="rId55" Type="http://schemas.openxmlformats.org/officeDocument/2006/relationships/slide" Target="slides/slide16.xml" /><Relationship Id="rId56" Type="http://schemas.openxmlformats.org/officeDocument/2006/relationships/slide" Target="slides/slide17.xml" /><Relationship Id="rId57" Type="http://schemas.openxmlformats.org/officeDocument/2006/relationships/slide" Target="slides/slide18.xml" /><Relationship Id="rId58" Type="http://schemas.openxmlformats.org/officeDocument/2006/relationships/slide" Target="slides/slide19.xml" /><Relationship Id="rId59" Type="http://schemas.openxmlformats.org/officeDocument/2006/relationships/slide" Target="slides/slide20.xml" /><Relationship Id="rId60" Type="http://schemas.openxmlformats.org/officeDocument/2006/relationships/slide" Target="slides/slide21.xml" /><Relationship Id="rId61" Type="http://schemas.openxmlformats.org/officeDocument/2006/relationships/slide" Target="slides/slide22.xml" /><Relationship Id="rId62" Type="http://schemas.openxmlformats.org/officeDocument/2006/relationships/slide" Target="slides/slide23.xml" /><Relationship Id="rId63" Type="http://schemas.openxmlformats.org/officeDocument/2006/relationships/slide" Target="slides/slide24.xml" /><Relationship Id="rId64" Type="http://schemas.openxmlformats.org/officeDocument/2006/relationships/slide" Target="slides/slide25.xml" /><Relationship Id="rId65" Type="http://schemas.openxmlformats.org/officeDocument/2006/relationships/slide" Target="slides/slide26.xml" /><Relationship Id="rId66" Type="http://schemas.openxmlformats.org/officeDocument/2006/relationships/slide" Target="slides/slide27.xml" /><Relationship Id="rId67" Type="http://schemas.openxmlformats.org/officeDocument/2006/relationships/slide" Target="slides/slide28.xml" /><Relationship Id="rId68" Type="http://schemas.openxmlformats.org/officeDocument/2006/relationships/slide" Target="slides/slide29.xml" /><Relationship Id="rId69" Type="http://schemas.openxmlformats.org/officeDocument/2006/relationships/slide" Target="slides/slide30.xml" /><Relationship Id="rId70" Type="http://schemas.openxmlformats.org/officeDocument/2006/relationships/slide" Target="slides/slide31.xml" /><Relationship Id="rId71" Type="http://schemas.openxmlformats.org/officeDocument/2006/relationships/slide" Target="slides/slide32.xml" /><Relationship Id="rId72" Type="http://schemas.openxmlformats.org/officeDocument/2006/relationships/slide" Target="slides/slide33.xml" /><Relationship Id="rId73" Type="http://schemas.openxmlformats.org/officeDocument/2006/relationships/slide" Target="slides/slide34.xml" /><Relationship Id="rId74" Type="http://schemas.openxmlformats.org/officeDocument/2006/relationships/slide" Target="slides/slide35.xml" /><Relationship Id="rId75" Type="http://schemas.openxmlformats.org/officeDocument/2006/relationships/slide" Target="slides/slide36.xml" /><Relationship Id="rId76" Type="http://schemas.openxmlformats.org/officeDocument/2006/relationships/slide" Target="slides/slide37.xml" /><Relationship Id="rId77" Type="http://schemas.openxmlformats.org/officeDocument/2006/relationships/slide" Target="slides/slide38.xml" /><Relationship Id="rId78" Type="http://schemas.openxmlformats.org/officeDocument/2006/relationships/slide" Target="slides/slide39.xml" /><Relationship Id="rId79" Type="http://schemas.openxmlformats.org/officeDocument/2006/relationships/slide" Target="slides/slide40.xml" /><Relationship Id="rId80" Type="http://schemas.openxmlformats.org/officeDocument/2006/relationships/slide" Target="slides/slide4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_tf1.xml.rels><?xml version='1.0' encoding='utf-8'?>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_tf1.xml.rels><?xml version='1.0' encoding='utf-8'?>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_tf1.xml.rels><?xml version='1.0' encoding='utf-8'?>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_tf1.xml.rels><?xml version='1.0' encoding='utf-8'?>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_tf1.xml.rels><?xml version='1.0' encoding='utf-8'?>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_tf1.xml.rels><?xml version='1.0' encoding='utf-8'?>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_tf1.xml.rels><?xml version='1.0' encoding='utf-8'?>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_tf1.xml.rels><?xml version='1.0' encoding='utf-8'?>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_tf1.xml.rels><?xml version='1.0' encoding='utf-8'?>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_tf1.xml.rels><?xml version='1.0' encoding='utf-8'?>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_tf1.xml.rels><?xml version='1.0' encoding='utf-8'?>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_tf1.xml.rels><?xml version='1.0' encoding='utf-8'?>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_tf1.xml.rels><?xml version='1.0' encoding='utf-8'?>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_tf1.xml.rels><?xml version='1.0' encoding='utf-8'?>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_tf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4_tf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5_tf1.xml.rels><?xml version='1.0' encoding='utf-8'?>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6_tf1.xml.rels><?xml version='1.0' encoding='utf-8'?>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7_tf1.xml.rels><?xml version='1.0' encoding='utf-8'?>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8_tf1.xml.rels><?xml version='1.0' encoding='utf-8'?>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9_tf1.xml.rels><?xml version='1.0' encoding='utf-8'?>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0_tf1.xml.rels><?xml version='1.0' encoding='utf-8'?>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1_tf1.xml.rels><?xml version='1.0' encoding='utf-8'?>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2_tf1.xml.rels><?xml version='1.0' encoding='utf-8'?>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3_tf1.xml.rels><?xml version='1.0' encoding='utf-8'?>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4_tf1.xml.rels><?xml version='1.0' encoding='utf-8'?>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5_tf1.xml.rels><?xml version='1.0' encoding='utf-8'?>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5_tf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5_tf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25_tf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25_tf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26_tf1.xml.rels><?xml version='1.0' encoding='utf-8'?>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27_tf1.xml.rels><?xml version='1.0' encoding='utf-8'?>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28_tf1.xml.rels><?xml version='1.0' encoding='utf-8'?>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29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0_tf1.xml.rels><?xml version='1.0' encoding='utf-8'?>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1_tf1.xml.rels><?xml version='1.0' encoding='utf-8'?>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2_tf1.xml.rels><?xml version='1.0' encoding='utf-8'?>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3_tf1.xml.rels><?xml version='1.0' encoding='utf-8'?>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33_tf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33_tf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本汇报介绍一套面向课堂视觉分析的数据处理程序。核心问题是，在远距离、低分辨率和多人遮挡条件下，学生行为、面部表情、投入度和姿态分析会受到怎样的影响。标题页只说明研究对象和方法，不先展示尚未完成的模型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这一页回答研究动机。程序不是为了单纯改变图片，而是把课堂中的复杂因素参数化，从而可以重复地比较原图、退化图像和恢复后的图像。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该页支撑研究背景中的微表情任务定义、数据集差异和评价协议选择。</a:t>
            </a:r>
          </a:p>
          <a:p>
            <a:r>
              <a:t>来源 PDF：D:\数据处理1\论文1\微表情评价指标Q1\Deep_Learning_for_Micro-Expression_Recognition_A_Survey.pdf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</a:t>
            </a:r>
          </a:p>
          <a:p>
            <a:r>
              <a:t>DAiSEE：https://people.iith.ac.in/vineethnb/resources/daisee/index.html</a:t>
            </a:r>
          </a:p>
          <a:p>
            <a:r>
              <a:t>Tianchi：https://tianchi.aliyun.com/dataset/201537</a:t>
            </a:r>
          </a:p>
          <a:p>
            <a:r>
              <a:t>SCB：https://github.com/Whiffe/SCB-dataset</a:t>
            </a:r>
          </a:p>
          <a:p>
            <a:r>
              <a:t>数据统计来自本地 Excel 索引，未把不同数据集的标签直接强行合并。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数据资源来自 D:\数据处理1\学生行为数据集1。当前目录实际是三类来源、九个可独立说明的数据包：DAiSEE 视频、Tianchi/Roboflow 图片、SCB 图像标注包与五个视角视频包。表格中的占用空间是当前解压目录中文件大小的合计，按 1 GiB = 1024^3 字节计算；因为原 ZIP/7z 文件已不在当前目录，所以没有估算压缩包大小。讲解时强调 DAiSEE 记录的是学习投入度/状态，不直接当作微表情标签；SCB 的图片和视频保留不同标注格式与视角。</a:t>
            </a:r>
          </a:p>
          <a:p>
            <a:r>
              <a:t>数据源：DAiSEE https://people.iith.ac.in/vineethnb/resources/daisee/index.html；Tianchi https://tianchi.aliyun.com/dataset/201537；SCB https://github.com/Whiffe/SCB-dataset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这页把九个数据包和 Excel 里的具体来源对应起来。A 是 DAiSEE 官方来源，B 是 Tianchi 官方页及 Roboflow 详情页，C 是 SCB-Dataset GitHub 及其补充仓库。SCB 的图像、VOC 和五个视角视频来自同一类 GitHub 来源，因此表格列出九个文件组织单元，但仍说明公开来源只有三类。Tianchi 在 Excel 中没有对应论文链接，汇报时不要补写不存在的论文。</a:t>
            </a:r>
          </a:p>
          <a:p>
            <a:r>
              <a:t>Excel workbook：D:\数据处理1\学生行为数据集1\学生行为数据集1_跨设备媒体索引_实际路径修正版.xlsx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Excel 文件是数据资源的总索引。00_索引说明记录根目录、解压规则和跨设备打开要求；三个数据表分别记录 DAiSEE、Tianchi/Roboflow 和 SCB。每条媒体记录同时保留 source_url、paper_url、archive_file、archive_member_path、relative_path_after_unzip、resolution、scaled_or_resized 等字段。跨设备使用时，先把压缩包下载并解压成与原目录一致的同名文件夹，Excel 中的相对路径才可以继续定位媒体。</a:t>
            </a:r>
          </a:p>
          <a:p>
            <a:r>
              <a:t>Excel 路径：D:\数据处理1\学生行为数据集1\学生行为数据集1_跨设备媒体索引_实际路径修正版.xlsx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资料共享说明：</a:t>
            </a:r>
          </a:p>
          <a:p>
            <a:r>
              <a:t>数据与论文资料：百度网盘“数据处理1”，链接 https://pan.baidu.com/s/1YOpMGQYRBx7yJW5j_Xs9xQ?pwd=u7cs，提取码 u7cs。内容包括 D:\数据处理1\学生行为数据集1、八篇论文原件和论文分析文档。</a:t>
            </a:r>
          </a:p>
          <a:p>
            <a:r>
              <a:t>预处理软件：GitHub 仓库 xinnmyz / Classroom Visual Processing Console（https://github.com/xinnmyz/Classroom-Visual-Processing-Console）；百度网盘“课堂视觉数据处理台_EXE_发行包_20261026”，链接 https://pan.baidu.com/s/1VsI0mF-KZfnL5kbHK-6HWQ?pwd=34rw，提取码 34rw。内容包括 EXE 发行包、运行依赖和使用说明。</a:t>
            </a:r>
          </a:p>
          <a:p>
            <a:r>
              <a:t>提醒听众：跨设备使用时，应先把压缩包下载并解压为同名文件夹，Excel 中的媒体路径才有可能正确打开。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该页支撑数据集概览、投入度任务定义和视频时间建模。</a:t>
            </a:r>
          </a:p>
          <a:p>
            <a:r>
              <a:t>来源 PDF：D:\数据处理1\论文1\学习投入度\1804.00858v4.pdf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该页支撑数据特点、微表情时间标注和个体差异处理。</a:t>
            </a:r>
          </a:p>
          <a:p>
            <a:r>
              <a:t>来源 PDF：D:\数据处理1\论文1\高帧率视频面部个体差异.Q1\taffc.2016.2573832.pdf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该页支撑课堂行为数据集、检测任务、帧切分和数据泄漏风险。</a:t>
            </a:r>
          </a:p>
          <a:p>
            <a:r>
              <a:t>来源 PDF：D:\数据处理1\论文1\课堂学生行为\2310.02522v2.pdf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这张图来自 SCB 数据集，展示课堂中多人和前后排关系。讲解时强调：数据集之间的标签不能直接混为一谈，程序通过 label_mapping 保留 source label、canonical label 和 namespace。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这一页用于避免概念混淆。DAiSEE 记录的是学习投入度和相关状态，微表情数据集需要独立的面部表情标签和时间片段。程序中的 label_mapping 保留了来源标签和任务命名空间。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这组图来自同一张 SCB 课堂图片。分辨率处理采用比例缩放，恢复图像尺寸采用插值放大。黑色矩形遮挡面积约为整幅图的 5.2%，这里只展示视觉变化，不把视觉变化直接当作模型性能结论。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这一页展示的是处理台真正生成的输入。6 张 Tianchi 图片生成了 4 种条件，共 24 张模型输入，所有样本都保留 sample_id、condition 和输出路径。</a:t>
            </a:r>
          </a:p>
        </p:txBody>
      </p:sp>
    </p:spTree>
  </p:cSld>
  <p:clrMapOvr>
    <a:masterClrMapping/>
  </p:clrMapOvr>
</p:notes>
</file>

<file path=ppt/notesSlides/notesSlide14_tf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SCB 更适合课堂行为和多人遮挡研究，Tianchi 是本次实测来源，DAiSEE 用来说明投入度标签和跨域问题。实验固定随机种子，便于复现。</a:t>
            </a:r>
          </a:p>
        </p:txBody>
      </p:sp>
    </p:spTree>
  </p:cSld>
  <p:clrMapOvr>
    <a:masterClrMapping/>
  </p:clrMapOvr>
</p:notes>
</file>

<file path=ppt/notesSlides/notesSlide1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这一页说明程序对实验数据做了哪些基础检查。统一标注只统一字段结构，不会把不同数据集的语义标签强行合并。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按这个顺序介绍程序。扫描和标签整理保证数据可追溯；分辨率和遮挡处理制造实验条件；人物聚焦和跟踪保证比较的是同一人物；最后把结果和配置一起导出。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分辨率实验应保持同一张图、同一人物和同一标签，只改变缩放比例。恢复分辨率用于评估图像增强后的性能变化，不能把它解释成真实信息完全恢复。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该页支撑分辨率退化实验的尺度选择和恢复分辨率的解释边界。</a:t>
            </a:r>
          </a:p>
          <a:p>
            <a:r>
              <a:t>来源 PDF：D:\数据处理1\论文1\低分辨率对表情识别的影响与超分辨率的恢复作用\arxiv收录另一篇相关\2004.02234v1.pdf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该页支撑多尺度输入、跨数据集验证和恢复分辨率的结果解释。</a:t>
            </a:r>
          </a:p>
          <a:p>
            <a:r>
              <a:t>来源 PDF：D:\数据处理1\论文1\低分辨率对表情识别的影响与超分辨率的恢复作用\Q1\main.pdf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遮挡实验分为合成遮挡和真实遮挡。黑色像素、矩形和关键点遮挡适合做可控实验；前景学生遮挡用于接近课堂中的遮挡层级。隐私处理包括人脸模糊、马赛克和黑色遮挡。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该页支撑遮挡模拟、关键点可见性标签和姿态评价设计。</a:t>
            </a:r>
          </a:p>
          <a:p>
            <a:r>
              <a:t>来源 PDF：D:\数据处理1\论文1\区分可见关键点和被遮挡关键点\2208.00090v1.pdf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这一页用于讲程序本身。可以在现场演示时按照左到右的顺序操作，先选择数据，再设置处理参数，最后在报告页查看结果。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图中的人物框和 ID 是功能示意，用于说明程序如何聚焦同一个人物。正式实验应由检测器和跟踪器输出真实框、真实 person_id 以及对应的跟踪指标。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该页支撑多人跟踪、track ID、ignore regions 和姿态/跟踪联合评价。</a:t>
            </a:r>
          </a:p>
          <a:p>
            <a:r>
              <a:t>来源 PDF：D:\数据处理1\论文1\视频追踪 遮挡 多人姿态估计\Andriluka_PoseTrack_A_Benchmark_CVPR_2018_paper.pdf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程序已经提供指标导入和统计框架。真实模型评估需要上传模型预测结果或接入模型插件，PPT中的指标名称对应程序中支持的评估模块。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四个模型都在处理台输出上实际运行。YOLO 和 RT-DETR 输出检测框，Pose 输出关键点，DAiSEE 输出投入度基线。没有真实标注对齐时，不把这些输出说成 Accuracy 或 mAP。</a:t>
            </a:r>
          </a:p>
        </p:txBody>
      </p:sp>
    </p:spTree>
  </p:cSld>
  <p:clrMapOvr>
    <a:masterClrMapping/>
  </p:clrMapOvr>
</p:notes>
</file>

<file path=ppt/notesSlides/notesSlide25_tf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Pose 对 1/4 低分辨率最敏感，RT-DETR 的检测框数量也下降。输出框数量只能用来观察退化现象，正式检测性能仍需要真实框标注。</a:t>
            </a:r>
          </a:p>
        </p:txBody>
      </p:sp>
    </p:spTree>
  </p:cSld>
  <p:clrMapOvr>
    <a:masterClrMapping/>
  </p:clrMapOvr>
</p:notes>
</file>

<file path=ppt/notesSlides/notesSlide25_tf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DAiSEE ValidationLabels 前 20 个视频各抽取中间帧，公开视觉 baseline 在原图上得到 Accuracy 0.30、MAE 1.20；加入 1% 遮挡后 Accuracy 0.05、MAE 1.85，1/4 低分辨率为 0.10、1.85，组合条件为 0.00、2.15。这个结果说明复杂条件会进一步削弱视觉基线，但它仍不是时序微调模型的正式效果。</a:t>
            </a:r>
          </a:p>
        </p:txBody>
      </p:sp>
    </p:spTree>
  </p:cSld>
  <p:clrMapOvr>
    <a:masterClrMapping/>
  </p:clrMapOvr>
</p:notes>
</file>

<file path=ppt/notesSlides/notesSlide25_tf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这一页是现场口头解释用的术语翻译。先用中文说清楚指标在问什么，再在括号里指出论文里的英文名称。</a:t>
            </a:r>
          </a:p>
        </p:txBody>
      </p:sp>
    </p:spTree>
  </p:cSld>
  <p:clrMapOvr>
    <a:masterClrMapping/>
  </p:clrMapOvr>
</p:notes>
</file>

<file path=ppt/notesSlides/notesSlide2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这一页解释数据集和训练协议中的常见术语。LOSO 和 subject-independent 的共同目标是检验跨被试泛化能力。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这一页解释分类和目标检测指标。mAP@50 较宽松，mAP@50:95 更严格，二者不能混用。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这一页解释姿态、跟踪和遮挡术语。姿态 AP 或 PCK 不能替代 IDF1、MOTA、HOTA，单帧和视频级指标要分开报告。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这一页替换原来的结果模板。实际跑出的模型输出可以说明退化现象，但没有课堂行为真实框、姿态关键点和投入度标签对齐时，不能把框数量直接称为 mAP，也不能把公开基线当作最终模型。DAiSEE 验证集前 20 个视频得到 ACC 0.30、MAE 1.20，只作为探索性基线。</a:t>
            </a:r>
          </a:p>
        </p:txBody>
      </p:sp>
    </p:spTree>
  </p:cSld>
  <p:clrMapOvr>
    <a:masterClrMapping/>
  </p:clrMapOvr>
</p:notes>
</file>

<file path=ppt/notesSlides/notesSlide3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可复现记录是研究型程序的重要部分。它把数据处理从一次性操作变成带有配置和证据的实验。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现场演示控制在 3 到 5 分钟。优先展示一个人物的原图、低分辨率、遮挡和恢复结果，再打开导出的结果表。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这一页可以作为答辩追问时的参数依据。正式实验时把实际使用的参数值从程序导出的 JSON 中复制到这里。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结尾回到研究问题。程序已经解决数据整理和复杂条件构造，下一步是接入真实行为、微表情、投入度、姿态和跟踪模型，得到可报告的性能变化。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结尾只讲三件事：做了什么、看到了什么、为什么还需要真实标注。</a:t>
            </a:r>
          </a:p>
        </p:txBody>
      </p:sp>
    </p:spTree>
  </p:cSld>
  <p:clrMapOvr>
    <a:masterClrMapping/>
  </p:clrMapOvr>
</p:notes>
</file>

<file path=ppt/notesSlides/notesSlide33_tf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这页是现场提示，按六句话讲即可；英文先翻译成中文，再补英文缩写。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10750DC-CAB3-41B5-8EE5-292BAFE7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FAD7F9F-FE22-498B-87D4-EE151AB2A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ED05146-6E27-454C-92C0-D8B09977B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A0A89A8-21FE-4F4D-90B4-A9B4B0DE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EB5B512-CF2C-4D6D-9B8B-B590E4897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5AAA82A-D65D-4FF3-BF04-AD68568C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F22B874-39E2-4E92-AB63-F04371795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E7AE119-503D-4600-A03C-5637186AF9B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F01338F-AC03-4981-B335-1C208BF2F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9A068FC-9187-43AD-BAFE-51DB974F6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notesSlide" Target="../notesSlides/notesSlide1_tf1.xml" /><Relationship Id="rId1" Type="http://schemas.openxmlformats.org/officeDocument/2006/relationships/slideLayout" Target="../slideLayouts/slideLayout6.xml" /></Relationships>
</file>

<file path=ppt/slides/_rels/slide2.xml.rels><?xml version='1.0' encoding='utf-8'?>
<Relationships xmlns="http://schemas.openxmlformats.org/package/2006/relationships"><Relationship Id="rId2" Type="http://schemas.openxmlformats.org/officeDocument/2006/relationships/notesSlide" Target="../notesSlides/notesSlide2_tf1.xml" /><Relationship Id="rId1" Type="http://schemas.openxmlformats.org/officeDocument/2006/relationships/slideLayout" Target="../slideLayouts/slideLayout6.xml" /></Relationships>
</file>

<file path=ppt/slides/_rels/slide3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3_tf1.xml" /><Relationship Id="rId1" Type="http://schemas.openxmlformats.org/officeDocument/2006/relationships/slideLayout" Target="../slideLayouts/slideLayout6.xml" /></Relationships>
</file>

<file path=ppt/slides/_rels/slide4.xml.rels><?xml version='1.0' encoding='utf-8'?>
<Relationships xmlns="http://schemas.openxmlformats.org/package/2006/relationships"><Relationship Id="rId2" Type="http://schemas.openxmlformats.org/officeDocument/2006/relationships/notesSlide" Target="../notesSlides/notesSlide4_tf1.xml" /><Relationship Id="rId1" Type="http://schemas.openxmlformats.org/officeDocument/2006/relationships/slideLayout" Target="../slideLayouts/slideLayout6.xml" /></Relationships>
</file>

<file path=ppt/slides/_rels/slide5.xml.rels><?xml version='1.0' encoding='utf-8'?>
<Relationships xmlns="http://schemas.openxmlformats.org/package/2006/relationships"><Relationship Id="rId2" Type="http://schemas.openxmlformats.org/officeDocument/2006/relationships/notesSlide" Target="../notesSlides/notesSlide5_tf1.xml" /><Relationship Id="rId1" Type="http://schemas.openxmlformats.org/officeDocument/2006/relationships/slideLayout" Target="../slideLayouts/slideLayout6.xml" /></Relationships>
</file>

<file path=ppt/slides/_rels/slide6.xml.rels><?xml version='1.0' encoding='utf-8'?>
<Relationships xmlns="http://schemas.openxmlformats.org/package/2006/relationships"><Relationship Id="rId2" Type="http://schemas.openxmlformats.org/officeDocument/2006/relationships/notesSlide" Target="../notesSlides/notesSlide6_tf1.xml" /><Relationship Id="rId1" Type="http://schemas.openxmlformats.org/officeDocument/2006/relationships/slideLayout" Target="../slideLayouts/slideLayout6.xml" /></Relationships>
</file>

<file path=ppt/slides/_rels/slide7.xml.rels><?xml version='1.0' encoding='utf-8'?>
<Relationships xmlns="http://schemas.openxmlformats.org/package/2006/relationships"><Relationship Id="rId2" Type="http://schemas.openxmlformats.org/officeDocument/2006/relationships/notesSlide" Target="../notesSlides/notesSlide7_tf1.xml" /><Relationship Id="rId1" Type="http://schemas.openxmlformats.org/officeDocument/2006/relationships/slideLayout" Target="../slideLayouts/slideLayout6.xml" /></Relationships>
</file>

<file path=ppt/slides/_rels/slide8.xml.rels><?xml version='1.0' encoding='utf-8'?>
<Relationships xmlns="http://schemas.openxmlformats.org/package/2006/relationships"><Relationship Id="rId2" Type="http://schemas.openxmlformats.org/officeDocument/2006/relationships/notesSlide" Target="../notesSlides/notesSlide8_tf1.xml" /><Relationship Id="rId1" Type="http://schemas.openxmlformats.org/officeDocument/2006/relationships/slideLayout" Target="../slideLayouts/slideLayout6.xml" /></Relationships>
</file>

<file path=ppt/slides/_rels/slide9.xml.rels><?xml version='1.0' encoding='utf-8'?>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9_tf1.xml" /><Relationship Id="rId1" Type="http://schemas.openxmlformats.org/officeDocument/2006/relationships/slideLayout" Target="../slideLayouts/slideLayout6.xml" /></Relationships>
</file>

<file path=ppt/slides/_rels/slide10.xml.rels><?xml version='1.0' encoding='utf-8'?>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10_tf1.xml" /><Relationship Id="rId1" Type="http://schemas.openxmlformats.org/officeDocument/2006/relationships/slideLayout" Target="../slideLayouts/slideLayout6.xml" /></Relationships>
</file>

<file path=ppt/slides/_rels/slide11.xml.rels><?xml version='1.0' encoding='utf-8'?>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11_tf1.xml" /><Relationship Id="rId1" Type="http://schemas.openxmlformats.org/officeDocument/2006/relationships/slideLayout" Target="../slideLayouts/slideLayout6.xml" /></Relationships>
</file>

<file path=ppt/slides/_rels/slide12.xml.rels><?xml version='1.0' encoding='utf-8'?>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12_tf1.xml" /><Relationship Id="rId1" Type="http://schemas.openxmlformats.org/officeDocument/2006/relationships/slideLayout" Target="../slideLayouts/slideLayout6.xml" /></Relationships>
</file>

<file path=ppt/slides/_rels/slide13.xml.rels><?xml version='1.0' encoding='utf-8'?>
<Relationships xmlns="http://schemas.openxmlformats.org/package/2006/relationships"><Relationship Id="rId2" Type="http://schemas.openxmlformats.org/officeDocument/2006/relationships/notesSlide" Target="../notesSlides/notesSlide13_tf1.xml" /><Relationship Id="rId1" Type="http://schemas.openxmlformats.org/officeDocument/2006/relationships/slideLayout" Target="../slideLayouts/slideLayout6.xml" /></Relationships>
</file>

<file path=ppt/slides/_rels/slide14.xml.rels><?xml version='1.0' encoding='utf-8'?>
<Relationships xmlns="http://schemas.openxmlformats.org/package/2006/relationships"><Relationship Id="rId8" Type="http://schemas.openxmlformats.org/officeDocument/2006/relationships/image" Target="../media/image11.jpeg" /><Relationship Id="rId3" Type="http://schemas.openxmlformats.org/officeDocument/2006/relationships/image" Target="../media/image6.jpeg" /><Relationship Id="rId7" Type="http://schemas.openxmlformats.org/officeDocument/2006/relationships/image" Target="../media/image10.jpeg" /><Relationship Id="rId2" Type="http://schemas.openxmlformats.org/officeDocument/2006/relationships/notesSlide" Target="../notesSlides/notesSlide14_tf1.xml" /><Relationship Id="rId1" Type="http://schemas.openxmlformats.org/officeDocument/2006/relationships/slideLayout" Target="../slideLayouts/slideLayout6.xml" /><Relationship Id="rId6" Type="http://schemas.openxmlformats.org/officeDocument/2006/relationships/image" Target="../media/image9.jpeg" /><Relationship Id="rId5" Type="http://schemas.openxmlformats.org/officeDocument/2006/relationships/image" Target="../media/image8.jpeg" /><Relationship Id="rId4" Type="http://schemas.openxmlformats.org/officeDocument/2006/relationships/image" Target="../media/image7.jpe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rId9" Type="http://schemas.openxmlformats.org/officeDocument/2006/relationships/image" Target="../media/image_a900e99d43c73459.jpg" /><Relationship Id="rId10" Type="http://schemas.openxmlformats.org/officeDocument/2006/relationships/image" Target="../media/image_e79ddd91cf7e6698.jpg" /><Relationship Id="rId11" Type="http://schemas.openxmlformats.org/officeDocument/2006/relationships/image" Target="../media/image_0ec4c15795956490.jpg" /><Relationship Id="rId12" Type="http://schemas.openxmlformats.org/officeDocument/2006/relationships/image" Target="../media/image_3f7c7a4c9008f4de.jpg" />  <Relationship Id="rId13" Type="http://schemas.openxmlformats.org/officeDocument/2006/relationships/notesSlide" Target="../notesSlides/notesSlide14_tf2.xml" />
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rId9" Type="http://schemas.openxmlformats.org/officeDocument/2006/relationships/notesSlide" Target="../notesSlides/notesSlide14_tf3.xml" />
</Relationships>
</file>

<file path=ppt/slides/_rels/slide17.xml.rels><?xml version='1.0' encoding='utf-8'?>
<Relationships xmlns="http://schemas.openxmlformats.org/package/2006/relationships"><Relationship Id="rId2" Type="http://schemas.openxmlformats.org/officeDocument/2006/relationships/notesSlide" Target="../notesSlides/notesSlide15_tf1.xml" /><Relationship Id="rId1" Type="http://schemas.openxmlformats.org/officeDocument/2006/relationships/slideLayout" Target="../slideLayouts/slideLayout6.xml" /></Relationships>
</file>

<file path=ppt/slides/_rels/slide18.xml.rels><?xml version='1.0' encoding='utf-8'?>
<Relationships xmlns="http://schemas.openxmlformats.org/package/2006/relationships"><Relationship Id="rId2" Type="http://schemas.openxmlformats.org/officeDocument/2006/relationships/notesSlide" Target="../notesSlides/notesSlide16_tf1.xml" /><Relationship Id="rId1" Type="http://schemas.openxmlformats.org/officeDocument/2006/relationships/slideLayout" Target="../slideLayouts/slideLayout6.xml" /></Relationships>
</file>

<file path=ppt/slides/_rels/slide19.xml.rels><?xml version='1.0' encoding='utf-8'?>
<Relationships xmlns="http://schemas.openxmlformats.org/package/2006/relationships"><Relationship Id="rId2" Type="http://schemas.openxmlformats.org/officeDocument/2006/relationships/notesSlide" Target="../notesSlides/notesSlide17_tf1.xml" /><Relationship Id="rId1" Type="http://schemas.openxmlformats.org/officeDocument/2006/relationships/slideLayout" Target="../slideLayouts/slideLayout6.xml" /></Relationships>
</file>

<file path=ppt/slides/_rels/slide20.xml.rels><?xml version='1.0' encoding='utf-8'?>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notesSlide" Target="../notesSlides/notesSlide18_tf1.xml" /><Relationship Id="rId1" Type="http://schemas.openxmlformats.org/officeDocument/2006/relationships/slideLayout" Target="../slideLayouts/slideLayout6.xml" /></Relationships>
</file>

<file path=ppt/slides/_rels/slide21.xml.rels><?xml version='1.0' encoding='utf-8'?>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notesSlide" Target="../notesSlides/notesSlide19_tf1.xml" /><Relationship Id="rId1" Type="http://schemas.openxmlformats.org/officeDocument/2006/relationships/slideLayout" Target="../slideLayouts/slideLayout6.xml" /></Relationships>
</file>

<file path=ppt/slides/_rels/slide22.xml.rels><?xml version='1.0' encoding='utf-8'?>
<Relationships xmlns="http://schemas.openxmlformats.org/package/2006/relationships"><Relationship Id="rId3" Type="http://schemas.openxmlformats.org/officeDocument/2006/relationships/image" Target="../media/image14.jpeg" /><Relationship Id="rId2" Type="http://schemas.openxmlformats.org/officeDocument/2006/relationships/notesSlide" Target="../notesSlides/notesSlide20_tf1.xml" /><Relationship Id="rId1" Type="http://schemas.openxmlformats.org/officeDocument/2006/relationships/slideLayout" Target="../slideLayouts/slideLayout6.xml" /></Relationships>
</file>

<file path=ppt/slides/_rels/slide23.xml.rels><?xml version='1.0' encoding='utf-8'?>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notesSlide" Target="../notesSlides/notesSlide21_tf1.xml" /><Relationship Id="rId1" Type="http://schemas.openxmlformats.org/officeDocument/2006/relationships/slideLayout" Target="../slideLayouts/slideLayout6.xml" /></Relationships>
</file>

<file path=ppt/slides/_rels/slide24.xml.rels><?xml version='1.0' encoding='utf-8'?>
<Relationships xmlns="http://schemas.openxmlformats.org/package/2006/relationships"><Relationship Id="rId2" Type="http://schemas.openxmlformats.org/officeDocument/2006/relationships/notesSlide" Target="../notesSlides/notesSlide22_tf1.xml" /><Relationship Id="rId1" Type="http://schemas.openxmlformats.org/officeDocument/2006/relationships/slideLayout" Target="../slideLayouts/slideLayout6.xml" /></Relationships>
</file>

<file path=ppt/slides/_rels/slide25.xml.rels><?xml version='1.0' encoding='utf-8'?>
<Relationships xmlns="http://schemas.openxmlformats.org/package/2006/relationships"><Relationship Id="rId3" Type="http://schemas.openxmlformats.org/officeDocument/2006/relationships/image" Target="../media/image14.jpeg" /><Relationship Id="rId2" Type="http://schemas.openxmlformats.org/officeDocument/2006/relationships/notesSlide" Target="../notesSlides/notesSlide23_tf1.xml" /><Relationship Id="rId1" Type="http://schemas.openxmlformats.org/officeDocument/2006/relationships/slideLayout" Target="../slideLayouts/slideLayout6.xml" /></Relationships>
</file>

<file path=ppt/slides/_rels/slide26.xml.rels><?xml version='1.0' encoding='utf-8'?>
<Relationships xmlns="http://schemas.openxmlformats.org/package/2006/relationships"><Relationship Id="rId3" Type="http://schemas.openxmlformats.org/officeDocument/2006/relationships/image" Target="../media/image16.jpeg" /><Relationship Id="rId2" Type="http://schemas.openxmlformats.org/officeDocument/2006/relationships/notesSlide" Target="../notesSlides/notesSlide24_tf1.xml" /><Relationship Id="rId1" Type="http://schemas.openxmlformats.org/officeDocument/2006/relationships/slideLayout" Target="../slideLayouts/slideLayout6.xml" /></Relationships>
</file>

<file path=ppt/slides/_rels/slide27.xml.rels><?xml version='1.0' encoding='utf-8'?>
<Relationships xmlns="http://schemas.openxmlformats.org/package/2006/relationships"><Relationship Id="rId2" Type="http://schemas.openxmlformats.org/officeDocument/2006/relationships/notesSlide" Target="../notesSlides/notesSlide25_tf1.xml" /><Relationship Id="rId1" Type="http://schemas.openxmlformats.org/officeDocument/2006/relationships/slideLayout" Target="../slideLayouts/slideLayout6.xml" /></Relationships>
</file>

<file path=ppt/slides/_rels/slide28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25_tf2.xml"/>
</Relationships>
</file>

<file path=ppt/slides/_rels/slide29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6.xml" /><Relationship Id="rId3" Type="http://schemas.openxmlformats.org/officeDocument/2006/relationships/image" Target="../media/image_f4757eb4844db942.png" />  <Relationship Id="rId4" Type="http://schemas.openxmlformats.org/officeDocument/2006/relationships/notesSlide" Target="../notesSlides/notesSlide25_tf3.xml"/>
</Relationships>
</file>

<file path=ppt/slides/_rels/slide30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6.xml" /><Relationship Id="rId3" Type="http://schemas.openxmlformats.org/officeDocument/2006/relationships/image" Target="../media/image_1fc9bc4ec6aa66ce.png" />  <Relationship Id="rId4" Type="http://schemas.openxmlformats.org/officeDocument/2006/relationships/notesSlide" Target="../notesSlides/notesSlide25_tf4.xml"/>
</Relationships>
</file>

<file path=ppt/slides/_rels/slide31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25_tf5.xml"/>
</Relationships>
</file>

<file path=ppt/slides/_rels/slide32.xml.rels><?xml version='1.0' encoding='utf-8'?>
<Relationships xmlns="http://schemas.openxmlformats.org/package/2006/relationships"><Relationship Id="rId2" Type="http://schemas.openxmlformats.org/officeDocument/2006/relationships/notesSlide" Target="../notesSlides/notesSlide26_tf1.xml" /><Relationship Id="rId1" Type="http://schemas.openxmlformats.org/officeDocument/2006/relationships/slideLayout" Target="../slideLayouts/slideLayout6.xml" /></Relationships>
</file>

<file path=ppt/slides/_rels/slide33.xml.rels><?xml version='1.0' encoding='utf-8'?>
<Relationships xmlns="http://schemas.openxmlformats.org/package/2006/relationships"><Relationship Id="rId2" Type="http://schemas.openxmlformats.org/officeDocument/2006/relationships/notesSlide" Target="../notesSlides/notesSlide27_tf1.xml" /><Relationship Id="rId1" Type="http://schemas.openxmlformats.org/officeDocument/2006/relationships/slideLayout" Target="../slideLayouts/slideLayout6.xml" /></Relationships>
</file>

<file path=ppt/slides/_rels/slide34.xml.rels><?xml version='1.0' encoding='utf-8'?>
<Relationships xmlns="http://schemas.openxmlformats.org/package/2006/relationships"><Relationship Id="rId2" Type="http://schemas.openxmlformats.org/officeDocument/2006/relationships/notesSlide" Target="../notesSlides/notesSlide28_tf1.xml" /><Relationship Id="rId1" Type="http://schemas.openxmlformats.org/officeDocument/2006/relationships/slideLayout" Target="../slideLayouts/slideLayout6.xml" /></Relationships>
</file>

<file path=ppt/slides/_rels/slide35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29_tf1.xml"/>
</Relationships>
</file>

<file path=ppt/slides/_rels/slide36.xml.rels><?xml version='1.0' encoding='utf-8'?>
<Relationships xmlns="http://schemas.openxmlformats.org/package/2006/relationships"><Relationship Id="rId2" Type="http://schemas.openxmlformats.org/officeDocument/2006/relationships/notesSlide" Target="../notesSlides/notesSlide30_tf1.xml" /><Relationship Id="rId1" Type="http://schemas.openxmlformats.org/officeDocument/2006/relationships/slideLayout" Target="../slideLayouts/slideLayout6.xml" /></Relationships>
</file>

<file path=ppt/slides/_rels/slide37.xml.rels><?xml version='1.0' encoding='utf-8'?>
<Relationships xmlns="http://schemas.openxmlformats.org/package/2006/relationships"><Relationship Id="rId2" Type="http://schemas.openxmlformats.org/officeDocument/2006/relationships/notesSlide" Target="../notesSlides/notesSlide31_tf1.xml" /><Relationship Id="rId1" Type="http://schemas.openxmlformats.org/officeDocument/2006/relationships/slideLayout" Target="../slideLayouts/slideLayout6.xml" /></Relationships>
</file>

<file path=ppt/slides/_rels/slide38.xml.rels><?xml version='1.0' encoding='utf-8'?>
<Relationships xmlns="http://schemas.openxmlformats.org/package/2006/relationships"><Relationship Id="rId2" Type="http://schemas.openxmlformats.org/officeDocument/2006/relationships/notesSlide" Target="../notesSlides/notesSlide32_tf1.xml" /><Relationship Id="rId1" Type="http://schemas.openxmlformats.org/officeDocument/2006/relationships/slideLayout" Target="../slideLayouts/slideLayout6.xml" /></Relationships>
</file>

<file path=ppt/slides/_rels/slide39.xml.rels><?xml version='1.0' encoding='utf-8'?>
<Relationships xmlns="http://schemas.openxmlformats.org/package/2006/relationships"><Relationship Id="rId2" Type="http://schemas.openxmlformats.org/officeDocument/2006/relationships/notesSlide" Target="../notesSlides/notesSlide33_tf1.xml" /><Relationship Id="rId1" Type="http://schemas.openxmlformats.org/officeDocument/2006/relationships/slideLayout" Target="../slideLayouts/slideLayout6.xml" /></Relationships>
</file>

<file path=ppt/slides/_rels/slide40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33_tf2.xml"/>
</Relationships>
</file>

<file path=ppt/slides/_rels/slide41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33_tf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>
            <a:extLst>
              <a:ext uri="{FF2B5EF4-FFF2-40B4-BE49-F238E27FC236}">
                <a16:creationId xmlns:a16="http://schemas.microsoft.com/office/drawing/2014/main" id="{4E951D8E-0628-4CDA-926C-735D063B312B}"/>
              </a:ext>
            </a:extLst>
          </p:cNvPr>
          <p:cNvSpPr>
            <a:spLocks noGrp="1"/>
          </p:cNvSpPr>
          <p:nvPr/>
        </p:nvSpPr>
        <p:spPr>
          <a:xfrm>
            <a:off x="8572500" y="666750"/>
            <a:ext cx="2667000" cy="2667000"/>
          </a:xfrm>
          <a:prstGeom prst="ellipse">
            <a:avLst/>
          </a:prstGeom>
          <a:solidFill>
            <a:srgbClr val="DDEA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DD318011-3F66-4B98-B6C4-4B12C8118899}"/>
              </a:ext>
            </a:extLst>
          </p:cNvPr>
          <p:cNvSpPr>
            <a:spLocks noGrp="1"/>
          </p:cNvSpPr>
          <p:nvPr/>
        </p:nvSpPr>
        <p:spPr>
          <a:xfrm>
            <a:off x="9620250" y="2095500"/>
            <a:ext cx="1809750" cy="1809750"/>
          </a:xfrm>
          <a:prstGeom prst="ellipse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6F1D31-14FF-4E2F-B989-0ED7FF6B43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B9FD88-4CDC-4CE0-9E5A-F98CC7BE3F65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FF972B-FE25-407D-9B7A-65A78F5C317B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7810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pPr>
            <a:r>
              <a: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rPr>
              <a:t>课堂视觉数据处理台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FEEB68-C56E-4250-95E7-5353BCA64686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rPr>
              <a:t>学生行为数据整理、复杂场景预处理与人物分析评估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A2197BF4-8C96-4EB3-9247-D06690AA2650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4953000" cy="0"/>
          </a:xfrm>
          <a:prstGeom prst="line">
            <a:avLst/>
          </a:prstGeom>
          <a:noFill/>
          <a:ln w="19050">
            <a:solidFill>
              <a:srgbClr val="4E6A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E12A52-E575-42A2-AB83-C879AA9E5826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rPr>
              <a:t>数据集特征  ·  分辨率退化  ·  遮挡模拟  ·  多人跟踪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4E5BA9-CD25-4DAB-B8C8-BC200A36F533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rPr>
              <a:t>课堂视觉数据处理台 | 2026</a:t>
            </a:r>
          </a:p>
        </p:txBody>
      </p:sp>
    </p:spTree>
    <p:extLst>
      <p:ext uri="{BB962C8B-B14F-4D97-AF65-F5344CB8AC3E}">
        <p14:creationId xmlns:p14="http://schemas.microsoft.com/office/powerpoint/2010/main" val="1410107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24AA5158-8395-4AC4-A889-AD04F363CED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为什么需要构造复杂课堂场景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A06FBA-14EA-4824-B859-148C5B7C54CC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EEEDB5-002C-4A8E-AB5B-FEB872893B6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研究问题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5F3988D0-7976-414A-9057-0DDE7DA445B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97BD21-97BF-4FFE-9417-4E3B7FD229CC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429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真实课堂图像同时受到距离、分辨率和遮挡影响。程序把这些因素转成可控实验条件，用同一批样本比较人物分析性能。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029D0C-46D6-47DD-B344-BC3CF8F1D2F9}"/>
              </a:ext>
            </a:extLst>
          </p:cNvPr>
          <p:cNvSpPr>
            <a:spLocks noGrp="1"/>
          </p:cNvSpPr>
          <p:nvPr/>
        </p:nvSpPr>
        <p:spPr>
          <a:xfrm>
            <a:off x="7239000" y="1790700"/>
            <a:ext cx="1123950" cy="1123950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267CCA-D3B7-4374-9F36-ED25C62EF084}"/>
              </a:ext>
            </a:extLst>
          </p:cNvPr>
          <p:cNvSpPr>
            <a:spLocks noGrp="1"/>
          </p:cNvSpPr>
          <p:nvPr/>
        </p:nvSpPr>
        <p:spPr>
          <a:xfrm>
            <a:off x="7658100" y="2038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342A5A-9803-4200-954A-53B99149871C}"/>
              </a:ext>
            </a:extLst>
          </p:cNvPr>
          <p:cNvSpPr>
            <a:spLocks noGrp="1"/>
          </p:cNvSpPr>
          <p:nvPr/>
        </p:nvSpPr>
        <p:spPr>
          <a:xfrm>
            <a:off x="7067550" y="3086100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远距离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8D9D47-44CE-4712-9CA4-D1A9486DE04D}"/>
              </a:ext>
            </a:extLst>
          </p:cNvPr>
          <p:cNvSpPr>
            <a:spLocks noGrp="1"/>
          </p:cNvSpPr>
          <p:nvPr/>
        </p:nvSpPr>
        <p:spPr>
          <a:xfrm>
            <a:off x="6810375" y="33718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人物目标变小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CBC245E9-8F65-4ECE-9DA2-E618B0EE54C5}"/>
              </a:ext>
            </a:extLst>
          </p:cNvPr>
          <p:cNvSpPr>
            <a:spLocks noGrp="1"/>
          </p:cNvSpPr>
          <p:nvPr/>
        </p:nvSpPr>
        <p:spPr>
          <a:xfrm>
            <a:off x="8420100" y="2352675"/>
            <a:ext cx="5715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7F7E386-4406-4976-8B74-A201C5EEE354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1123950" cy="1123950"/>
          </a:xfrm>
          <a:prstGeom prst="ellipse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4D5FDD-2A3D-48AD-A01D-E67723975182}"/>
              </a:ext>
            </a:extLst>
          </p:cNvPr>
          <p:cNvSpPr>
            <a:spLocks noGrp="1"/>
          </p:cNvSpPr>
          <p:nvPr/>
        </p:nvSpPr>
        <p:spPr>
          <a:xfrm>
            <a:off x="9353550" y="2038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CCAF9A-700F-4D38-B10A-BCED91BA1C5A}"/>
              </a:ext>
            </a:extLst>
          </p:cNvPr>
          <p:cNvSpPr>
            <a:spLocks noGrp="1"/>
          </p:cNvSpPr>
          <p:nvPr/>
        </p:nvSpPr>
        <p:spPr>
          <a:xfrm>
            <a:off x="8763000" y="3086100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低分辨率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B793FA-EAD3-422A-9036-DF8EA4852901}"/>
              </a:ext>
            </a:extLst>
          </p:cNvPr>
          <p:cNvSpPr>
            <a:spLocks noGrp="1"/>
          </p:cNvSpPr>
          <p:nvPr/>
        </p:nvSpPr>
        <p:spPr>
          <a:xfrm>
            <a:off x="8505825" y="33718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面部和姿态细节减少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AAF2B3B7-6067-4FBB-9598-CFB10DB77B3A}"/>
              </a:ext>
            </a:extLst>
          </p:cNvPr>
          <p:cNvSpPr>
            <a:spLocks noGrp="1"/>
          </p:cNvSpPr>
          <p:nvPr/>
        </p:nvSpPr>
        <p:spPr>
          <a:xfrm>
            <a:off x="10115550" y="2352675"/>
            <a:ext cx="5715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4F247FF-C743-4BE3-9D71-E641617EABE6}"/>
              </a:ext>
            </a:extLst>
          </p:cNvPr>
          <p:cNvSpPr>
            <a:spLocks noGrp="1"/>
          </p:cNvSpPr>
          <p:nvPr/>
        </p:nvSpPr>
        <p:spPr>
          <a:xfrm>
            <a:off x="10629900" y="1790700"/>
            <a:ext cx="1123950" cy="1123950"/>
          </a:xfrm>
          <a:prstGeom prst="ellipse">
            <a:avLst/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114D49-1303-4E90-B2F5-E84645A821FD}"/>
              </a:ext>
            </a:extLst>
          </p:cNvPr>
          <p:cNvSpPr>
            <a:spLocks noGrp="1"/>
          </p:cNvSpPr>
          <p:nvPr/>
        </p:nvSpPr>
        <p:spPr>
          <a:xfrm>
            <a:off x="11049000" y="2038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DFA445-94C4-4CB7-BD20-58B416EBC131}"/>
              </a:ext>
            </a:extLst>
          </p:cNvPr>
          <p:cNvSpPr>
            <a:spLocks noGrp="1"/>
          </p:cNvSpPr>
          <p:nvPr/>
        </p:nvSpPr>
        <p:spPr>
          <a:xfrm>
            <a:off x="10458450" y="3086100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多人遮挡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EFD377-D6BA-4308-B396-8B0D1E7376BB}"/>
              </a:ext>
            </a:extLst>
          </p:cNvPr>
          <p:cNvSpPr>
            <a:spLocks noGrp="1"/>
          </p:cNvSpPr>
          <p:nvPr/>
        </p:nvSpPr>
        <p:spPr>
          <a:xfrm>
            <a:off x="10201275" y="33718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前后排相互覆盖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20209CE-892B-4413-BA6D-2A7B52DA98EE}"/>
              </a:ext>
            </a:extLst>
          </p:cNvPr>
          <p:cNvSpPr>
            <a:spLocks noGrp="1"/>
          </p:cNvSpPr>
          <p:nvPr/>
        </p:nvSpPr>
        <p:spPr>
          <a:xfrm>
            <a:off x="7048500" y="4514850"/>
            <a:ext cx="4000500" cy="876300"/>
          </a:xfrm>
          <a:prstGeom prst="roundRect">
            <a:avLst>
              <a:gd name="adj" fmla="val 17391"/>
            </a:avLst>
          </a:prstGeom>
          <a:solidFill>
            <a:srgbClr val="173C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756433A-614D-4A2F-88B4-51C012E7B7B8}"/>
              </a:ext>
            </a:extLst>
          </p:cNvPr>
          <p:cNvSpPr>
            <a:spLocks noGrp="1"/>
          </p:cNvSpPr>
          <p:nvPr/>
        </p:nvSpPr>
        <p:spPr>
          <a:xfrm>
            <a:off x="7334250" y="47053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影响对象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68783C3-6AAD-40DC-AC4A-B16223E752BA}"/>
              </a:ext>
            </a:extLst>
          </p:cNvPr>
          <p:cNvSpPr>
            <a:spLocks noGrp="1"/>
          </p:cNvSpPr>
          <p:nvPr/>
        </p:nvSpPr>
        <p:spPr>
          <a:xfrm>
            <a:off x="7334250" y="50101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行为识别  ·  微表情  ·  投入度  ·  姿态  ·  跟踪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1F739654-2835-4691-823E-F4B3F676798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4D68CB-02AA-46B0-864B-AD32641F6CBE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09148A4-5F08-4097-8354-57BEDEF632D3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260467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434207D5-D0F5-4BF8-A993-C36E55BC972B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5FB2EB82-8DB1-434E-9BD8-B9C1D199BE96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ns2:creationId id="{0EC4B0CC-6E51-4850-AF2A-B96902FFFB4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微表情综述：为什么要控制数据和评价协议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42BF83CA-5DFE-4AE6-9C2A-E8D4EC4AB858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0D923C3C-897D-4451-9082-3C85B47660FF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综述指出，微表情持续时间短、动作幅度小，数据集、预处理和验证协议会显著影响结论。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532DB7EA-8B44-4AD4-836D-C20A88ECC901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6E0AFAA6-2261-4163-A787-E4A7F0385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2686675"/>
            <a:ext cx="5334000" cy="2360951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552575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p.2 · 重点：动作幅度小</a:t>
            </a:r>
          </a:p>
        </p:txBody>
      </p:sp>
      <p:sp>
        <p:nvSpPr>
          <p:cNvPr id="9" name="矩形 8">
            <a:extLst>
              <a:ext uri="{FF2B5EF4-FFF2-40B4-BE49-F238E27FC236}">
                <ns2:creationId id="{6754175A-A2D6-4BDB-84CC-68EC4BEE7729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Li et al., Deep Learning for Micro-Expression Recognition: A Survey, TAFFC 2022, DOI 10.1109/TAFFC.2022.3205170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9529D7C5-A008-4B10-9E0E-D6C55BAB4E9D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研究对象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213C5E87-57A2-485B-8AD6-90BC5069C157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短时、低幅度的面部运动与 FACS/AU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03A9F2BF-D563-43B9-8CF9-FBDEB061F20C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关键问题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0271829F-F10D-461B-BD7D-305C3C570E7B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样本少、类别不平衡、个体差异和头部运动干扰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9E13DDEF-4548-418A-A250-F1FF8A20D1AD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推荐指标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02A80853-AC62-4B83-8EDA-B3435A3397FC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F1、UF1、UAR、每类 Recall，并使用 LOSO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6D250554-52D0-4740-B070-BBC2D8576FA9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论文结论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930034D0-506E-491C-8092-09783AC2305F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不同数据集和划分方式下的 Accuracy 不能直接横向比较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49A5BD83-250C-47FD-ABF1-C033089C602D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微表情结论很依赖数据集和划分方式，不能只看准确率。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29A5765C-0CDE-4869-B963-0859E217A3F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DA1D15FA-7F86-4BCA-B28A-62CCE6F05A2A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01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FE751EC1-95B4-4ECE-9403-2FC0DDF1A369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691462135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C9430B13-B906-4560-B13E-CF2E6228A42B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实际整理数据的规模与分辨率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954164-DC73-4B3F-A596-AB9C7FD511E0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0272DB-37C7-464B-923F-998B900801D9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数据集概览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A03CC0CB-3250-4A37-957A-F64A0B2B196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53EF91-F3E6-4116-9DBC-78A9C68A57D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71450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739BCB-B0E1-4DB9-919E-634EA48295F0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数据集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F4212D-0C23-44F6-B11D-01203A05E599}"/>
              </a:ext>
            </a:extLst>
          </p:cNvPr>
          <p:cNvSpPr>
            <a:spLocks noGrp="1"/>
          </p:cNvSpPr>
          <p:nvPr/>
        </p:nvSpPr>
        <p:spPr>
          <a:xfrm>
            <a:off x="2400300" y="1676400"/>
            <a:ext cx="2000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F2BBE2-182C-456C-BD15-12E8CB4033C6}"/>
              </a:ext>
            </a:extLst>
          </p:cNvPr>
          <p:cNvSpPr>
            <a:spLocks noGrp="1"/>
          </p:cNvSpPr>
          <p:nvPr/>
        </p:nvSpPr>
        <p:spPr>
          <a:xfrm>
            <a:off x="2514600" y="17907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媒体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889CC0-39B7-49B8-9167-D6DC9DAB7480}"/>
              </a:ext>
            </a:extLst>
          </p:cNvPr>
          <p:cNvSpPr>
            <a:spLocks noGrp="1"/>
          </p:cNvSpPr>
          <p:nvPr/>
        </p:nvSpPr>
        <p:spPr>
          <a:xfrm>
            <a:off x="4400550" y="1676400"/>
            <a:ext cx="2333625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01AE94-EC05-4C72-AC69-48A7A3341CE9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2105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主要任务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0A4209-3239-4A61-92BB-13EEC132A22E}"/>
              </a:ext>
            </a:extLst>
          </p:cNvPr>
          <p:cNvSpPr>
            <a:spLocks noGrp="1"/>
          </p:cNvSpPr>
          <p:nvPr/>
        </p:nvSpPr>
        <p:spPr>
          <a:xfrm>
            <a:off x="6734175" y="1676400"/>
            <a:ext cx="133350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534EB2-DF72-490C-8B91-152BCD0DFAE3}"/>
              </a:ext>
            </a:extLst>
          </p:cNvPr>
          <p:cNvSpPr>
            <a:spLocks noGrp="1"/>
          </p:cNvSpPr>
          <p:nvPr/>
        </p:nvSpPr>
        <p:spPr>
          <a:xfrm>
            <a:off x="6848475" y="17907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样本数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6D03DB-0BD5-4A9E-B5CA-FA1D0038EEDD}"/>
              </a:ext>
            </a:extLst>
          </p:cNvPr>
          <p:cNvSpPr>
            <a:spLocks noGrp="1"/>
          </p:cNvSpPr>
          <p:nvPr/>
        </p:nvSpPr>
        <p:spPr>
          <a:xfrm>
            <a:off x="8067675" y="1676400"/>
            <a:ext cx="1619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29EC9C-BC9F-4F13-8FA6-F0F7BFA60DDD}"/>
              </a:ext>
            </a:extLst>
          </p:cNvPr>
          <p:cNvSpPr>
            <a:spLocks noGrp="1"/>
          </p:cNvSpPr>
          <p:nvPr/>
        </p:nvSpPr>
        <p:spPr>
          <a:xfrm>
            <a:off x="8181975" y="17907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分辨率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DA23C04-BA35-44E9-AC36-0E74FE6DBD8D}"/>
              </a:ext>
            </a:extLst>
          </p:cNvPr>
          <p:cNvSpPr>
            <a:spLocks noGrp="1"/>
          </p:cNvSpPr>
          <p:nvPr/>
        </p:nvSpPr>
        <p:spPr>
          <a:xfrm>
            <a:off x="9686925" y="1676400"/>
            <a:ext cx="2000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87333C-B82D-47E8-9F6A-6075509E3048}"/>
              </a:ext>
            </a:extLst>
          </p:cNvPr>
          <p:cNvSpPr>
            <a:spLocks noGrp="1"/>
          </p:cNvSpPr>
          <p:nvPr/>
        </p:nvSpPr>
        <p:spPr>
          <a:xfrm>
            <a:off x="9801225" y="17907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标签/说明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306FD7-35D3-4E27-976E-B6910D5A365E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7145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69BE82-5152-4810-978A-87AA57CBDD85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151CFD-74B5-41F4-96EA-6B06FC263C45}"/>
              </a:ext>
            </a:extLst>
          </p:cNvPr>
          <p:cNvSpPr>
            <a:spLocks noGrp="1"/>
          </p:cNvSpPr>
          <p:nvPr/>
        </p:nvSpPr>
        <p:spPr>
          <a:xfrm>
            <a:off x="2400300" y="2171700"/>
            <a:ext cx="2000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588507-24DA-40B9-8F6E-D5D8047C7DB9}"/>
              </a:ext>
            </a:extLst>
          </p:cNvPr>
          <p:cNvSpPr>
            <a:spLocks noGrp="1"/>
          </p:cNvSpPr>
          <p:nvPr/>
        </p:nvSpPr>
        <p:spPr>
          <a:xfrm>
            <a:off x="2514600" y="22860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 9,068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0BD5BB-E5D5-4FC3-8CAC-B5B190A749D3}"/>
              </a:ext>
            </a:extLst>
          </p:cNvPr>
          <p:cNvSpPr>
            <a:spLocks noGrp="1"/>
          </p:cNvSpPr>
          <p:nvPr/>
        </p:nvSpPr>
        <p:spPr>
          <a:xfrm>
            <a:off x="4400550" y="2171700"/>
            <a:ext cx="2333625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48F5949-E0C9-4BEE-9B99-5C79E42E63A3}"/>
              </a:ext>
            </a:extLst>
          </p:cNvPr>
          <p:cNvSpPr>
            <a:spLocks noGrp="1"/>
          </p:cNvSpPr>
          <p:nvPr/>
        </p:nvSpPr>
        <p:spPr>
          <a:xfrm>
            <a:off x="4514850" y="2286000"/>
            <a:ext cx="2105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学习投入度 / 状态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E66B8F-614C-4A95-85C8-3897EB6E236B}"/>
              </a:ext>
            </a:extLst>
          </p:cNvPr>
          <p:cNvSpPr>
            <a:spLocks noGrp="1"/>
          </p:cNvSpPr>
          <p:nvPr/>
        </p:nvSpPr>
        <p:spPr>
          <a:xfrm>
            <a:off x="6734175" y="2171700"/>
            <a:ext cx="13335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21213E7-9872-4670-8224-9662842D0DA6}"/>
              </a:ext>
            </a:extLst>
          </p:cNvPr>
          <p:cNvSpPr>
            <a:spLocks noGrp="1"/>
          </p:cNvSpPr>
          <p:nvPr/>
        </p:nvSpPr>
        <p:spPr>
          <a:xfrm>
            <a:off x="6848475" y="22860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9,068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64A6DD-D971-4635-A942-2A066965F8EA}"/>
              </a:ext>
            </a:extLst>
          </p:cNvPr>
          <p:cNvSpPr>
            <a:spLocks noGrp="1"/>
          </p:cNvSpPr>
          <p:nvPr/>
        </p:nvSpPr>
        <p:spPr>
          <a:xfrm>
            <a:off x="8067675" y="2171700"/>
            <a:ext cx="1619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B4AF2BE-95FB-4610-A0ED-DAFF722ADAC8}"/>
              </a:ext>
            </a:extLst>
          </p:cNvPr>
          <p:cNvSpPr>
            <a:spLocks noGrp="1"/>
          </p:cNvSpPr>
          <p:nvPr/>
        </p:nvSpPr>
        <p:spPr>
          <a:xfrm>
            <a:off x="8181975" y="22860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640×480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A68A48F-90B9-4D86-9B3B-355D0841F682}"/>
              </a:ext>
            </a:extLst>
          </p:cNvPr>
          <p:cNvSpPr>
            <a:spLocks noGrp="1"/>
          </p:cNvSpPr>
          <p:nvPr/>
        </p:nvSpPr>
        <p:spPr>
          <a:xfrm>
            <a:off x="9686925" y="2171700"/>
            <a:ext cx="2000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C03F925-0D73-477D-A7DA-0A3082188BF5}"/>
              </a:ext>
            </a:extLst>
          </p:cNvPr>
          <p:cNvSpPr>
            <a:spLocks noGrp="1"/>
          </p:cNvSpPr>
          <p:nvPr/>
        </p:nvSpPr>
        <p:spPr>
          <a:xfrm>
            <a:off x="9801225" y="22860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Boredom / Engagement / Confusion / Frustration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529F058-9160-48DC-87FC-FD12043FCEEB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71450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9B92357-0DFC-4C8D-8384-C2F7BEECA98C}"/>
              </a:ext>
            </a:extLst>
          </p:cNvPr>
          <p:cNvSpPr>
            <a:spLocks noGrp="1"/>
          </p:cNvSpPr>
          <p:nvPr/>
        </p:nvSpPr>
        <p:spPr>
          <a:xfrm>
            <a:off x="800100" y="2781300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Tianchi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8A37020-CCCD-4E27-8526-AB7FB2D2131D}"/>
              </a:ext>
            </a:extLst>
          </p:cNvPr>
          <p:cNvSpPr>
            <a:spLocks noGrp="1"/>
          </p:cNvSpPr>
          <p:nvPr/>
        </p:nvSpPr>
        <p:spPr>
          <a:xfrm>
            <a:off x="2400300" y="2667000"/>
            <a:ext cx="2000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A91D7E3-27EB-4B4A-9D5A-D2AD513BE246}"/>
              </a:ext>
            </a:extLst>
          </p:cNvPr>
          <p:cNvSpPr>
            <a:spLocks noGrp="1"/>
          </p:cNvSpPr>
          <p:nvPr/>
        </p:nvSpPr>
        <p:spPr>
          <a:xfrm>
            <a:off x="2514600" y="27813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图片 4,065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595EBC1-859F-44C4-AF2B-1A46528D4C21}"/>
              </a:ext>
            </a:extLst>
          </p:cNvPr>
          <p:cNvSpPr>
            <a:spLocks noGrp="1"/>
          </p:cNvSpPr>
          <p:nvPr/>
        </p:nvSpPr>
        <p:spPr>
          <a:xfrm>
            <a:off x="4400550" y="2667000"/>
            <a:ext cx="2333625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9E1FCB9-2B70-4C0E-91EC-F383CE36E3A1}"/>
              </a:ext>
            </a:extLst>
          </p:cNvPr>
          <p:cNvSpPr>
            <a:spLocks noGrp="1"/>
          </p:cNvSpPr>
          <p:nvPr/>
        </p:nvSpPr>
        <p:spPr>
          <a:xfrm>
            <a:off x="4514850" y="2781300"/>
            <a:ext cx="2105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学生行为检测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DB55026-01EA-4647-AB16-F224ECF98C28}"/>
              </a:ext>
            </a:extLst>
          </p:cNvPr>
          <p:cNvSpPr>
            <a:spLocks noGrp="1"/>
          </p:cNvSpPr>
          <p:nvPr/>
        </p:nvSpPr>
        <p:spPr>
          <a:xfrm>
            <a:off x="6734175" y="2667000"/>
            <a:ext cx="133350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BA7CD11-6A09-443C-BC7B-82762BEF9A21}"/>
              </a:ext>
            </a:extLst>
          </p:cNvPr>
          <p:cNvSpPr>
            <a:spLocks noGrp="1"/>
          </p:cNvSpPr>
          <p:nvPr/>
        </p:nvSpPr>
        <p:spPr>
          <a:xfrm>
            <a:off x="6848475" y="27813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4,065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17405E3-D3C2-4297-8240-32E3B308D41D}"/>
              </a:ext>
            </a:extLst>
          </p:cNvPr>
          <p:cNvSpPr>
            <a:spLocks noGrp="1"/>
          </p:cNvSpPr>
          <p:nvPr/>
        </p:nvSpPr>
        <p:spPr>
          <a:xfrm>
            <a:off x="8067675" y="2667000"/>
            <a:ext cx="1619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79CABA2-E586-425E-9DC2-B32962937359}"/>
              </a:ext>
            </a:extLst>
          </p:cNvPr>
          <p:cNvSpPr>
            <a:spLocks noGrp="1"/>
          </p:cNvSpPr>
          <p:nvPr/>
        </p:nvSpPr>
        <p:spPr>
          <a:xfrm>
            <a:off x="8181975" y="27813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640×640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5DB56DF-44B1-46BC-9135-42067FBE7BAE}"/>
              </a:ext>
            </a:extLst>
          </p:cNvPr>
          <p:cNvSpPr>
            <a:spLocks noGrp="1"/>
          </p:cNvSpPr>
          <p:nvPr/>
        </p:nvSpPr>
        <p:spPr>
          <a:xfrm>
            <a:off x="9686925" y="2667000"/>
            <a:ext cx="2000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B2E90A0-E828-4CC3-A611-9DD5E8486A50}"/>
              </a:ext>
            </a:extLst>
          </p:cNvPr>
          <p:cNvSpPr>
            <a:spLocks noGrp="1"/>
          </p:cNvSpPr>
          <p:nvPr/>
        </p:nvSpPr>
        <p:spPr>
          <a:xfrm>
            <a:off x="9801225" y="27813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7 类行为标签，含 YOLOv8 标注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5A424AB-1D7A-4374-9051-6045B564618B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7145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E6AE135-FEBE-48FD-BA18-E2E2851F9EFB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SCB-Dataset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5927E7E-18F7-4488-83D4-DB145961609E}"/>
              </a:ext>
            </a:extLst>
          </p:cNvPr>
          <p:cNvSpPr>
            <a:spLocks noGrp="1"/>
          </p:cNvSpPr>
          <p:nvPr/>
        </p:nvSpPr>
        <p:spPr>
          <a:xfrm>
            <a:off x="2400300" y="3162300"/>
            <a:ext cx="2000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F1E27B3-7C82-41F7-BD7D-55CA9107E4FB}"/>
              </a:ext>
            </a:extLst>
          </p:cNvPr>
          <p:cNvSpPr>
            <a:spLocks noGrp="1"/>
          </p:cNvSpPr>
          <p:nvPr/>
        </p:nvSpPr>
        <p:spPr>
          <a:xfrm>
            <a:off x="2514600" y="32766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图片 26,652 + 视频 12,836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9E7DE55-9B2B-41F6-AF22-B82F01AE3EE3}"/>
              </a:ext>
            </a:extLst>
          </p:cNvPr>
          <p:cNvSpPr>
            <a:spLocks noGrp="1"/>
          </p:cNvSpPr>
          <p:nvPr/>
        </p:nvSpPr>
        <p:spPr>
          <a:xfrm>
            <a:off x="4400550" y="3162300"/>
            <a:ext cx="2333625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8D36F12-789B-4B42-B93C-3C72F785089D}"/>
              </a:ext>
            </a:extLst>
          </p:cNvPr>
          <p:cNvSpPr>
            <a:spLocks noGrp="1"/>
          </p:cNvSpPr>
          <p:nvPr/>
        </p:nvSpPr>
        <p:spPr>
          <a:xfrm>
            <a:off x="4514850" y="3276600"/>
            <a:ext cx="2105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课堂行为识别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F8760F8-F047-43B9-958B-57AB5ECA8A1F}"/>
              </a:ext>
            </a:extLst>
          </p:cNvPr>
          <p:cNvSpPr>
            <a:spLocks noGrp="1"/>
          </p:cNvSpPr>
          <p:nvPr/>
        </p:nvSpPr>
        <p:spPr>
          <a:xfrm>
            <a:off x="6734175" y="3162300"/>
            <a:ext cx="13335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C20E2E-3704-43F3-A2B2-1FF7CDA1F75A}"/>
              </a:ext>
            </a:extLst>
          </p:cNvPr>
          <p:cNvSpPr>
            <a:spLocks noGrp="1"/>
          </p:cNvSpPr>
          <p:nvPr/>
        </p:nvSpPr>
        <p:spPr>
          <a:xfrm>
            <a:off x="6848475" y="32766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39,488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4CA1346-1EC5-415D-8769-6C6D5FF5E971}"/>
              </a:ext>
            </a:extLst>
          </p:cNvPr>
          <p:cNvSpPr>
            <a:spLocks noGrp="1"/>
          </p:cNvSpPr>
          <p:nvPr/>
        </p:nvSpPr>
        <p:spPr>
          <a:xfrm>
            <a:off x="8067675" y="3162300"/>
            <a:ext cx="1619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BDFDBDC-E1D1-41E6-BE1A-40747EB7586E}"/>
              </a:ext>
            </a:extLst>
          </p:cNvPr>
          <p:cNvSpPr>
            <a:spLocks noGrp="1"/>
          </p:cNvSpPr>
          <p:nvPr/>
        </p:nvSpPr>
        <p:spPr>
          <a:xfrm>
            <a:off x="8181975" y="32766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2A16CC7-EBEB-4DD1-A7A2-F007F787D262}"/>
              </a:ext>
            </a:extLst>
          </p:cNvPr>
          <p:cNvSpPr>
            <a:spLocks noGrp="1"/>
          </p:cNvSpPr>
          <p:nvPr/>
        </p:nvSpPr>
        <p:spPr>
          <a:xfrm>
            <a:off x="9686925" y="3162300"/>
            <a:ext cx="2000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60FE423-C2A0-489A-A289-CD2BD247554B}"/>
              </a:ext>
            </a:extLst>
          </p:cNvPr>
          <p:cNvSpPr>
            <a:spLocks noGrp="1"/>
          </p:cNvSpPr>
          <p:nvPr/>
        </p:nvSpPr>
        <p:spPr>
          <a:xfrm>
            <a:off x="9801225" y="32766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 类行为，含多视角视频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12D9E59-3533-4BDD-A48A-8ACEBFB4BE4B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2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22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52,621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FC72913-77CD-4F8E-83BE-AB6CA5DE6212}"/>
              </a:ext>
            </a:extLst>
          </p:cNvPr>
          <p:cNvSpPr>
            <a:spLocks noGrp="1"/>
          </p:cNvSpPr>
          <p:nvPr/>
        </p:nvSpPr>
        <p:spPr>
          <a:xfrm>
            <a:off x="685800" y="477202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索引记录总数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4295D24-F0BE-4145-B37A-37C3E884A539}"/>
              </a:ext>
            </a:extLst>
          </p:cNvPr>
          <p:cNvSpPr>
            <a:spLocks noGrp="1"/>
          </p:cNvSpPr>
          <p:nvPr/>
        </p:nvSpPr>
        <p:spPr>
          <a:xfrm>
            <a:off x="2724150" y="432435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2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22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2793E3A-7C4E-4907-83BF-244DDCCCDE5C}"/>
              </a:ext>
            </a:extLst>
          </p:cNvPr>
          <p:cNvSpPr>
            <a:spLocks noGrp="1"/>
          </p:cNvSpPr>
          <p:nvPr/>
        </p:nvSpPr>
        <p:spPr>
          <a:xfrm>
            <a:off x="2724150" y="477202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主要数据来源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CAD3872-66D5-42B3-B601-091B767F84FC}"/>
              </a:ext>
            </a:extLst>
          </p:cNvPr>
          <p:cNvSpPr>
            <a:spLocks noGrp="1"/>
          </p:cNvSpPr>
          <p:nvPr/>
        </p:nvSpPr>
        <p:spPr>
          <a:xfrm>
            <a:off x="4762500" y="432435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250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2250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6E947C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4D1A682-B26E-4A9B-9C48-D355EA5B4B7E}"/>
              </a:ext>
            </a:extLst>
          </p:cNvPr>
          <p:cNvSpPr>
            <a:spLocks noGrp="1"/>
          </p:cNvSpPr>
          <p:nvPr/>
        </p:nvSpPr>
        <p:spPr>
          <a:xfrm>
            <a:off x="4762500" y="477202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图片与视频两种模态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8B1D2BD-BCBD-40DC-B94A-D5DB23D1B43B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统计来自学生行为数据集1_跨设备媒体索引_实际路径修正版.xlsx；样本数以索引记录为准。</a:t>
            </a:r>
          </a:p>
        </p:txBody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177309CA-1C07-4F5B-95D9-87E22693203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05A55F9-68C9-4A67-AA21-BC05076A5A68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447B6AC-867B-45A3-A7A9-901F8060FA82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229636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>
            <a:extLst>
              <a:ext uri="{FF2B5EF4-FFF2-40B4-BE49-F238E27FC236}">
                <a16:creationId xmlns:a16="http://schemas.microsoft.com/office/drawing/2014/main" id="{77A05B77-427E-480D-B318-76A7D194147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数据资源整理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ADFE33-7655-48FC-964B-0A07CD6A8398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48BCE0-33B8-485C-B8C3-50531E99E58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九个数据集包：来源、模态与特点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A439ADF0-A9C8-40D6-AF2A-FCD46806F65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59BACE-6676-4D3F-A0CA-0FA60BFB2C2E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当前文件夹包含 9 个可独立说明的数据包，来自 3 类公开来源。占用空间按当前解压目录实际文件大小统计。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049A99-3A44-4BA5-8336-00AD0986F04C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209550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7D2A45-6AA0-4394-9695-025E61AD7A8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数据包 / 来源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B8542D-7915-45E4-ABAA-A803C1CF256B}"/>
              </a:ext>
            </a:extLst>
          </p:cNvPr>
          <p:cNvSpPr>
            <a:spLocks noGrp="1"/>
          </p:cNvSpPr>
          <p:nvPr/>
        </p:nvSpPr>
        <p:spPr>
          <a:xfrm>
            <a:off x="2781300" y="1981200"/>
            <a:ext cx="123825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EB6A35-C883-40E0-94BC-3210E53FE391}"/>
              </a:ext>
            </a:extLst>
          </p:cNvPr>
          <p:cNvSpPr>
            <a:spLocks noGrp="1"/>
          </p:cNvSpPr>
          <p:nvPr/>
        </p:nvSpPr>
        <p:spPr>
          <a:xfrm>
            <a:off x="2857500" y="20955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模态与规模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5AB3A9-2655-4EB8-A8B6-C4E8BEE46F34}"/>
              </a:ext>
            </a:extLst>
          </p:cNvPr>
          <p:cNvSpPr>
            <a:spLocks noGrp="1"/>
          </p:cNvSpPr>
          <p:nvPr/>
        </p:nvSpPr>
        <p:spPr>
          <a:xfrm>
            <a:off x="4019550" y="1981200"/>
            <a:ext cx="133350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0310CC-2E08-422F-BEF3-6AA51F3BBE4A}"/>
              </a:ext>
            </a:extLst>
          </p:cNvPr>
          <p:cNvSpPr>
            <a:spLocks noGrp="1"/>
          </p:cNvSpPr>
          <p:nvPr/>
        </p:nvSpPr>
        <p:spPr>
          <a:xfrm>
            <a:off x="4095750" y="2095500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主要任务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C7D570-8A86-4C37-AC18-B8727A555AB1}"/>
              </a:ext>
            </a:extLst>
          </p:cNvPr>
          <p:cNvSpPr>
            <a:spLocks noGrp="1"/>
          </p:cNvSpPr>
          <p:nvPr/>
        </p:nvSpPr>
        <p:spPr>
          <a:xfrm>
            <a:off x="5353050" y="1981200"/>
            <a:ext cx="114300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96AD89-1610-472A-BF73-A0E03606A56E}"/>
              </a:ext>
            </a:extLst>
          </p:cNvPr>
          <p:cNvSpPr>
            <a:spLocks noGrp="1"/>
          </p:cNvSpPr>
          <p:nvPr/>
        </p:nvSpPr>
        <p:spPr>
          <a:xfrm>
            <a:off x="5429250" y="209550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解压后占用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59A67E-05CF-48B9-A28A-CCBA2BC4BFA3}"/>
              </a:ext>
            </a:extLst>
          </p:cNvPr>
          <p:cNvSpPr>
            <a:spLocks noGrp="1"/>
          </p:cNvSpPr>
          <p:nvPr/>
        </p:nvSpPr>
        <p:spPr>
          <a:xfrm>
            <a:off x="6496050" y="1981200"/>
            <a:ext cx="501015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6209C3-8BBF-4CF5-8FA8-734997309D41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关键特点（分辨率、标注、视角与处理状态）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0190E0-EBF4-4EC3-8896-9D07BB4B39CB}"/>
              </a:ext>
            </a:extLst>
          </p:cNvPr>
          <p:cNvSpPr>
            <a:spLocks noGrp="1"/>
          </p:cNvSpPr>
          <p:nvPr/>
        </p:nvSpPr>
        <p:spPr>
          <a:xfrm>
            <a:off x="685800" y="2390775"/>
            <a:ext cx="2095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4643D3-8D87-4D0F-8029-80DCADE9D599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  DAiSEE（用户目录：微表情）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838F69-C279-4D6C-9CA5-BC74453276F9}"/>
              </a:ext>
            </a:extLst>
          </p:cNvPr>
          <p:cNvSpPr>
            <a:spLocks noGrp="1"/>
          </p:cNvSpPr>
          <p:nvPr/>
        </p:nvSpPr>
        <p:spPr>
          <a:xfrm>
            <a:off x="2781300" y="2390775"/>
            <a:ext cx="12382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C325F0-5539-4F0D-91E9-D645023EE4D4}"/>
              </a:ext>
            </a:extLst>
          </p:cNvPr>
          <p:cNvSpPr>
            <a:spLocks noGrp="1"/>
          </p:cNvSpPr>
          <p:nvPr/>
        </p:nvSpPr>
        <p:spPr>
          <a:xfrm>
            <a:off x="2857500" y="245745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视频｜9,068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0C91CD3-2F6B-4799-92B5-A810DB01510D}"/>
              </a:ext>
            </a:extLst>
          </p:cNvPr>
          <p:cNvSpPr>
            <a:spLocks noGrp="1"/>
          </p:cNvSpPr>
          <p:nvPr/>
        </p:nvSpPr>
        <p:spPr>
          <a:xfrm>
            <a:off x="4019550" y="2390775"/>
            <a:ext cx="1333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A83EDB-0C69-497C-915B-0F3C154BD813}"/>
              </a:ext>
            </a:extLst>
          </p:cNvPr>
          <p:cNvSpPr>
            <a:spLocks noGrp="1"/>
          </p:cNvSpPr>
          <p:nvPr/>
        </p:nvSpPr>
        <p:spPr>
          <a:xfrm>
            <a:off x="4095750" y="245745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投入度 / 状态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059E70-EDB2-44B3-A63F-A05D58E45EF1}"/>
              </a:ext>
            </a:extLst>
          </p:cNvPr>
          <p:cNvSpPr>
            <a:spLocks noGrp="1"/>
          </p:cNvSpPr>
          <p:nvPr/>
        </p:nvSpPr>
        <p:spPr>
          <a:xfrm>
            <a:off x="5353050" y="2390775"/>
            <a:ext cx="11430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CFC015E-D347-4229-9804-EC7BE9FC1E06}"/>
              </a:ext>
            </a:extLst>
          </p:cNvPr>
          <p:cNvSpPr>
            <a:spLocks noGrp="1"/>
          </p:cNvSpPr>
          <p:nvPr/>
        </p:nvSpPr>
        <p:spPr>
          <a:xfrm>
            <a:off x="5429250" y="24574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14.42 GiB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56B8F77-55CD-4573-8587-3BE1BA3E3182}"/>
              </a:ext>
            </a:extLst>
          </p:cNvPr>
          <p:cNvSpPr>
            <a:spLocks noGrp="1"/>
          </p:cNvSpPr>
          <p:nvPr/>
        </p:nvSpPr>
        <p:spPr>
          <a:xfrm>
            <a:off x="6496050" y="2390775"/>
            <a:ext cx="50101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0FFB734-6E42-4333-A809-D7724BEFD7E0}"/>
              </a:ext>
            </a:extLst>
          </p:cNvPr>
          <p:cNvSpPr>
            <a:spLocks noGrp="1"/>
          </p:cNvSpPr>
          <p:nvPr/>
        </p:nvSpPr>
        <p:spPr>
          <a:xfrm>
            <a:off x="6572250" y="24574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640×480，30 fps，约 10 秒；Train/Validation/Test；Boredom、Engagement、Confusion、Frustration 为 0–3 级；原始视频未缩放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C52B541-C533-483B-A485-AB70427187BC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2095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DA50E70-FD53-4115-ACD6-01438789022F}"/>
              </a:ext>
            </a:extLst>
          </p:cNvPr>
          <p:cNvSpPr>
            <a:spLocks noGrp="1"/>
          </p:cNvSpPr>
          <p:nvPr/>
        </p:nvSpPr>
        <p:spPr>
          <a:xfrm>
            <a:off x="762000" y="286702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  Tianchi / Roboflow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D527B1B-A20D-47A7-9A8E-9045696D6385}"/>
              </a:ext>
            </a:extLst>
          </p:cNvPr>
          <p:cNvSpPr>
            <a:spLocks noGrp="1"/>
          </p:cNvSpPr>
          <p:nvPr/>
        </p:nvSpPr>
        <p:spPr>
          <a:xfrm>
            <a:off x="2781300" y="2800350"/>
            <a:ext cx="12382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3495440-95D4-4395-85F8-B9D59DEA8FE1}"/>
              </a:ext>
            </a:extLst>
          </p:cNvPr>
          <p:cNvSpPr>
            <a:spLocks noGrp="1"/>
          </p:cNvSpPr>
          <p:nvPr/>
        </p:nvSpPr>
        <p:spPr>
          <a:xfrm>
            <a:off x="2857500" y="2867025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图片｜4,065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B986D7B-23B7-44FA-9E59-1D21CFC1A07C}"/>
              </a:ext>
            </a:extLst>
          </p:cNvPr>
          <p:cNvSpPr>
            <a:spLocks noGrp="1"/>
          </p:cNvSpPr>
          <p:nvPr/>
        </p:nvSpPr>
        <p:spPr>
          <a:xfrm>
            <a:off x="4019550" y="2800350"/>
            <a:ext cx="1333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01C1B42-5429-476D-B7AC-5CCEC34DAB91}"/>
              </a:ext>
            </a:extLst>
          </p:cNvPr>
          <p:cNvSpPr>
            <a:spLocks noGrp="1"/>
          </p:cNvSpPr>
          <p:nvPr/>
        </p:nvSpPr>
        <p:spPr>
          <a:xfrm>
            <a:off x="4095750" y="2867025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课堂行为检测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5A40C2-1E24-4D38-99DA-BD85E65BD41E}"/>
              </a:ext>
            </a:extLst>
          </p:cNvPr>
          <p:cNvSpPr>
            <a:spLocks noGrp="1"/>
          </p:cNvSpPr>
          <p:nvPr/>
        </p:nvSpPr>
        <p:spPr>
          <a:xfrm>
            <a:off x="5353050" y="2800350"/>
            <a:ext cx="11430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F8A785D-B224-40EE-805B-D05855778CC4}"/>
              </a:ext>
            </a:extLst>
          </p:cNvPr>
          <p:cNvSpPr>
            <a:spLocks noGrp="1"/>
          </p:cNvSpPr>
          <p:nvPr/>
        </p:nvSpPr>
        <p:spPr>
          <a:xfrm>
            <a:off x="5429250" y="2867025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0.26 GiB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D1E62E5-9DA9-4361-9134-3B18906CB4BD}"/>
              </a:ext>
            </a:extLst>
          </p:cNvPr>
          <p:cNvSpPr>
            <a:spLocks noGrp="1"/>
          </p:cNvSpPr>
          <p:nvPr/>
        </p:nvSpPr>
        <p:spPr>
          <a:xfrm>
            <a:off x="6496050" y="2800350"/>
            <a:ext cx="50101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4B844D7-208D-456F-A115-5E038DBF43F9}"/>
              </a:ext>
            </a:extLst>
          </p:cNvPr>
          <p:cNvSpPr>
            <a:spLocks noGrp="1"/>
          </p:cNvSpPr>
          <p:nvPr/>
        </p:nvSpPr>
        <p:spPr>
          <a:xfrm>
            <a:off x="6572250" y="286702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640×640；Roboflow Stretch；YOLOv8 TXT；Train/Valid/Test；含 upright、book、bend、raise_head 等行为标签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F3870AD-0DEA-4319-AE1D-D17B5CD349F6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2095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BD83D6D-9975-402C-90B0-8F074F013F0A}"/>
              </a:ext>
            </a:extLst>
          </p:cNvPr>
          <p:cNvSpPr>
            <a:spLocks noGrp="1"/>
          </p:cNvSpPr>
          <p:nvPr/>
        </p:nvSpPr>
        <p:spPr>
          <a:xfrm>
            <a:off x="762000" y="327660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3  SCB YOLO/XML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160EBB8-9FEA-4400-B5ED-21AE162711EC}"/>
              </a:ext>
            </a:extLst>
          </p:cNvPr>
          <p:cNvSpPr>
            <a:spLocks noGrp="1"/>
          </p:cNvSpPr>
          <p:nvPr/>
        </p:nvSpPr>
        <p:spPr>
          <a:xfrm>
            <a:off x="2781300" y="3209925"/>
            <a:ext cx="12382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B5B48DC-602C-42D1-8A3F-4635C49408F2}"/>
              </a:ext>
            </a:extLst>
          </p:cNvPr>
          <p:cNvSpPr>
            <a:spLocks noGrp="1"/>
          </p:cNvSpPr>
          <p:nvPr/>
        </p:nvSpPr>
        <p:spPr>
          <a:xfrm>
            <a:off x="2857500" y="32766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图片｜8,884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4FC1B88-528C-4B92-A7C6-99B19B1CF998}"/>
              </a:ext>
            </a:extLst>
          </p:cNvPr>
          <p:cNvSpPr>
            <a:spLocks noGrp="1"/>
          </p:cNvSpPr>
          <p:nvPr/>
        </p:nvSpPr>
        <p:spPr>
          <a:xfrm>
            <a:off x="4019550" y="3209925"/>
            <a:ext cx="1333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5D1150F-C173-4982-9789-2628A35F3B3B}"/>
              </a:ext>
            </a:extLst>
          </p:cNvPr>
          <p:cNvSpPr>
            <a:spLocks noGrp="1"/>
          </p:cNvSpPr>
          <p:nvPr/>
        </p:nvSpPr>
        <p:spPr>
          <a:xfrm>
            <a:off x="4095750" y="32766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课堂行为检测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0A3EFE9-6220-4A8C-95DC-ED1C2475B6BB}"/>
              </a:ext>
            </a:extLst>
          </p:cNvPr>
          <p:cNvSpPr>
            <a:spLocks noGrp="1"/>
          </p:cNvSpPr>
          <p:nvPr/>
        </p:nvSpPr>
        <p:spPr>
          <a:xfrm>
            <a:off x="5353050" y="3209925"/>
            <a:ext cx="11430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A3D9634-AC6E-4002-863C-1988C33C2C4E}"/>
              </a:ext>
            </a:extLst>
          </p:cNvPr>
          <p:cNvSpPr>
            <a:spLocks noGrp="1"/>
          </p:cNvSpPr>
          <p:nvPr/>
        </p:nvSpPr>
        <p:spPr>
          <a:xfrm>
            <a:off x="5429250" y="3276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1.06 GiB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8DF8A08-3141-4B06-9D80-247309BA8D2F}"/>
              </a:ext>
            </a:extLst>
          </p:cNvPr>
          <p:cNvSpPr>
            <a:spLocks noGrp="1"/>
          </p:cNvSpPr>
          <p:nvPr/>
        </p:nvSpPr>
        <p:spPr>
          <a:xfrm>
            <a:off x="6496050" y="3209925"/>
            <a:ext cx="50101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51858FA-034B-42C5-BBC7-C825A9AFA0A1}"/>
              </a:ext>
            </a:extLst>
          </p:cNvPr>
          <p:cNvSpPr>
            <a:spLocks noGrp="1"/>
          </p:cNvSpPr>
          <p:nvPr/>
        </p:nvSpPr>
        <p:spPr>
          <a:xfrm>
            <a:off x="6572250" y="32766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800×450（XML size）；JPG + XML；约 8 类行为；索引未标明二次缩放；适合目标检测和遮挡鲁棒性实验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E5F1A87-68E1-4E14-A1C2-BCBE9B6EAC18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2095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AC3FFE1-177D-4394-8F34-FA4486F3DFE3}"/>
              </a:ext>
            </a:extLst>
          </p:cNvPr>
          <p:cNvSpPr>
            <a:spLocks noGrp="1"/>
          </p:cNvSpPr>
          <p:nvPr/>
        </p:nvSpPr>
        <p:spPr>
          <a:xfrm>
            <a:off x="762000" y="36861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4  SCB VOCdevkit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596BCC0-3D02-4218-BC25-328884911D89}"/>
              </a:ext>
            </a:extLst>
          </p:cNvPr>
          <p:cNvSpPr>
            <a:spLocks noGrp="1"/>
          </p:cNvSpPr>
          <p:nvPr/>
        </p:nvSpPr>
        <p:spPr>
          <a:xfrm>
            <a:off x="2781300" y="3619500"/>
            <a:ext cx="12382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E8DC76B-50EA-4FA2-B781-5BB143F2AEDA}"/>
              </a:ext>
            </a:extLst>
          </p:cNvPr>
          <p:cNvSpPr>
            <a:spLocks noGrp="1"/>
          </p:cNvSpPr>
          <p:nvPr/>
        </p:nvSpPr>
        <p:spPr>
          <a:xfrm>
            <a:off x="2857500" y="3686175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图片｜train/val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381B898-3DE2-44E8-BF44-B4699AA05716}"/>
              </a:ext>
            </a:extLst>
          </p:cNvPr>
          <p:cNvSpPr>
            <a:spLocks noGrp="1"/>
          </p:cNvSpPr>
          <p:nvPr/>
        </p:nvSpPr>
        <p:spPr>
          <a:xfrm>
            <a:off x="4019550" y="3619500"/>
            <a:ext cx="1333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6D8510A-D9C5-436C-9D91-B0D79693A7F8}"/>
              </a:ext>
            </a:extLst>
          </p:cNvPr>
          <p:cNvSpPr>
            <a:spLocks noGrp="1"/>
          </p:cNvSpPr>
          <p:nvPr/>
        </p:nvSpPr>
        <p:spPr>
          <a:xfrm>
            <a:off x="4095750" y="3686175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课堂行为检测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C6ADDA5-C597-4518-8364-11192732C91A}"/>
              </a:ext>
            </a:extLst>
          </p:cNvPr>
          <p:cNvSpPr>
            <a:spLocks noGrp="1"/>
          </p:cNvSpPr>
          <p:nvPr/>
        </p:nvSpPr>
        <p:spPr>
          <a:xfrm>
            <a:off x="5353050" y="3619500"/>
            <a:ext cx="11430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EBC9666-1347-4BE0-8544-5DF5C0A6B5DC}"/>
              </a:ext>
            </a:extLst>
          </p:cNvPr>
          <p:cNvSpPr>
            <a:spLocks noGrp="1"/>
          </p:cNvSpPr>
          <p:nvPr/>
        </p:nvSpPr>
        <p:spPr>
          <a:xfrm>
            <a:off x="5429250" y="3686175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2.09 GiB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B44F649-4839-4876-BCB7-B5DC64459853}"/>
              </a:ext>
            </a:extLst>
          </p:cNvPr>
          <p:cNvSpPr>
            <a:spLocks noGrp="1"/>
          </p:cNvSpPr>
          <p:nvPr/>
        </p:nvSpPr>
        <p:spPr>
          <a:xfrm>
            <a:off x="6496050" y="3619500"/>
            <a:ext cx="50101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D8CFD24-7BBD-4614-BF0F-B11FEBCFE227}"/>
              </a:ext>
            </a:extLst>
          </p:cNvPr>
          <p:cNvSpPr>
            <a:spLocks noGrp="1"/>
          </p:cNvSpPr>
          <p:nvPr/>
        </p:nvSpPr>
        <p:spPr>
          <a:xfrm>
            <a:off x="6572250" y="368617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同源 VOC 转换集；800×450（VOC XML）；XML 标注；索引未标明二次缩放；用于比较标注格式转换和检测结果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394709E-5CFF-4313-AE17-298AA605E42B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2095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96556B9-0FE4-4550-A8D9-33957DFD1F90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5  SCB 正面视角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73CD53D-E5A2-4F67-B429-2493EF5EE724}"/>
              </a:ext>
            </a:extLst>
          </p:cNvPr>
          <p:cNvSpPr>
            <a:spLocks noGrp="1"/>
          </p:cNvSpPr>
          <p:nvPr/>
        </p:nvSpPr>
        <p:spPr>
          <a:xfrm>
            <a:off x="2781300" y="4029075"/>
            <a:ext cx="12382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CE504D5-4F17-4748-8EC7-475638EC751C}"/>
              </a:ext>
            </a:extLst>
          </p:cNvPr>
          <p:cNvSpPr>
            <a:spLocks noGrp="1"/>
          </p:cNvSpPr>
          <p:nvPr/>
        </p:nvSpPr>
        <p:spPr>
          <a:xfrm>
            <a:off x="2857500" y="409575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视频｜593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55C167D-4ABB-4EC2-9C19-A2607F85C75A}"/>
              </a:ext>
            </a:extLst>
          </p:cNvPr>
          <p:cNvSpPr>
            <a:spLocks noGrp="1"/>
          </p:cNvSpPr>
          <p:nvPr/>
        </p:nvSpPr>
        <p:spPr>
          <a:xfrm>
            <a:off x="4019550" y="4029075"/>
            <a:ext cx="1333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BC43E2E-F5B8-4E95-871B-4846F767240C}"/>
              </a:ext>
            </a:extLst>
          </p:cNvPr>
          <p:cNvSpPr>
            <a:spLocks noGrp="1"/>
          </p:cNvSpPr>
          <p:nvPr/>
        </p:nvSpPr>
        <p:spPr>
          <a:xfrm>
            <a:off x="4095750" y="409575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多目标跟踪 / 行为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7A539E8-3AA5-4A69-84E9-654B0CDBAA53}"/>
              </a:ext>
            </a:extLst>
          </p:cNvPr>
          <p:cNvSpPr>
            <a:spLocks noGrp="1"/>
          </p:cNvSpPr>
          <p:nvPr/>
        </p:nvSpPr>
        <p:spPr>
          <a:xfrm>
            <a:off x="5353050" y="4029075"/>
            <a:ext cx="11430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F3663D3-819E-439E-8932-66A703125A4F}"/>
              </a:ext>
            </a:extLst>
          </p:cNvPr>
          <p:cNvSpPr>
            <a:spLocks noGrp="1"/>
          </p:cNvSpPr>
          <p:nvPr/>
        </p:nvSpPr>
        <p:spPr>
          <a:xfrm>
            <a:off x="5429250" y="40957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0.57 GiB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CBEF7D0-B908-46DF-B41F-7A73F7CBDE91}"/>
              </a:ext>
            </a:extLst>
          </p:cNvPr>
          <p:cNvSpPr>
            <a:spLocks noGrp="1"/>
          </p:cNvSpPr>
          <p:nvPr/>
        </p:nvSpPr>
        <p:spPr>
          <a:xfrm>
            <a:off x="6496050" y="4029075"/>
            <a:ext cx="50101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7F113A1-2A65-4CBC-B3DA-ADCC85AB56A3}"/>
              </a:ext>
            </a:extLst>
          </p:cNvPr>
          <p:cNvSpPr>
            <a:spLocks noGrp="1"/>
          </p:cNvSpPr>
          <p:nvPr/>
        </p:nvSpPr>
        <p:spPr>
          <a:xfrm>
            <a:off x="6572250" y="40957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800×450；正面机位；人物尺度较集中；适合观察前后排小目标和遮挡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56A4D69-A9B4-4B23-B87E-1A7C951083DA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095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80FC17E-D637-4DAD-A77D-DC934E78E899}"/>
              </a:ext>
            </a:extLst>
          </p:cNvPr>
          <p:cNvSpPr>
            <a:spLocks noGrp="1"/>
          </p:cNvSpPr>
          <p:nvPr/>
        </p:nvSpPr>
        <p:spPr>
          <a:xfrm>
            <a:off x="762000" y="450532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6  SCB 教师视角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3C326E7-67FE-4F4B-B97F-CD2F3F7E0C8E}"/>
              </a:ext>
            </a:extLst>
          </p:cNvPr>
          <p:cNvSpPr>
            <a:spLocks noGrp="1"/>
          </p:cNvSpPr>
          <p:nvPr/>
        </p:nvSpPr>
        <p:spPr>
          <a:xfrm>
            <a:off x="2781300" y="4438650"/>
            <a:ext cx="12382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DE7360B-FCE2-4E9E-8073-6739E772984B}"/>
              </a:ext>
            </a:extLst>
          </p:cNvPr>
          <p:cNvSpPr>
            <a:spLocks noGrp="1"/>
          </p:cNvSpPr>
          <p:nvPr/>
        </p:nvSpPr>
        <p:spPr>
          <a:xfrm>
            <a:off x="2857500" y="4505325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视频｜2,918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5FA83B7-1D48-45CF-A4EB-AFFC34A1FADF}"/>
              </a:ext>
            </a:extLst>
          </p:cNvPr>
          <p:cNvSpPr>
            <a:spLocks noGrp="1"/>
          </p:cNvSpPr>
          <p:nvPr/>
        </p:nvSpPr>
        <p:spPr>
          <a:xfrm>
            <a:off x="4019550" y="4438650"/>
            <a:ext cx="1333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30406EF-54E8-47C2-8CC6-120CC34B0957}"/>
              </a:ext>
            </a:extLst>
          </p:cNvPr>
          <p:cNvSpPr>
            <a:spLocks noGrp="1"/>
          </p:cNvSpPr>
          <p:nvPr/>
        </p:nvSpPr>
        <p:spPr>
          <a:xfrm>
            <a:off x="4095750" y="4505325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多目标跟踪 / 行为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19BFDD2-43DB-48CD-A1D0-42EA3118FA69}"/>
              </a:ext>
            </a:extLst>
          </p:cNvPr>
          <p:cNvSpPr>
            <a:spLocks noGrp="1"/>
          </p:cNvSpPr>
          <p:nvPr/>
        </p:nvSpPr>
        <p:spPr>
          <a:xfrm>
            <a:off x="5353050" y="4438650"/>
            <a:ext cx="11430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E074BE8-5A05-4BDF-99B6-793496402CFC}"/>
              </a:ext>
            </a:extLst>
          </p:cNvPr>
          <p:cNvSpPr>
            <a:spLocks noGrp="1"/>
          </p:cNvSpPr>
          <p:nvPr/>
        </p:nvSpPr>
        <p:spPr>
          <a:xfrm>
            <a:off x="5429250" y="4505325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1.97 GiB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91EA0AF-DFA9-4C1A-B2E0-D6D235CB42F3}"/>
              </a:ext>
            </a:extLst>
          </p:cNvPr>
          <p:cNvSpPr>
            <a:spLocks noGrp="1"/>
          </p:cNvSpPr>
          <p:nvPr/>
        </p:nvSpPr>
        <p:spPr>
          <a:xfrm>
            <a:off x="6496050" y="4438650"/>
            <a:ext cx="50101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C7A823B-47A7-42C0-8F4D-BE6C21BA63DB}"/>
              </a:ext>
            </a:extLst>
          </p:cNvPr>
          <p:cNvSpPr>
            <a:spLocks noGrp="1"/>
          </p:cNvSpPr>
          <p:nvPr/>
        </p:nvSpPr>
        <p:spPr>
          <a:xfrm>
            <a:off x="6572250" y="450532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800×450；教师侧视角；人物尺度、朝向和视线变化更明显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746C587-9844-446E-9C5D-67C6B77E3F9B}"/>
              </a:ext>
            </a:extLst>
          </p:cNvPr>
          <p:cNvSpPr>
            <a:spLocks noGrp="1"/>
          </p:cNvSpPr>
          <p:nvPr/>
        </p:nvSpPr>
        <p:spPr>
          <a:xfrm>
            <a:off x="685800" y="4848225"/>
            <a:ext cx="2095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6756FF0-C653-4B14-B945-407F20FFFACC}"/>
              </a:ext>
            </a:extLst>
          </p:cNvPr>
          <p:cNvSpPr>
            <a:spLocks noGrp="1"/>
          </p:cNvSpPr>
          <p:nvPr/>
        </p:nvSpPr>
        <p:spPr>
          <a:xfrm>
            <a:off x="762000" y="491490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7  SCB 斜上方视角 1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07BA7D3-8D1C-41E6-9CDB-C65B7FC702FF}"/>
              </a:ext>
            </a:extLst>
          </p:cNvPr>
          <p:cNvSpPr>
            <a:spLocks noGrp="1"/>
          </p:cNvSpPr>
          <p:nvPr/>
        </p:nvSpPr>
        <p:spPr>
          <a:xfrm>
            <a:off x="2781300" y="4848225"/>
            <a:ext cx="12382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4979BEA-24E2-4D16-841C-A027B615FCA1}"/>
              </a:ext>
            </a:extLst>
          </p:cNvPr>
          <p:cNvSpPr>
            <a:spLocks noGrp="1"/>
          </p:cNvSpPr>
          <p:nvPr/>
        </p:nvSpPr>
        <p:spPr>
          <a:xfrm>
            <a:off x="2857500" y="49149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视频｜2,500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E503773-93D2-4217-8AF6-927CB08FB9FB}"/>
              </a:ext>
            </a:extLst>
          </p:cNvPr>
          <p:cNvSpPr>
            <a:spLocks noGrp="1"/>
          </p:cNvSpPr>
          <p:nvPr/>
        </p:nvSpPr>
        <p:spPr>
          <a:xfrm>
            <a:off x="4019550" y="4848225"/>
            <a:ext cx="1333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69CF8A1-A372-4118-BFF7-5D12576CD291}"/>
              </a:ext>
            </a:extLst>
          </p:cNvPr>
          <p:cNvSpPr>
            <a:spLocks noGrp="1"/>
          </p:cNvSpPr>
          <p:nvPr/>
        </p:nvSpPr>
        <p:spPr>
          <a:xfrm>
            <a:off x="4095750" y="49149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多目标跟踪 / 行为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CB8743F-4005-495A-9B9D-73E7759C3B90}"/>
              </a:ext>
            </a:extLst>
          </p:cNvPr>
          <p:cNvSpPr>
            <a:spLocks noGrp="1"/>
          </p:cNvSpPr>
          <p:nvPr/>
        </p:nvSpPr>
        <p:spPr>
          <a:xfrm>
            <a:off x="5353050" y="4848225"/>
            <a:ext cx="11430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8D6EF5A-BC70-4054-860A-DC8B434D52B1}"/>
              </a:ext>
            </a:extLst>
          </p:cNvPr>
          <p:cNvSpPr>
            <a:spLocks noGrp="1"/>
          </p:cNvSpPr>
          <p:nvPr/>
        </p:nvSpPr>
        <p:spPr>
          <a:xfrm>
            <a:off x="5429250" y="49149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2.90 GiB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EC68CA8-B325-46C6-9785-AE751EBDD369}"/>
              </a:ext>
            </a:extLst>
          </p:cNvPr>
          <p:cNvSpPr>
            <a:spLocks noGrp="1"/>
          </p:cNvSpPr>
          <p:nvPr/>
        </p:nvSpPr>
        <p:spPr>
          <a:xfrm>
            <a:off x="6496050" y="4848225"/>
            <a:ext cx="50101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3E43F774-2B33-4CBF-8F0D-14D76BEC7799}"/>
              </a:ext>
            </a:extLst>
          </p:cNvPr>
          <p:cNvSpPr>
            <a:spLocks noGrp="1"/>
          </p:cNvSpPr>
          <p:nvPr/>
        </p:nvSpPr>
        <p:spPr>
          <a:xfrm>
            <a:off x="6572250" y="49149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800×450；斜上方机位；前后排层级和遮挡关系更明显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EDDF8B7-A220-4D17-A62E-324F77394A7E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2095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3807BEF-70DF-43D4-944B-C1B6C00B9D08}"/>
              </a:ext>
            </a:extLst>
          </p:cNvPr>
          <p:cNvSpPr>
            <a:spLocks noGrp="1"/>
          </p:cNvSpPr>
          <p:nvPr/>
        </p:nvSpPr>
        <p:spPr>
          <a:xfrm>
            <a:off x="762000" y="53244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  SCB 斜上方视角 2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C34862E-FA4E-4E1B-97B2-C4F34BEE6391}"/>
              </a:ext>
            </a:extLst>
          </p:cNvPr>
          <p:cNvSpPr>
            <a:spLocks noGrp="1"/>
          </p:cNvSpPr>
          <p:nvPr/>
        </p:nvSpPr>
        <p:spPr>
          <a:xfrm>
            <a:off x="2781300" y="5257800"/>
            <a:ext cx="12382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2F43B1F-FA2A-48CF-A596-574C1A8CAE04}"/>
              </a:ext>
            </a:extLst>
          </p:cNvPr>
          <p:cNvSpPr>
            <a:spLocks noGrp="1"/>
          </p:cNvSpPr>
          <p:nvPr/>
        </p:nvSpPr>
        <p:spPr>
          <a:xfrm>
            <a:off x="2857500" y="5324475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视频｜2,281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53179EB-63F0-41F8-8169-7BDF38524886}"/>
              </a:ext>
            </a:extLst>
          </p:cNvPr>
          <p:cNvSpPr>
            <a:spLocks noGrp="1"/>
          </p:cNvSpPr>
          <p:nvPr/>
        </p:nvSpPr>
        <p:spPr>
          <a:xfrm>
            <a:off x="4019550" y="5257800"/>
            <a:ext cx="1333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C497399-129D-4119-85B1-141DE9301E23}"/>
              </a:ext>
            </a:extLst>
          </p:cNvPr>
          <p:cNvSpPr>
            <a:spLocks noGrp="1"/>
          </p:cNvSpPr>
          <p:nvPr/>
        </p:nvSpPr>
        <p:spPr>
          <a:xfrm>
            <a:off x="4095750" y="5324475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多目标跟踪 / 行为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D5BF17B-EBEB-429A-9837-C5C3981B14AF}"/>
              </a:ext>
            </a:extLst>
          </p:cNvPr>
          <p:cNvSpPr>
            <a:spLocks noGrp="1"/>
          </p:cNvSpPr>
          <p:nvPr/>
        </p:nvSpPr>
        <p:spPr>
          <a:xfrm>
            <a:off x="5353050" y="5257800"/>
            <a:ext cx="11430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322BFA8-899C-4C8F-9D03-904C99B17B36}"/>
              </a:ext>
            </a:extLst>
          </p:cNvPr>
          <p:cNvSpPr>
            <a:spLocks noGrp="1"/>
          </p:cNvSpPr>
          <p:nvPr/>
        </p:nvSpPr>
        <p:spPr>
          <a:xfrm>
            <a:off x="5429250" y="5324475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2.46 GiB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518203ED-C14D-47AA-8D88-726D5E89CF2D}"/>
              </a:ext>
            </a:extLst>
          </p:cNvPr>
          <p:cNvSpPr>
            <a:spLocks noGrp="1"/>
          </p:cNvSpPr>
          <p:nvPr/>
        </p:nvSpPr>
        <p:spPr>
          <a:xfrm>
            <a:off x="6496050" y="5257800"/>
            <a:ext cx="50101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E3AD8EE-2EA3-4AB4-AE99-31198210D18F}"/>
              </a:ext>
            </a:extLst>
          </p:cNvPr>
          <p:cNvSpPr>
            <a:spLocks noGrp="1"/>
          </p:cNvSpPr>
          <p:nvPr/>
        </p:nvSpPr>
        <p:spPr>
          <a:xfrm>
            <a:off x="6572250" y="532447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800×450；另一斜上方机位；适合做跨视角泛化比较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990434A2-5F45-4B86-BE5E-255E48E3FB2D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2095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D7C382A-BC3E-4BFC-A672-F1906D5006AE}"/>
              </a:ext>
            </a:extLst>
          </p:cNvPr>
          <p:cNvSpPr>
            <a:spLocks noGrp="1"/>
          </p:cNvSpPr>
          <p:nvPr/>
        </p:nvSpPr>
        <p:spPr>
          <a:xfrm>
            <a:off x="762000" y="573405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9  SCB 后方视角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45960981-6987-4DA9-9F10-536182DF4442}"/>
              </a:ext>
            </a:extLst>
          </p:cNvPr>
          <p:cNvSpPr>
            <a:spLocks noGrp="1"/>
          </p:cNvSpPr>
          <p:nvPr/>
        </p:nvSpPr>
        <p:spPr>
          <a:xfrm>
            <a:off x="2781300" y="5667375"/>
            <a:ext cx="12382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6280690-3E09-4514-A9CD-61F110C9C636}"/>
              </a:ext>
            </a:extLst>
          </p:cNvPr>
          <p:cNvSpPr>
            <a:spLocks noGrp="1"/>
          </p:cNvSpPr>
          <p:nvPr/>
        </p:nvSpPr>
        <p:spPr>
          <a:xfrm>
            <a:off x="2857500" y="573405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视频｜4,544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0153A254-C261-4D33-B7D1-C50494D257ED}"/>
              </a:ext>
            </a:extLst>
          </p:cNvPr>
          <p:cNvSpPr>
            <a:spLocks noGrp="1"/>
          </p:cNvSpPr>
          <p:nvPr/>
        </p:nvSpPr>
        <p:spPr>
          <a:xfrm>
            <a:off x="4019550" y="5667375"/>
            <a:ext cx="1333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40D5DA4-709E-47F4-AAD7-0D8BD8DE2CB8}"/>
              </a:ext>
            </a:extLst>
          </p:cNvPr>
          <p:cNvSpPr>
            <a:spLocks noGrp="1"/>
          </p:cNvSpPr>
          <p:nvPr/>
        </p:nvSpPr>
        <p:spPr>
          <a:xfrm>
            <a:off x="4095750" y="573405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多目标跟踪 / 行为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5793A9E-FA8E-4F2C-BB8C-1650D54B0712}"/>
              </a:ext>
            </a:extLst>
          </p:cNvPr>
          <p:cNvSpPr>
            <a:spLocks noGrp="1"/>
          </p:cNvSpPr>
          <p:nvPr/>
        </p:nvSpPr>
        <p:spPr>
          <a:xfrm>
            <a:off x="5353050" y="5667375"/>
            <a:ext cx="11430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72131AE-1A2F-405D-9FA3-AF47778D9A38}"/>
              </a:ext>
            </a:extLst>
          </p:cNvPr>
          <p:cNvSpPr>
            <a:spLocks noGrp="1"/>
          </p:cNvSpPr>
          <p:nvPr/>
        </p:nvSpPr>
        <p:spPr>
          <a:xfrm>
            <a:off x="5429250" y="57340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3.55 GiB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2C93089-FA39-4DFD-A91B-03F855EEF5C5}"/>
              </a:ext>
            </a:extLst>
          </p:cNvPr>
          <p:cNvSpPr>
            <a:spLocks noGrp="1"/>
          </p:cNvSpPr>
          <p:nvPr/>
        </p:nvSpPr>
        <p:spPr>
          <a:xfrm>
            <a:off x="6496050" y="5667375"/>
            <a:ext cx="50101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3E044BC-9D91-4026-BB42-02917DB05D3C}"/>
              </a:ext>
            </a:extLst>
          </p:cNvPr>
          <p:cNvSpPr>
            <a:spLocks noGrp="1"/>
          </p:cNvSpPr>
          <p:nvPr/>
        </p:nvSpPr>
        <p:spPr>
          <a:xfrm>
            <a:off x="6572250" y="57340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800×450；后方机位；背向和小目标更多；适合远距离、遮挡和跟踪实验</a:t>
            </a: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E5CC59D0-2990-4D05-9297-F8550D5E9E00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61950"/>
          </a:xfrm>
          <a:prstGeom prst="roundRect">
            <a:avLst>
              <a:gd name="adj" fmla="val 3157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6B039F6-42A7-4964-8415-141D1CF976A4}"/>
              </a:ext>
            </a:extLst>
          </p:cNvPr>
          <p:cNvSpPr>
            <a:spLocks noGrp="1"/>
          </p:cNvSpPr>
          <p:nvPr/>
        </p:nvSpPr>
        <p:spPr>
          <a:xfrm>
            <a:off x="857250" y="6057900"/>
            <a:ext cx="1047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合计约 29.27 GiB。这里统计的是解压后目录；当前目录未保留原 ZIP/7z，因此没有填写压缩包大小。</a:t>
            </a:r>
          </a:p>
        </p:txBody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D7FDC8A2-975B-404C-BBCF-F20BC6731F0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3E77510-4657-402C-8F08-D5B64F3DD89A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数据资源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0482E70-A7CF-4115-A156-0396B7439FA7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692020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>
            <a:extLst>
              <a:ext uri="{FF2B5EF4-FFF2-40B4-BE49-F238E27FC236}">
                <a16:creationId xmlns:a16="http://schemas.microsoft.com/office/drawing/2014/main" id="{9B29E39F-E697-45CD-9E14-38878AA537F4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来源映射与论文链接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69200B-017F-4A88-A83D-B74B0A8411A5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7F923A-7E5D-4720-B4E4-263675FB6A4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九个数据集包的具体来源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86A4843D-DAA8-424E-899F-2FF172D48B1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4708E1-327A-4247-8EC4-73891A9DF6EF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下方来源卡片对应 Excel 中的 source_url、source_detail_url 和 paper_url；九个数据包按 archive_file / 视角目录映射到 A、B、C 三类来源。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2EF832-FACA-45EA-A77D-93419889851D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3429000" cy="1581150"/>
          </a:xfrm>
          <a:prstGeom prst="roundRect">
            <a:avLst>
              <a:gd name="adj" fmla="val 9639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B6E187-35E5-433E-96A1-ECB6FE6A92C5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95250" cy="1581150"/>
          </a:xfrm>
          <a:prstGeom prst="rect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2F2FD6-B80F-4BA0-94FE-25957BAAB963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E896355-08E9-4840-B3BF-AB95631C1A7E}"/>
              </a:ext>
            </a:extLst>
          </p:cNvPr>
          <p:cNvSpPr>
            <a:spLocks noGrp="1"/>
          </p:cNvSpPr>
          <p:nvPr/>
        </p:nvSpPr>
        <p:spPr>
          <a:xfrm>
            <a:off x="1352550" y="2171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 官方来源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C45BCD-7E32-4143-B726-2A8A59FA2C31}"/>
              </a:ext>
            </a:extLst>
          </p:cNvPr>
          <p:cNvSpPr>
            <a:spLocks noGrp="1"/>
          </p:cNvSpPr>
          <p:nvPr/>
        </p:nvSpPr>
        <p:spPr>
          <a:xfrm>
            <a:off x="952500" y="260985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https://people.iith.ac.in/vineethnb/resources/daisee/index.html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D25ECD-2951-43C6-99F5-B94FBEFDF5DB}"/>
              </a:ext>
            </a:extLst>
          </p:cNvPr>
          <p:cNvSpPr>
            <a:spLocks noGrp="1"/>
          </p:cNvSpPr>
          <p:nvPr/>
        </p:nvSpPr>
        <p:spPr>
          <a:xfrm>
            <a:off x="952500" y="3038475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论文：https://arxiv.org/abs/1609.01885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CA6A2E5-6176-4606-92DD-6CC9E79AFABF}"/>
              </a:ext>
            </a:extLst>
          </p:cNvPr>
          <p:cNvSpPr>
            <a:spLocks noGrp="1"/>
          </p:cNvSpPr>
          <p:nvPr/>
        </p:nvSpPr>
        <p:spPr>
          <a:xfrm>
            <a:off x="4362450" y="1981200"/>
            <a:ext cx="3429000" cy="1581150"/>
          </a:xfrm>
          <a:prstGeom prst="roundRect">
            <a:avLst>
              <a:gd name="adj" fmla="val 9639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037F9F-630D-4AB8-9436-4E181BA98105}"/>
              </a:ext>
            </a:extLst>
          </p:cNvPr>
          <p:cNvSpPr>
            <a:spLocks noGrp="1"/>
          </p:cNvSpPr>
          <p:nvPr/>
        </p:nvSpPr>
        <p:spPr>
          <a:xfrm>
            <a:off x="4362450" y="1981200"/>
            <a:ext cx="95250" cy="1581150"/>
          </a:xfrm>
          <a:prstGeom prst="rect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67B3CD-EEAD-4D36-B4E2-BE51B454B5CF}"/>
              </a:ext>
            </a:extLst>
          </p:cNvPr>
          <p:cNvSpPr>
            <a:spLocks noGrp="1"/>
          </p:cNvSpPr>
          <p:nvPr/>
        </p:nvSpPr>
        <p:spPr>
          <a:xfrm>
            <a:off x="4629150" y="21526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6187E0-55C5-49E9-AB5A-9B61D05D6BCC}"/>
              </a:ext>
            </a:extLst>
          </p:cNvPr>
          <p:cNvSpPr>
            <a:spLocks noGrp="1"/>
          </p:cNvSpPr>
          <p:nvPr/>
        </p:nvSpPr>
        <p:spPr>
          <a:xfrm>
            <a:off x="5029200" y="2171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Tianchi / Roboflow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7D2365-1C51-4815-93EE-93F85D468DAF}"/>
              </a:ext>
            </a:extLst>
          </p:cNvPr>
          <p:cNvSpPr>
            <a:spLocks noGrp="1"/>
          </p:cNvSpPr>
          <p:nvPr/>
        </p:nvSpPr>
        <p:spPr>
          <a:xfrm>
            <a:off x="4629150" y="260985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https://tianchi.aliyun.com/dataset/201537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FFD602-132A-4FB4-9337-09A43ACF5CB4}"/>
              </a:ext>
            </a:extLst>
          </p:cNvPr>
          <p:cNvSpPr>
            <a:spLocks noGrp="1"/>
          </p:cNvSpPr>
          <p:nvPr/>
        </p:nvSpPr>
        <p:spPr>
          <a:xfrm>
            <a:off x="4629150" y="3038475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详情：https://universe.roboflow.com/mywork-lkwz4/student-behaviour-detection-neazg/dataset/6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3CDCE07-9EB4-42D3-BE08-E44B769154EE}"/>
              </a:ext>
            </a:extLst>
          </p:cNvPr>
          <p:cNvSpPr>
            <a:spLocks noGrp="1"/>
          </p:cNvSpPr>
          <p:nvPr/>
        </p:nvSpPr>
        <p:spPr>
          <a:xfrm>
            <a:off x="8039100" y="1981200"/>
            <a:ext cx="3429000" cy="1581150"/>
          </a:xfrm>
          <a:prstGeom prst="roundRect">
            <a:avLst>
              <a:gd name="adj" fmla="val 9639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900D32D-7D47-4902-8728-FA516F46E1A7}"/>
              </a:ext>
            </a:extLst>
          </p:cNvPr>
          <p:cNvSpPr>
            <a:spLocks noGrp="1"/>
          </p:cNvSpPr>
          <p:nvPr/>
        </p:nvSpPr>
        <p:spPr>
          <a:xfrm>
            <a:off x="8039100" y="1981200"/>
            <a:ext cx="95250" cy="1581150"/>
          </a:xfrm>
          <a:prstGeom prst="rect">
            <a:avLst/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2C63CC-C3E2-4C4E-A297-C3ED2475B4D1}"/>
              </a:ext>
            </a:extLst>
          </p:cNvPr>
          <p:cNvSpPr>
            <a:spLocks noGrp="1"/>
          </p:cNvSpPr>
          <p:nvPr/>
        </p:nvSpPr>
        <p:spPr>
          <a:xfrm>
            <a:off x="8305800" y="21526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215CFCE-6B0F-4F56-B816-DD440F3250B5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 GitHub 来源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61D3EF-8775-456B-A3A2-21F44ECE6FD8}"/>
              </a:ext>
            </a:extLst>
          </p:cNvPr>
          <p:cNvSpPr>
            <a:spLocks noGrp="1"/>
          </p:cNvSpPr>
          <p:nvPr/>
        </p:nvSpPr>
        <p:spPr>
          <a:xfrm>
            <a:off x="8305800" y="260985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https://github.com/Whiffe/SCB-dataset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34DB87F-504A-4DC5-83E7-6134766B1BAB}"/>
              </a:ext>
            </a:extLst>
          </p:cNvPr>
          <p:cNvSpPr>
            <a:spLocks noGrp="1"/>
          </p:cNvSpPr>
          <p:nvPr/>
        </p:nvSpPr>
        <p:spPr>
          <a:xfrm>
            <a:off x="8305800" y="3038475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补充：https://github.com/master-weixiao/Smart-Classroom-Student-Behavior-Dataset</a:t>
            </a:r>
          </a:p>
          <a:p>
            <a: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论文：https://arxiv.org/abs/2310.02522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32297A-245C-44D8-8E04-60A990490EB1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00050" cy="2286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8F29D9F-C09D-46BD-9EBD-F5C2AC227933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#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F7B1C2-0D24-4AFD-9B87-25017E346C53}"/>
              </a:ext>
            </a:extLst>
          </p:cNvPr>
          <p:cNvSpPr>
            <a:spLocks noGrp="1"/>
          </p:cNvSpPr>
          <p:nvPr/>
        </p:nvSpPr>
        <p:spPr>
          <a:xfrm>
            <a:off x="1085850" y="3905250"/>
            <a:ext cx="2381250" cy="2286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87E758-D7B8-4A5A-BC45-0A3643E1D64D}"/>
              </a:ext>
            </a:extLst>
          </p:cNvPr>
          <p:cNvSpPr>
            <a:spLocks noGrp="1"/>
          </p:cNvSpPr>
          <p:nvPr/>
        </p:nvSpPr>
        <p:spPr>
          <a:xfrm>
            <a:off x="1143000" y="3962400"/>
            <a:ext cx="2266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数据包 / 文件组织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868A8B-D960-4D2A-9E54-35D1A96A98F5}"/>
              </a:ext>
            </a:extLst>
          </p:cNvPr>
          <p:cNvSpPr>
            <a:spLocks noGrp="1"/>
          </p:cNvSpPr>
          <p:nvPr/>
        </p:nvSpPr>
        <p:spPr>
          <a:xfrm>
            <a:off x="3467100" y="3905250"/>
            <a:ext cx="666750" cy="2286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99E91AD-3291-4459-85C4-3D86EA131B33}"/>
              </a:ext>
            </a:extLst>
          </p:cNvPr>
          <p:cNvSpPr>
            <a:spLocks noGrp="1"/>
          </p:cNvSpPr>
          <p:nvPr/>
        </p:nvSpPr>
        <p:spPr>
          <a:xfrm>
            <a:off x="3524250" y="39624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4CF6A7D-ABDD-4CEB-81BA-7478481EDD43}"/>
              </a:ext>
            </a:extLst>
          </p:cNvPr>
          <p:cNvSpPr>
            <a:spLocks noGrp="1"/>
          </p:cNvSpPr>
          <p:nvPr/>
        </p:nvSpPr>
        <p:spPr>
          <a:xfrm>
            <a:off x="4133850" y="3905250"/>
            <a:ext cx="7372350" cy="2286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E49FC1F-F60B-4291-AC9F-1FE29F7666C9}"/>
              </a:ext>
            </a:extLst>
          </p:cNvPr>
          <p:cNvSpPr>
            <a:spLocks noGrp="1"/>
          </p:cNvSpPr>
          <p:nvPr/>
        </p:nvSpPr>
        <p:spPr>
          <a:xfrm>
            <a:off x="4191000" y="3962400"/>
            <a:ext cx="7258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Excel 中的具体对应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6C18F60-0798-4483-8B3D-23B7927CE25B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000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998449-31A7-42DF-8B81-67F9CFA10AB2}"/>
              </a:ext>
            </a:extLst>
          </p:cNvPr>
          <p:cNvSpPr>
            <a:spLocks noGrp="1"/>
          </p:cNvSpPr>
          <p:nvPr/>
        </p:nvSpPr>
        <p:spPr>
          <a:xfrm>
            <a:off x="742950" y="41814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2D60039-F74B-45D8-8EF0-919D3168ADD5}"/>
              </a:ext>
            </a:extLst>
          </p:cNvPr>
          <p:cNvSpPr>
            <a:spLocks noGrp="1"/>
          </p:cNvSpPr>
          <p:nvPr/>
        </p:nvSpPr>
        <p:spPr>
          <a:xfrm>
            <a:off x="1085850" y="4133850"/>
            <a:ext cx="23812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D0838AB-ACB9-4A40-85BE-20EAF848CA03}"/>
              </a:ext>
            </a:extLst>
          </p:cNvPr>
          <p:cNvSpPr>
            <a:spLocks noGrp="1"/>
          </p:cNvSpPr>
          <p:nvPr/>
        </p:nvSpPr>
        <p:spPr>
          <a:xfrm>
            <a:off x="1143000" y="41814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DAiSEE：面部微表情.zip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9561F38-ABED-473B-B10C-C1C9AC647EEC}"/>
              </a:ext>
            </a:extLst>
          </p:cNvPr>
          <p:cNvSpPr>
            <a:spLocks noGrp="1"/>
          </p:cNvSpPr>
          <p:nvPr/>
        </p:nvSpPr>
        <p:spPr>
          <a:xfrm>
            <a:off x="3467100" y="4133850"/>
            <a:ext cx="6667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A26984-D822-4B1B-8B85-CE2D5FA9F4E4}"/>
              </a:ext>
            </a:extLst>
          </p:cNvPr>
          <p:cNvSpPr>
            <a:spLocks noGrp="1"/>
          </p:cNvSpPr>
          <p:nvPr/>
        </p:nvSpPr>
        <p:spPr>
          <a:xfrm>
            <a:off x="3524250" y="41814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68950CE-B0C5-411D-919B-DF37A68EE2E5}"/>
              </a:ext>
            </a:extLst>
          </p:cNvPr>
          <p:cNvSpPr>
            <a:spLocks noGrp="1"/>
          </p:cNvSpPr>
          <p:nvPr/>
        </p:nvSpPr>
        <p:spPr>
          <a:xfrm>
            <a:off x="4133850" y="4133850"/>
            <a:ext cx="73723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38781C8-1549-4537-A8E8-BE7DD233C792}"/>
              </a:ext>
            </a:extLst>
          </p:cNvPr>
          <p:cNvSpPr>
            <a:spLocks noGrp="1"/>
          </p:cNvSpPr>
          <p:nvPr/>
        </p:nvSpPr>
        <p:spPr>
          <a:xfrm>
            <a:off x="4191000" y="41814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 官方下载页；Excel：DAiSEE_微表情；paper_url 为 arXiv 1609.01885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A043598-89A6-44BA-88C7-10B2B9F90A96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4000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5FBEDF1-A1E5-4E7D-8354-4E3691F0516D}"/>
              </a:ext>
            </a:extLst>
          </p:cNvPr>
          <p:cNvSpPr>
            <a:spLocks noGrp="1"/>
          </p:cNvSpPr>
          <p:nvPr/>
        </p:nvSpPr>
        <p:spPr>
          <a:xfrm>
            <a:off x="742950" y="44100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332F45E-4630-4D84-956C-D2A0E7D49AE7}"/>
              </a:ext>
            </a:extLst>
          </p:cNvPr>
          <p:cNvSpPr>
            <a:spLocks noGrp="1"/>
          </p:cNvSpPr>
          <p:nvPr/>
        </p:nvSpPr>
        <p:spPr>
          <a:xfrm>
            <a:off x="1085850" y="4362450"/>
            <a:ext cx="23812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0E18F0-5119-4C47-BCB9-4DBC6122D8BD}"/>
              </a:ext>
            </a:extLst>
          </p:cNvPr>
          <p:cNvSpPr>
            <a:spLocks noGrp="1"/>
          </p:cNvSpPr>
          <p:nvPr/>
        </p:nvSpPr>
        <p:spPr>
          <a:xfrm>
            <a:off x="1143000" y="44100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Tianchi：Student Behaviour Detection.v6i.yolov8.zip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8217F3B-7ED4-4BB1-88E5-1777D92B5EA9}"/>
              </a:ext>
            </a:extLst>
          </p:cNvPr>
          <p:cNvSpPr>
            <a:spLocks noGrp="1"/>
          </p:cNvSpPr>
          <p:nvPr/>
        </p:nvSpPr>
        <p:spPr>
          <a:xfrm>
            <a:off x="3467100" y="4362450"/>
            <a:ext cx="6667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176D185-6769-4204-89DA-596F6285D152}"/>
              </a:ext>
            </a:extLst>
          </p:cNvPr>
          <p:cNvSpPr>
            <a:spLocks noGrp="1"/>
          </p:cNvSpPr>
          <p:nvPr/>
        </p:nvSpPr>
        <p:spPr>
          <a:xfrm>
            <a:off x="3524250" y="44100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F4D3A05-8DE9-4D47-BAE5-412DCA122760}"/>
              </a:ext>
            </a:extLst>
          </p:cNvPr>
          <p:cNvSpPr>
            <a:spLocks noGrp="1"/>
          </p:cNvSpPr>
          <p:nvPr/>
        </p:nvSpPr>
        <p:spPr>
          <a:xfrm>
            <a:off x="4133850" y="4362450"/>
            <a:ext cx="73723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345C976-75F4-4955-92CD-CD71FAAE55AB}"/>
              </a:ext>
            </a:extLst>
          </p:cNvPr>
          <p:cNvSpPr>
            <a:spLocks noGrp="1"/>
          </p:cNvSpPr>
          <p:nvPr/>
        </p:nvSpPr>
        <p:spPr>
          <a:xfrm>
            <a:off x="4191000" y="44100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Tianchi 官方页 + Roboflow 详情页；Excel：Tianchi_课堂行为；未提供对应论文链接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4D442E0-7800-4DC3-BD9B-34F2E8F9D398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4000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B238528-E80C-4EE4-B3DF-7EC8C2BCE541}"/>
              </a:ext>
            </a:extLst>
          </p:cNvPr>
          <p:cNvSpPr>
            <a:spLocks noGrp="1"/>
          </p:cNvSpPr>
          <p:nvPr/>
        </p:nvSpPr>
        <p:spPr>
          <a:xfrm>
            <a:off x="742950" y="46386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B966331-AB28-4E57-B84B-D7D76E9726B3}"/>
              </a:ext>
            </a:extLst>
          </p:cNvPr>
          <p:cNvSpPr>
            <a:spLocks noGrp="1"/>
          </p:cNvSpPr>
          <p:nvPr/>
        </p:nvSpPr>
        <p:spPr>
          <a:xfrm>
            <a:off x="1085850" y="4591050"/>
            <a:ext cx="23812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A5B9EDE-D1C5-4816-B542-939220350F73}"/>
              </a:ext>
            </a:extLst>
          </p:cNvPr>
          <p:cNvSpPr>
            <a:spLocks noGrp="1"/>
          </p:cNvSpPr>
          <p:nvPr/>
        </p:nvSpPr>
        <p:spPr>
          <a:xfrm>
            <a:off x="1143000" y="46386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SCB：dataset 学生课堂行为 8884 YOLO xml nc8.zip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16EAD48-C28E-4EC8-A199-8A5D650C20FB}"/>
              </a:ext>
            </a:extLst>
          </p:cNvPr>
          <p:cNvSpPr>
            <a:spLocks noGrp="1"/>
          </p:cNvSpPr>
          <p:nvPr/>
        </p:nvSpPr>
        <p:spPr>
          <a:xfrm>
            <a:off x="3467100" y="4591050"/>
            <a:ext cx="6667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7169A55-446D-46C3-BFE0-536C45D95400}"/>
              </a:ext>
            </a:extLst>
          </p:cNvPr>
          <p:cNvSpPr>
            <a:spLocks noGrp="1"/>
          </p:cNvSpPr>
          <p:nvPr/>
        </p:nvSpPr>
        <p:spPr>
          <a:xfrm>
            <a:off x="3524250" y="46386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0CC30CD-D49A-4471-95BB-A8E665285EBD}"/>
              </a:ext>
            </a:extLst>
          </p:cNvPr>
          <p:cNvSpPr>
            <a:spLocks noGrp="1"/>
          </p:cNvSpPr>
          <p:nvPr/>
        </p:nvSpPr>
        <p:spPr>
          <a:xfrm>
            <a:off x="4133850" y="4591050"/>
            <a:ext cx="73723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16FF44-D2D6-46ED-8F06-AAD2F3C471F9}"/>
              </a:ext>
            </a:extLst>
          </p:cNvPr>
          <p:cNvSpPr>
            <a:spLocks noGrp="1"/>
          </p:cNvSpPr>
          <p:nvPr/>
        </p:nvSpPr>
        <p:spPr>
          <a:xfrm>
            <a:off x="4191000" y="46386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SCB-Dataset GitHub；图像 800×450，JPG/XML；Excel：SCB_GitHub_课堂行为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986E9D7-9475-4156-9AC2-59F3D54657D5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4000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BA140FE-A879-4268-BD7B-A9160B19B115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F0EAA43-4AE2-4F9B-B59F-1C5EAA45F5AB}"/>
              </a:ext>
            </a:extLst>
          </p:cNvPr>
          <p:cNvSpPr>
            <a:spLocks noGrp="1"/>
          </p:cNvSpPr>
          <p:nvPr/>
        </p:nvSpPr>
        <p:spPr>
          <a:xfrm>
            <a:off x="1085850" y="4819650"/>
            <a:ext cx="23812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B45353E-C84C-4E4E-A139-CA5BA7D13F22}"/>
              </a:ext>
            </a:extLst>
          </p:cNvPr>
          <p:cNvSpPr>
            <a:spLocks noGrp="1"/>
          </p:cNvSpPr>
          <p:nvPr/>
        </p:nvSpPr>
        <p:spPr>
          <a:xfrm>
            <a:off x="1143000" y="48672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SCB：VOCdevkit.zip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51B1C6D-FBE1-40B4-9D2D-70CC1A71F2BF}"/>
              </a:ext>
            </a:extLst>
          </p:cNvPr>
          <p:cNvSpPr>
            <a:spLocks noGrp="1"/>
          </p:cNvSpPr>
          <p:nvPr/>
        </p:nvSpPr>
        <p:spPr>
          <a:xfrm>
            <a:off x="3467100" y="4819650"/>
            <a:ext cx="6667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08365AF-F44C-409B-BF40-95742D5D230B}"/>
              </a:ext>
            </a:extLst>
          </p:cNvPr>
          <p:cNvSpPr>
            <a:spLocks noGrp="1"/>
          </p:cNvSpPr>
          <p:nvPr/>
        </p:nvSpPr>
        <p:spPr>
          <a:xfrm>
            <a:off x="3524250" y="48672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073B3C5-A120-4DB4-9B0F-30C671BD044D}"/>
              </a:ext>
            </a:extLst>
          </p:cNvPr>
          <p:cNvSpPr>
            <a:spLocks noGrp="1"/>
          </p:cNvSpPr>
          <p:nvPr/>
        </p:nvSpPr>
        <p:spPr>
          <a:xfrm>
            <a:off x="4133850" y="4819650"/>
            <a:ext cx="73723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8DB71AD-CDC7-4221-B224-C4B86B5EFBB2}"/>
              </a:ext>
            </a:extLst>
          </p:cNvPr>
          <p:cNvSpPr>
            <a:spLocks noGrp="1"/>
          </p:cNvSpPr>
          <p:nvPr/>
        </p:nvSpPr>
        <p:spPr>
          <a:xfrm>
            <a:off x="4191000" y="48672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 SCB GitHub 来源的 VOC 转换集；train/val + XML；Excel：SCB_GitHub_课堂行为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9B8D13D-3038-44D8-86D0-F6C63EB9ADCF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4000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3AAAACD-30D9-4119-9D76-3E8B5E20A060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962C558-92C9-4CE2-8362-B002322DD175}"/>
              </a:ext>
            </a:extLst>
          </p:cNvPr>
          <p:cNvSpPr>
            <a:spLocks noGrp="1"/>
          </p:cNvSpPr>
          <p:nvPr/>
        </p:nvSpPr>
        <p:spPr>
          <a:xfrm>
            <a:off x="1085850" y="5048250"/>
            <a:ext cx="23812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CAA7DD7-F0E4-41CA-AF1A-CCCCF751FBF9}"/>
              </a:ext>
            </a:extLst>
          </p:cNvPr>
          <p:cNvSpPr>
            <a:spLocks noGrp="1"/>
          </p:cNvSpPr>
          <p:nvPr/>
        </p:nvSpPr>
        <p:spPr>
          <a:xfrm>
            <a:off x="1143000" y="50958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SCB：正面视角.zip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89A0AFB-3C70-4781-A954-3757C35A2E0A}"/>
              </a:ext>
            </a:extLst>
          </p:cNvPr>
          <p:cNvSpPr>
            <a:spLocks noGrp="1"/>
          </p:cNvSpPr>
          <p:nvPr/>
        </p:nvSpPr>
        <p:spPr>
          <a:xfrm>
            <a:off x="3467100" y="5048250"/>
            <a:ext cx="6667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77A8F05-C584-42DE-8FF1-D7EB7FEF93DC}"/>
              </a:ext>
            </a:extLst>
          </p:cNvPr>
          <p:cNvSpPr>
            <a:spLocks noGrp="1"/>
          </p:cNvSpPr>
          <p:nvPr/>
        </p:nvSpPr>
        <p:spPr>
          <a:xfrm>
            <a:off x="3524250" y="50958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4215B28-A047-485D-9066-54E3B8D8BCE0}"/>
              </a:ext>
            </a:extLst>
          </p:cNvPr>
          <p:cNvSpPr>
            <a:spLocks noGrp="1"/>
          </p:cNvSpPr>
          <p:nvPr/>
        </p:nvSpPr>
        <p:spPr>
          <a:xfrm>
            <a:off x="4133850" y="5048250"/>
            <a:ext cx="73723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81449EC-3721-4768-83C0-EE2866E0DDE1}"/>
              </a:ext>
            </a:extLst>
          </p:cNvPr>
          <p:cNvSpPr>
            <a:spLocks noGrp="1"/>
          </p:cNvSpPr>
          <p:nvPr/>
        </p:nvSpPr>
        <p:spPr>
          <a:xfrm>
            <a:off x="4191000" y="50958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 SCB GitHub 来源；正面机位视频目录；Excel：SCB_GitHub_课堂行为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8854EA3-BAFA-4BD8-B37A-7359DAE555D1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4000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EDD52D9-6CFB-44A5-A1A4-CE061636740F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32362B4-EF32-4C48-825B-230139603358}"/>
              </a:ext>
            </a:extLst>
          </p:cNvPr>
          <p:cNvSpPr>
            <a:spLocks noGrp="1"/>
          </p:cNvSpPr>
          <p:nvPr/>
        </p:nvSpPr>
        <p:spPr>
          <a:xfrm>
            <a:off x="1085850" y="5276850"/>
            <a:ext cx="23812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5F71D0D-C1B8-40CB-93B2-03B9AB3A1369}"/>
              </a:ext>
            </a:extLst>
          </p:cNvPr>
          <p:cNvSpPr>
            <a:spLocks noGrp="1"/>
          </p:cNvSpPr>
          <p:nvPr/>
        </p:nvSpPr>
        <p:spPr>
          <a:xfrm>
            <a:off x="1143000" y="53244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SCB：教师视角.zip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0592774-44CE-4D6D-A1B5-386C65D7B23B}"/>
              </a:ext>
            </a:extLst>
          </p:cNvPr>
          <p:cNvSpPr>
            <a:spLocks noGrp="1"/>
          </p:cNvSpPr>
          <p:nvPr/>
        </p:nvSpPr>
        <p:spPr>
          <a:xfrm>
            <a:off x="3467100" y="5276850"/>
            <a:ext cx="6667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27138BE-F79C-440A-8F43-56A51041390B}"/>
              </a:ext>
            </a:extLst>
          </p:cNvPr>
          <p:cNvSpPr>
            <a:spLocks noGrp="1"/>
          </p:cNvSpPr>
          <p:nvPr/>
        </p:nvSpPr>
        <p:spPr>
          <a:xfrm>
            <a:off x="3524250" y="53244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D3B2A2F-E5AB-4E9D-950E-873C77CBE843}"/>
              </a:ext>
            </a:extLst>
          </p:cNvPr>
          <p:cNvSpPr>
            <a:spLocks noGrp="1"/>
          </p:cNvSpPr>
          <p:nvPr/>
        </p:nvSpPr>
        <p:spPr>
          <a:xfrm>
            <a:off x="4133850" y="5276850"/>
            <a:ext cx="73723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2C64F37-1EC5-46EC-A8A0-A9B81CF32920}"/>
              </a:ext>
            </a:extLst>
          </p:cNvPr>
          <p:cNvSpPr>
            <a:spLocks noGrp="1"/>
          </p:cNvSpPr>
          <p:nvPr/>
        </p:nvSpPr>
        <p:spPr>
          <a:xfrm>
            <a:off x="4191000" y="53244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 SCB GitHub 来源；教师侧视角视频目录；Excel：SCB_GitHub_课堂行为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710B862-167A-48CF-A147-2B6E55617AB6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4000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9A135FE-6014-4607-AD9D-1F348507ED71}"/>
              </a:ext>
            </a:extLst>
          </p:cNvPr>
          <p:cNvSpPr>
            <a:spLocks noGrp="1"/>
          </p:cNvSpPr>
          <p:nvPr/>
        </p:nvSpPr>
        <p:spPr>
          <a:xfrm>
            <a:off x="742950" y="55530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46399AB-1B2C-45AF-BA3E-494515E435C9}"/>
              </a:ext>
            </a:extLst>
          </p:cNvPr>
          <p:cNvSpPr>
            <a:spLocks noGrp="1"/>
          </p:cNvSpPr>
          <p:nvPr/>
        </p:nvSpPr>
        <p:spPr>
          <a:xfrm>
            <a:off x="1085850" y="5505450"/>
            <a:ext cx="23812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A34C3FB-6680-41AF-ADAC-B1BDD0745BB1}"/>
              </a:ext>
            </a:extLst>
          </p:cNvPr>
          <p:cNvSpPr>
            <a:spLocks noGrp="1"/>
          </p:cNvSpPr>
          <p:nvPr/>
        </p:nvSpPr>
        <p:spPr>
          <a:xfrm>
            <a:off x="1143000" y="55530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SCB：斜上方视角1.zip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E98F40F-54F6-4A55-A068-ABBFC3D089F5}"/>
              </a:ext>
            </a:extLst>
          </p:cNvPr>
          <p:cNvSpPr>
            <a:spLocks noGrp="1"/>
          </p:cNvSpPr>
          <p:nvPr/>
        </p:nvSpPr>
        <p:spPr>
          <a:xfrm>
            <a:off x="3467100" y="5505450"/>
            <a:ext cx="6667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B903F3C-F8A4-49CF-A467-1AF9430B852C}"/>
              </a:ext>
            </a:extLst>
          </p:cNvPr>
          <p:cNvSpPr>
            <a:spLocks noGrp="1"/>
          </p:cNvSpPr>
          <p:nvPr/>
        </p:nvSpPr>
        <p:spPr>
          <a:xfrm>
            <a:off x="3524250" y="55530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217973A0-BF07-47A5-A242-F82F6FFB724C}"/>
              </a:ext>
            </a:extLst>
          </p:cNvPr>
          <p:cNvSpPr>
            <a:spLocks noGrp="1"/>
          </p:cNvSpPr>
          <p:nvPr/>
        </p:nvSpPr>
        <p:spPr>
          <a:xfrm>
            <a:off x="4133850" y="5505450"/>
            <a:ext cx="73723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5BA05FC6-FC93-4B4A-A6CB-754791DD8C65}"/>
              </a:ext>
            </a:extLst>
          </p:cNvPr>
          <p:cNvSpPr>
            <a:spLocks noGrp="1"/>
          </p:cNvSpPr>
          <p:nvPr/>
        </p:nvSpPr>
        <p:spPr>
          <a:xfrm>
            <a:off x="4191000" y="55530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 SCB GitHub 来源；斜上方视角 1 视频目录；Excel：SCB_GitHub_课堂行为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964A9F3F-C3CB-4D0C-8F01-D731F846D2E2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4000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10E278B-B8A6-4676-BD58-844501DF5432}"/>
              </a:ext>
            </a:extLst>
          </p:cNvPr>
          <p:cNvSpPr>
            <a:spLocks noGrp="1"/>
          </p:cNvSpPr>
          <p:nvPr/>
        </p:nvSpPr>
        <p:spPr>
          <a:xfrm>
            <a:off x="742950" y="57816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483F7B1-AC4C-4C3A-ADF4-D62789AD2B31}"/>
              </a:ext>
            </a:extLst>
          </p:cNvPr>
          <p:cNvSpPr>
            <a:spLocks noGrp="1"/>
          </p:cNvSpPr>
          <p:nvPr/>
        </p:nvSpPr>
        <p:spPr>
          <a:xfrm>
            <a:off x="1085850" y="5734050"/>
            <a:ext cx="23812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EA24D0EC-9422-4A47-AE87-A5D17D551448}"/>
              </a:ext>
            </a:extLst>
          </p:cNvPr>
          <p:cNvSpPr>
            <a:spLocks noGrp="1"/>
          </p:cNvSpPr>
          <p:nvPr/>
        </p:nvSpPr>
        <p:spPr>
          <a:xfrm>
            <a:off x="1143000" y="57816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SCB：斜上方视角2.zip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F3A8B6AD-FB5C-42CD-B8A6-D9A03F57F641}"/>
              </a:ext>
            </a:extLst>
          </p:cNvPr>
          <p:cNvSpPr>
            <a:spLocks noGrp="1"/>
          </p:cNvSpPr>
          <p:nvPr/>
        </p:nvSpPr>
        <p:spPr>
          <a:xfrm>
            <a:off x="3467100" y="5734050"/>
            <a:ext cx="6667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849209F-BC5A-4365-8BF2-E1185A3A83AD}"/>
              </a:ext>
            </a:extLst>
          </p:cNvPr>
          <p:cNvSpPr>
            <a:spLocks noGrp="1"/>
          </p:cNvSpPr>
          <p:nvPr/>
        </p:nvSpPr>
        <p:spPr>
          <a:xfrm>
            <a:off x="3524250" y="57816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4AC847A-5695-4340-A83C-ACED567F7022}"/>
              </a:ext>
            </a:extLst>
          </p:cNvPr>
          <p:cNvSpPr>
            <a:spLocks noGrp="1"/>
          </p:cNvSpPr>
          <p:nvPr/>
        </p:nvSpPr>
        <p:spPr>
          <a:xfrm>
            <a:off x="4133850" y="5734050"/>
            <a:ext cx="73723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C1DFCD21-1D66-45CE-B425-063B67A6CCB0}"/>
              </a:ext>
            </a:extLst>
          </p:cNvPr>
          <p:cNvSpPr>
            <a:spLocks noGrp="1"/>
          </p:cNvSpPr>
          <p:nvPr/>
        </p:nvSpPr>
        <p:spPr>
          <a:xfrm>
            <a:off x="4191000" y="57816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 SCB GitHub 来源；斜上方视角 2 视频目录；Excel：SCB_GitHub_课堂行为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19C76C2-34E5-43EE-9AB0-6E4B39E486DC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4000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82B4B0E-3F46-475B-BB49-0662A231F93E}"/>
              </a:ext>
            </a:extLst>
          </p:cNvPr>
          <p:cNvSpPr>
            <a:spLocks noGrp="1"/>
          </p:cNvSpPr>
          <p:nvPr/>
        </p:nvSpPr>
        <p:spPr>
          <a:xfrm>
            <a:off x="742950" y="60102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81D35259-255F-4BDF-8C25-A9BE97E02708}"/>
              </a:ext>
            </a:extLst>
          </p:cNvPr>
          <p:cNvSpPr>
            <a:spLocks noGrp="1"/>
          </p:cNvSpPr>
          <p:nvPr/>
        </p:nvSpPr>
        <p:spPr>
          <a:xfrm>
            <a:off x="1085850" y="5962650"/>
            <a:ext cx="23812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23F0FEC-40C6-4C47-A39A-C52D2A79CE01}"/>
              </a:ext>
            </a:extLst>
          </p:cNvPr>
          <p:cNvSpPr>
            <a:spLocks noGrp="1"/>
          </p:cNvSpPr>
          <p:nvPr/>
        </p:nvSpPr>
        <p:spPr>
          <a:xfrm>
            <a:off x="1143000" y="60102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SCB：后方视角.zip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D7B54FB-D959-4AAF-A57A-18E84D818A71}"/>
              </a:ext>
            </a:extLst>
          </p:cNvPr>
          <p:cNvSpPr>
            <a:spLocks noGrp="1"/>
          </p:cNvSpPr>
          <p:nvPr/>
        </p:nvSpPr>
        <p:spPr>
          <a:xfrm>
            <a:off x="3467100" y="5962650"/>
            <a:ext cx="6667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D1FB01D-17B7-4557-AE50-DF2CD88EB4D5}"/>
              </a:ext>
            </a:extLst>
          </p:cNvPr>
          <p:cNvSpPr>
            <a:spLocks noGrp="1"/>
          </p:cNvSpPr>
          <p:nvPr/>
        </p:nvSpPr>
        <p:spPr>
          <a:xfrm>
            <a:off x="3524250" y="60102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5E1DF230-A012-46E6-AA94-6148EA4D58D6}"/>
              </a:ext>
            </a:extLst>
          </p:cNvPr>
          <p:cNvSpPr>
            <a:spLocks noGrp="1"/>
          </p:cNvSpPr>
          <p:nvPr/>
        </p:nvSpPr>
        <p:spPr>
          <a:xfrm>
            <a:off x="4133850" y="5962650"/>
            <a:ext cx="73723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6F9F2ACD-8700-477C-AA04-F9E88F86D444}"/>
              </a:ext>
            </a:extLst>
          </p:cNvPr>
          <p:cNvSpPr>
            <a:spLocks noGrp="1"/>
          </p:cNvSpPr>
          <p:nvPr/>
        </p:nvSpPr>
        <p:spPr>
          <a:xfrm>
            <a:off x="4191000" y="60102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 SCB GitHub 来源；后方视角视频目录；Excel：SCB_GitHub_课堂行为</a:t>
            </a: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BCADF1B5-B333-4B7E-A679-6951D6BA547D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190500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55DFC113-25DE-4FC9-864D-D488F1612223}"/>
              </a:ext>
            </a:extLst>
          </p:cNvPr>
          <p:cNvSpPr>
            <a:spLocks noGrp="1"/>
          </p:cNvSpPr>
          <p:nvPr/>
        </p:nvSpPr>
        <p:spPr>
          <a:xfrm>
            <a:off x="857250" y="6219825"/>
            <a:ext cx="1047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来源 URL 和论文 URL 以 Excel 中的字段为准；同源的 SCB 图像、VOC 和五个视角视频分别列出，但不重复计算为新的公开来源。</a:t>
            </a:r>
          </a:p>
        </p:txBody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60C8DD2D-01F6-4810-A85A-07B0B9A1AA6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5109D1AC-AF86-43E2-94F5-D0570C86ED87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来源映射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3325F728-BD5C-4EC0-B94F-C1561268AD27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786647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74DD94EE-6316-4ED1-A332-839334C8DB2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数据资源整理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5689C2-A48D-4638-B68E-1EE2A48B0115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A2FEDC-DEE5-403C-A963-E5406622961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Excel 索引表：把数据整理成可追溯清单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1B5407A-69BE-4220-8865-CB2EADE6761F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A05CD3C-6CC0-455D-95D4-03AFC60DD5FE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4191000" cy="3524250"/>
          </a:xfrm>
          <a:prstGeom prst="roundRect">
            <a:avLst>
              <a:gd name="adj" fmla="val 4324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890E33-9D6B-4C4D-9DDF-8FFA0934AE1D}"/>
              </a:ext>
            </a:extLst>
          </p:cNvPr>
          <p:cNvSpPr>
            <a:spLocks noGrp="1"/>
          </p:cNvSpPr>
          <p:nvPr/>
        </p:nvSpPr>
        <p:spPr>
          <a:xfrm>
            <a:off x="952500" y="19240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工作簿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638D02-E04B-4E57-AB60-C9DC37F366C0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352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学生行为数据集1_跨设备媒体索引_实际路径修正版.xlsx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47743D-098B-4B60-8B9C-C32AB72DC980}"/>
              </a:ext>
            </a:extLst>
          </p:cNvPr>
          <p:cNvSpPr>
            <a:spLocks noGrp="1"/>
          </p:cNvSpPr>
          <p:nvPr/>
        </p:nvSpPr>
        <p:spPr>
          <a:xfrm>
            <a:off x="952500" y="30289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根目录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7BA9F1-C570-47EC-BC3E-C752253C7D6A}"/>
              </a:ext>
            </a:extLst>
          </p:cNvPr>
          <p:cNvSpPr>
            <a:spLocks noGrp="1"/>
          </p:cNvSpPr>
          <p:nvPr/>
        </p:nvSpPr>
        <p:spPr>
          <a:xfrm>
            <a:off x="952500" y="3314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D:\数据处理1\学生行为数据集1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0D9794-1F9E-4C8A-8BF7-D1DA907400CB}"/>
              </a:ext>
            </a:extLst>
          </p:cNvPr>
          <p:cNvSpPr>
            <a:spLocks noGrp="1"/>
          </p:cNvSpPr>
          <p:nvPr/>
        </p:nvSpPr>
        <p:spPr>
          <a:xfrm>
            <a:off x="952500" y="38481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工作表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3961C4-EB28-4BD7-9B14-0FBEE4586BC0}"/>
              </a:ext>
            </a:extLst>
          </p:cNvPr>
          <p:cNvSpPr>
            <a:spLocks noGrp="1"/>
          </p:cNvSpPr>
          <p:nvPr/>
        </p:nvSpPr>
        <p:spPr>
          <a:xfrm>
            <a:off x="952500" y="4133850"/>
            <a:ext cx="3429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00_索引说明</a:t>
            </a:r>
          </a:p>
          <a:p>
            <a: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DAiSEE_微表情</a:t>
            </a:r>
          </a:p>
          <a:p>
            <a: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Tianchi_课堂行为</a:t>
            </a:r>
          </a:p>
          <a:p>
            <a: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SCB_GitHub_课堂行为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629C328-4339-4CE6-BAB7-E9E9DB959FAC}"/>
              </a:ext>
            </a:extLst>
          </p:cNvPr>
          <p:cNvSpPr>
            <a:spLocks noGrp="1"/>
          </p:cNvSpPr>
          <p:nvPr/>
        </p:nvSpPr>
        <p:spPr>
          <a:xfrm>
            <a:off x="5334000" y="1657350"/>
            <a:ext cx="6172200" cy="3524250"/>
          </a:xfrm>
          <a:prstGeom prst="roundRect">
            <a:avLst>
              <a:gd name="adj" fmla="val 4324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BB6A0B-2FC8-40F3-858D-FD100D61C3F5}"/>
              </a:ext>
            </a:extLst>
          </p:cNvPr>
          <p:cNvSpPr>
            <a:spLocks noGrp="1"/>
          </p:cNvSpPr>
          <p:nvPr/>
        </p:nvSpPr>
        <p:spPr>
          <a:xfrm>
            <a:off x="5600700" y="19240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字段分组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1A5E702-8D51-42F5-A7B3-42552977D9B0}"/>
              </a:ext>
            </a:extLst>
          </p:cNvPr>
          <p:cNvSpPr>
            <a:spLocks noGrp="1"/>
          </p:cNvSpPr>
          <p:nvPr/>
        </p:nvSpPr>
        <p:spPr>
          <a:xfrm>
            <a:off x="5600700" y="2324100"/>
            <a:ext cx="5619750" cy="419100"/>
          </a:xfrm>
          <a:prstGeom prst="roundRect">
            <a:avLst>
              <a:gd name="adj" fmla="val 27273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A59EAF-9066-417C-8DD1-4DDCE4898D6F}"/>
              </a:ext>
            </a:extLst>
          </p:cNvPr>
          <p:cNvSpPr>
            <a:spLocks noGrp="1"/>
          </p:cNvSpPr>
          <p:nvPr/>
        </p:nvSpPr>
        <p:spPr>
          <a:xfrm>
            <a:off x="5753100" y="24384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来源追溯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09AD7E-4C8C-4379-9D4B-2600C965F9D4}"/>
              </a:ext>
            </a:extLst>
          </p:cNvPr>
          <p:cNvSpPr>
            <a:spLocks noGrp="1"/>
          </p:cNvSpPr>
          <p:nvPr/>
        </p:nvSpPr>
        <p:spPr>
          <a:xfrm>
            <a:off x="7124700" y="2419350"/>
            <a:ext cx="3943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dataset_name · source_url · source_detail_url · paper_url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37FE0A1-7A5D-4E41-A78F-A9AB58A96850}"/>
              </a:ext>
            </a:extLst>
          </p:cNvPr>
          <p:cNvSpPr>
            <a:spLocks noGrp="1"/>
          </p:cNvSpPr>
          <p:nvPr/>
        </p:nvSpPr>
        <p:spPr>
          <a:xfrm>
            <a:off x="5600700" y="2857500"/>
            <a:ext cx="5619750" cy="419100"/>
          </a:xfrm>
          <a:prstGeom prst="roundRect">
            <a:avLst>
              <a:gd name="adj" fmla="val 27273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12E095-16BA-45F5-B21B-6D7B02AB7909}"/>
              </a:ext>
            </a:extLst>
          </p:cNvPr>
          <p:cNvSpPr>
            <a:spLocks noGrp="1"/>
          </p:cNvSpPr>
          <p:nvPr/>
        </p:nvSpPr>
        <p:spPr>
          <a:xfrm>
            <a:off x="5753100" y="29718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媒体定位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C2152E-8CD9-48C8-8B00-89B423E60C3B}"/>
              </a:ext>
            </a:extLst>
          </p:cNvPr>
          <p:cNvSpPr>
            <a:spLocks noGrp="1"/>
          </p:cNvSpPr>
          <p:nvPr/>
        </p:nvSpPr>
        <p:spPr>
          <a:xfrm>
            <a:off x="7124700" y="2952750"/>
            <a:ext cx="3943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file_name · file_extension · archive_file · archive_member_path · relative_path_after_unzip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0143446-2F13-42B3-8503-53E5293BD664}"/>
              </a:ext>
            </a:extLst>
          </p:cNvPr>
          <p:cNvSpPr>
            <a:spLocks noGrp="1"/>
          </p:cNvSpPr>
          <p:nvPr/>
        </p:nvSpPr>
        <p:spPr>
          <a:xfrm>
            <a:off x="5600700" y="3390900"/>
            <a:ext cx="5619750" cy="419100"/>
          </a:xfrm>
          <a:prstGeom prst="roundRect">
            <a:avLst>
              <a:gd name="adj" fmla="val 27273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2956B4-41A6-44A5-BA4B-8DCC1C194BEA}"/>
              </a:ext>
            </a:extLst>
          </p:cNvPr>
          <p:cNvSpPr>
            <a:spLocks noGrp="1"/>
          </p:cNvSpPr>
          <p:nvPr/>
        </p:nvSpPr>
        <p:spPr>
          <a:xfrm>
            <a:off x="5753100" y="35052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任务与标签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1D335C4-46D4-4546-9E5C-D9DB3E545972}"/>
              </a:ext>
            </a:extLst>
          </p:cNvPr>
          <p:cNvSpPr>
            <a:spLocks noGrp="1"/>
          </p:cNvSpPr>
          <p:nvPr/>
        </p:nvSpPr>
        <p:spPr>
          <a:xfrm>
            <a:off x="7124700" y="3486150"/>
            <a:ext cx="3943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task · modality · split · category · action_labels · label_detail · object_count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4AC0A75-88C0-4F52-B282-F777476C5099}"/>
              </a:ext>
            </a:extLst>
          </p:cNvPr>
          <p:cNvSpPr>
            <a:spLocks noGrp="1"/>
          </p:cNvSpPr>
          <p:nvPr/>
        </p:nvSpPr>
        <p:spPr>
          <a:xfrm>
            <a:off x="5600700" y="3924300"/>
            <a:ext cx="5619750" cy="419100"/>
          </a:xfrm>
          <a:prstGeom prst="roundRect">
            <a:avLst>
              <a:gd name="adj" fmla="val 27273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E51E0FB-B250-4FF3-9B29-F9D3970856DB}"/>
              </a:ext>
            </a:extLst>
          </p:cNvPr>
          <p:cNvSpPr>
            <a:spLocks noGrp="1"/>
          </p:cNvSpPr>
          <p:nvPr/>
        </p:nvSpPr>
        <p:spPr>
          <a:xfrm>
            <a:off x="5753100" y="40386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视觉条件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5D1F0A-DEC8-4B84-91CC-9254C9AE319C}"/>
              </a:ext>
            </a:extLst>
          </p:cNvPr>
          <p:cNvSpPr>
            <a:spLocks noGrp="1"/>
          </p:cNvSpPr>
          <p:nvPr/>
        </p:nvSpPr>
        <p:spPr>
          <a:xfrm>
            <a:off x="7124700" y="4019550"/>
            <a:ext cx="3943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sample_count_in_dataset · resolution · fps · duration_or_frames · scaled_or_resized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37D882F-C165-4ABA-90BC-F65B44CB818D}"/>
              </a:ext>
            </a:extLst>
          </p:cNvPr>
          <p:cNvSpPr>
            <a:spLocks noGrp="1"/>
          </p:cNvSpPr>
          <p:nvPr/>
        </p:nvSpPr>
        <p:spPr>
          <a:xfrm>
            <a:off x="5600700" y="4457700"/>
            <a:ext cx="5619750" cy="419100"/>
          </a:xfrm>
          <a:prstGeom prst="roundRect">
            <a:avLst>
              <a:gd name="adj" fmla="val 27273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1E1034D-97D1-488B-B373-D2CB2D04FC31}"/>
              </a:ext>
            </a:extLst>
          </p:cNvPr>
          <p:cNvSpPr>
            <a:spLocks noGrp="1"/>
          </p:cNvSpPr>
          <p:nvPr/>
        </p:nvSpPr>
        <p:spPr>
          <a:xfrm>
            <a:off x="5753100" y="4572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管理与复现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29B42F2-E2F0-48AC-BCEE-3795BDEE076A}"/>
              </a:ext>
            </a:extLst>
          </p:cNvPr>
          <p:cNvSpPr>
            <a:spLocks noGrp="1"/>
          </p:cNvSpPr>
          <p:nvPr/>
        </p:nvSpPr>
        <p:spPr>
          <a:xfrm>
            <a:off x="7124700" y="4552950"/>
            <a:ext cx="3943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license · download_status · responsible · notes · media_link · archive_link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A52B522-4565-4B76-89C8-FD7506750EDD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820400" cy="628650"/>
          </a:xfrm>
          <a:prstGeom prst="roundRect">
            <a:avLst>
              <a:gd name="adj" fmla="val 18182"/>
            </a:avLst>
          </a:prstGeom>
          <a:solidFill>
            <a:srgbClr val="173C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2B1B75-E04B-4B87-A06E-123F1FF66624}"/>
              </a:ext>
            </a:extLst>
          </p:cNvPr>
          <p:cNvSpPr>
            <a:spLocks noGrp="1"/>
          </p:cNvSpPr>
          <p:nvPr/>
        </p:nvSpPr>
        <p:spPr>
          <a:xfrm>
            <a:off x="895350" y="5638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跨设备路径逻辑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A5E7314-806B-4743-9807-A0FF70CEAE91}"/>
              </a:ext>
            </a:extLst>
          </p:cNvPr>
          <p:cNvSpPr>
            <a:spLocks noGrp="1"/>
          </p:cNvSpPr>
          <p:nvPr/>
        </p:nvSpPr>
        <p:spPr>
          <a:xfrm>
            <a:off x="2647950" y="56007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Excel 记录压缩包名、压缩包内路径和解压后相对路径；换设备时先下载并解压到同名目录，再用相对路径定位图片或视频。</a:t>
            </a: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FBBACB8C-FD4C-45D7-9577-9B199930D2C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BCF8AD8-7316-4FED-BE40-66118B08F020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Excel 索引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A46AEFB-C480-43DF-A2AD-4576DAF2D2EB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973888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BB9BDE2-88B3-4908-ACA3-80CA9019D238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数据、论文与工具的可复现入口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AC10F9-9E1B-4AE9-909D-0EBDB4FA5F82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07490F-21E1-484A-8FDF-ED2DDFBCDE74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rPr>
              <a:t>资料与软件分享方式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C238BB9-E0BA-4DF3-94A0-36192B943928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0010060-36C6-4482-8F15-38B97CB1A1E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143500" cy="3714750"/>
          </a:xfrm>
          <a:prstGeom prst="roundRect">
            <a:avLst>
              <a:gd name="adj" fmla="val 4103"/>
            </a:avLst>
          </a:prstGeom>
          <a:solidFill>
            <a:srgbClr val="21433E"/>
          </a:solidFill>
          <a:ln w="9525">
            <a:solidFill>
              <a:srgbClr val="5D786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80F7249-897E-4519-B406-A929BB6F5F9D}"/>
              </a:ext>
            </a:extLst>
          </p:cNvPr>
          <p:cNvSpPr>
            <a:spLocks noGrp="1"/>
          </p:cNvSpPr>
          <p:nvPr/>
        </p:nvSpPr>
        <p:spPr>
          <a:xfrm>
            <a:off x="6362700" y="1676400"/>
            <a:ext cx="5143500" cy="3714750"/>
          </a:xfrm>
          <a:prstGeom prst="roundRect">
            <a:avLst>
              <a:gd name="adj" fmla="val 4103"/>
            </a:avLst>
          </a:prstGeom>
          <a:solidFill>
            <a:srgbClr val="21433E"/>
          </a:solidFill>
          <a:ln w="9525">
            <a:solidFill>
              <a:srgbClr val="5D786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3F73CC-D77B-4705-B1FB-2EEF9B17FDEE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数据与论文资料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609887-F212-4918-83C2-79BCD258E8D6}"/>
              </a:ext>
            </a:extLst>
          </p:cNvPr>
          <p:cNvSpPr>
            <a:spLocks noGrp="1"/>
          </p:cNvSpPr>
          <p:nvPr/>
        </p:nvSpPr>
        <p:spPr>
          <a:xfrm>
            <a:off x="952500" y="24193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百度网盘分享名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4AA11E-5887-402F-B0A5-E5B43D8EA018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数据处理1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5B9411-7D37-44B4-9C26-9934E804B385}"/>
              </a:ext>
            </a:extLst>
          </p:cNvPr>
          <p:cNvSpPr>
            <a:spLocks noGrp="1"/>
          </p:cNvSpPr>
          <p:nvPr/>
        </p:nvSpPr>
        <p:spPr>
          <a:xfrm>
            <a:off x="952500" y="31813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内容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9448B7-73C3-48B1-906E-3A811B4A8010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4095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学生行为数据集1</a:t>
            </a:r>
          </a:p>
          <a:p>
            <a: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八篇论文原件</a:t>
            </a:r>
          </a:p>
          <a:p>
            <a: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八篇论文分析文档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B42EF5-645A-4F0F-93E5-163593DE95B3}"/>
              </a:ext>
            </a:extLst>
          </p:cNvPr>
          <p:cNvSpPr>
            <a:spLocks noGrp="1"/>
          </p:cNvSpPr>
          <p:nvPr/>
        </p:nvSpPr>
        <p:spPr>
          <a:xfrm>
            <a:off x="952500" y="46291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链接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5B963A-1974-4C60-90B3-AC33B9C5E133}"/>
              </a:ext>
            </a:extLst>
          </p:cNvPr>
          <p:cNvSpPr>
            <a:spLocks noGrp="1"/>
          </p:cNvSpPr>
          <p:nvPr/>
        </p:nvSpPr>
        <p:spPr>
          <a:xfrm>
            <a:off x="952500" y="48958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https://pan.baidu.com/s/1YOpMGQYRBx7yJW5j_Xs9xQ?pwd=u7cs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945681-303D-43E8-92CB-B1568DC3CC75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提取码：u7cs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1970DB-FA3B-46CA-8EBC-A1E9B6CBAFA5}"/>
              </a:ext>
            </a:extLst>
          </p:cNvPr>
          <p:cNvSpPr>
            <a:spLocks noGrp="1"/>
          </p:cNvSpPr>
          <p:nvPr/>
        </p:nvSpPr>
        <p:spPr>
          <a:xfrm>
            <a:off x="6629400" y="1943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预处理软件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DA7A88-FC04-40A5-9691-7C2816C108C7}"/>
              </a:ext>
            </a:extLst>
          </p:cNvPr>
          <p:cNvSpPr>
            <a:spLocks noGrp="1"/>
          </p:cNvSpPr>
          <p:nvPr/>
        </p:nvSpPr>
        <p:spPr>
          <a:xfrm>
            <a:off x="6629400" y="24193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GitHub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591947-2767-496D-BF34-0E6590129250}"/>
              </a:ext>
            </a:extLst>
          </p:cNvPr>
          <p:cNvSpPr>
            <a:spLocks noGrp="1"/>
          </p:cNvSpPr>
          <p:nvPr/>
        </p:nvSpPr>
        <p:spPr>
          <a:xfrm>
            <a:off x="6629400" y="26860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xinnmyz / Classroom Visual Processing Console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620F65-5426-45B6-8CBD-A4C7DCA5DB2B}"/>
              </a:ext>
            </a:extLst>
          </p:cNvPr>
          <p:cNvSpPr>
            <a:spLocks noGrp="1"/>
          </p:cNvSpPr>
          <p:nvPr/>
        </p:nvSpPr>
        <p:spPr>
          <a:xfrm>
            <a:off x="6629400" y="2971800"/>
            <a:ext cx="447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https://github.com/xinnmyz/Classroom-Visual-Processing-Console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0AD582-3AA6-4340-A23F-C80CF220800E}"/>
              </a:ext>
            </a:extLst>
          </p:cNvPr>
          <p:cNvSpPr>
            <a:spLocks noGrp="1"/>
          </p:cNvSpPr>
          <p:nvPr/>
        </p:nvSpPr>
        <p:spPr>
          <a:xfrm>
            <a:off x="6629400" y="31813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百度网盘分享名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68B346-2470-429E-AAD9-BC0ABE3D7873}"/>
              </a:ext>
            </a:extLst>
          </p:cNvPr>
          <p:cNvSpPr>
            <a:spLocks noGrp="1"/>
          </p:cNvSpPr>
          <p:nvPr/>
        </p:nvSpPr>
        <p:spPr>
          <a:xfrm>
            <a:off x="6629400" y="344805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课堂视觉数据处理台_EXE_发行包_20261026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66F7DC0-6F38-4B38-9075-DB79F3F4E484}"/>
              </a:ext>
            </a:extLst>
          </p:cNvPr>
          <p:cNvSpPr>
            <a:spLocks noGrp="1"/>
          </p:cNvSpPr>
          <p:nvPr/>
        </p:nvSpPr>
        <p:spPr>
          <a:xfrm>
            <a:off x="6629400" y="40576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链接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AB02947-19F8-4C81-A1E4-A66771BE09B3}"/>
              </a:ext>
            </a:extLst>
          </p:cNvPr>
          <p:cNvSpPr>
            <a:spLocks noGrp="1"/>
          </p:cNvSpPr>
          <p:nvPr/>
        </p:nvSpPr>
        <p:spPr>
          <a:xfrm>
            <a:off x="6629400" y="432435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https://pan.baidu.com/s/1VsI0mF-KZfnL5kbHK-6HWQ?pwd=34rw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40FD346-CFF4-4AEE-B59D-5A1E8CD675C9}"/>
              </a:ext>
            </a:extLst>
          </p:cNvPr>
          <p:cNvSpPr>
            <a:spLocks noGrp="1"/>
          </p:cNvSpPr>
          <p:nvPr/>
        </p:nvSpPr>
        <p:spPr>
          <a:xfrm>
            <a:off x="6629400" y="47053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提取码：34rw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F362A30-122D-402D-8894-0B6A15FC41CB}"/>
              </a:ext>
            </a:extLst>
          </p:cNvPr>
          <p:cNvSpPr>
            <a:spLocks noGrp="1"/>
          </p:cNvSpPr>
          <p:nvPr/>
        </p:nvSpPr>
        <p:spPr>
          <a:xfrm>
            <a:off x="6629400" y="506730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内容：EXE 发行包、运行依赖与使用说明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8DF8239-C8C3-4D36-9A8A-DDF83D818E40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820400" cy="457200"/>
          </a:xfrm>
          <a:prstGeom prst="roundRect">
            <a:avLst>
              <a:gd name="adj" fmla="val 25000"/>
            </a:avLst>
          </a:prstGeom>
          <a:solidFill>
            <a:srgbClr val="2C554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0472E15-4EEC-491E-8BAD-1C152BC99B24}"/>
              </a:ext>
            </a:extLst>
          </p:cNvPr>
          <p:cNvSpPr>
            <a:spLocks noGrp="1"/>
          </p:cNvSpPr>
          <p:nvPr/>
        </p:nvSpPr>
        <p:spPr>
          <a:xfrm>
            <a:off x="895350" y="5800725"/>
            <a:ext cx="1038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跨设备使用建议：先下载并解压同名文件夹，再打开 Excel 或 EXE；网盘链接和提取码以分享页实际内容为准。</a:t>
            </a:r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1022F54E-7420-4EDF-858C-595D6950B39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F9EAE7-DF29-4E1B-88EB-EFC8D92909EC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共享入口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BE435A6-51CC-4608-B274-64FA310E6BCF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724810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62AC8EBE-B8EA-4B16-9ECA-5871D677D3F6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2976D429-DFD7-401B-ACD8-B5EAF3DE1254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3" name="矩形 2">
            <a:extLst>
              <a:ext uri="{FF2B5EF4-FFF2-40B4-BE49-F238E27FC236}">
                <ns2:creationId id="{9F88320D-7BE2-481A-A96E-A2C3197EC5BE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DAiSEE：投入度是视频级弱监督问题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175EB720-7B33-441C-B895-7F1C2098591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617C5925-90DD-431E-A61D-C130823BCEEB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 不是微表情数据集，而是带有时间变化的学习投入度与状态数据。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C61E38FE-3F60-4A2E-AB5E-F89B064F42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921DC518-9DE6-4064-B2AC-1DEF0B5B4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43150" y="2667000"/>
            <a:ext cx="2400300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419225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p.1 · 视频级0–3</a:t>
            </a:r>
          </a:p>
        </p:txBody>
      </p:sp>
      <p:sp>
        <p:nvSpPr>
          <p:cNvPr id="9" name="矩形 8">
            <a:extLst>
              <a:ext uri="{FF2B5EF4-FFF2-40B4-BE49-F238E27FC236}">
                <ns2:creationId id="{80851550-6F9E-4E5B-A798-8B287E94800C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Kaur et al., Prediction and Localization of Student Engagement in the Wild, arXiv:1804.00858v4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F04B7D37-E2A7-4E07-992D-FD7F0B7538CD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标签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66899178-3B2B-404C-8ED2-E191D13FA292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5 名标注者，0-3 级投入度，视频级标签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3B147FF2-4BCB-4FBD-AC04-C42D5A38CC72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特征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543C0886-3602-496F-8668-8D961052F193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头部姿态、眼睛注视、LBP-TOP 等片段级特征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8AAB8A7B-AC32-4A91-B49B-83A02F1168E6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AA18FFE0-6022-4DF6-B055-4E57EC9EFE85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Multiple Instance Learning，用 Mean/Top-k 聚合片段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E4FE8224-B4DF-4181-9A92-C6679C3FE14D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指标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2DD0C593-42FC-4DB4-AD4B-699B0428B124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MSE、PCC、Classwise MSE、Cohen’s Kappa，subject-independent split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0AF59EFE-7C29-4BC2-8A9B-08B726977724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投入度是视频级弱监督任务，不能直接当微表情。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4CE92C4C-5A69-4412-992C-3EEEF198DFD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AC07FDA5-63BA-4A08-9BC9-112556E1B449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02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BD03C5AA-F67D-4FE5-A1BF-486058629F2D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90803173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A4B90A76-F7E1-4E9A-B3EB-29B65995224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B745F883-FF2B-46B0-9108-50E5D909E6F3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ns2:creationId id="{1FB9B8F4-AFDB-435E-BFB4-1FE2A7CA484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SAMM：高帧率与个体基线支撑微表情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7EAE0564-D6B2-49B2-85BA-FDB2A6B92B2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048847F6-F3C9-4BA0-8096-CF79CAFC02CD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SAMM 说明微表情研究需要高帧率、FACS 标注和个体化基线，普通课堂视频不能直接替代。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F39DA436-689A-4109-A028-34475AF8BCA3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63670863-DE03-411C-8DFB-C0EAC09DD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7649" y="2667000"/>
            <a:ext cx="5311302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21920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p.4 · 高帧率+基线</a:t>
            </a:r>
          </a:p>
        </p:txBody>
      </p:sp>
      <p:sp>
        <p:nvSpPr>
          <p:cNvPr id="9" name="矩形 8">
            <a:extLst>
              <a:ext uri="{FF2B5EF4-FFF2-40B4-BE49-F238E27FC236}">
                <ns2:creationId id="{E7D478E2-3084-4128-BAE4-60082DA24FFE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Davison et al., SAMM: A Spontaneous Micro-Facial Movement Dataset, TAFFC 2016, DOI 10.1109/TAFFC.2016.2573832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20174521-D9A9-4C20-AB90-0995935924F2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采集条件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DE4987F4-7F4C-455D-9F0C-5D824EA49BF0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200 fps，2040×1088 原始视频，常用约 400×400 裁剪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85152F61-6F3C-4090-BE5E-86387C8C5DFD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标签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C650485B-0573-4C46-84BF-3B40F1C251C0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FACS Action Units、onset/apex/offset、micro/macro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79B593FA-48E0-4ED2-A75D-3F1CA09F99BB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基线模型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7B9DAE86-30A1-41CE-9168-61D90D77053B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Adaptive Baseline Threshold，考虑每个人的自然运动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43EB9A90-CCF7-4281-9D2D-15464106DBC7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结果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1256994A-A7F7-45AA-A5BA-737FA37F8382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Recall 0.9125，F-measure 0.8179；同时报告 Precision/Recall/MCC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89885A35-BA0D-487F-8131-EC76DB400C81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微表情需要高帧率、动作标注和个人基线。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235AF791-8B8F-4E03-B931-5854DFCB1E3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B2E7442C-FDD9-4BD9-8C30-A38E5FCAC726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03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30B1B01B-B00C-4F21-9B10-1CDCC45E8F77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2014533200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6CAD717D-FBA2-4981-A67D-E3A7A4303AC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897BBBB5-B013-4805-84BB-50FC12B1EFCC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3" name="矩形 2">
            <a:extLst>
              <a:ext uri="{FF2B5EF4-FFF2-40B4-BE49-F238E27FC236}">
                <ns2:creationId id="{77AA7904-CA1C-4A3E-B565-9B0F158D193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SCB-Dataset3：课堂行为检测的基准证据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5F9BB013-BD2D-42B0-BF3E-FD44E2EB4B51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91E14DD8-505B-4C99-A234-D683DD197D9E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SCB-Dataset3 说明课堂行为识别要同时处理多人、小目标、帧采样和训练测试泄漏。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E7274C00-1130-4660-9D49-007B86232587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104DC622-7559-43A4-93E1-30E8AED1C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84834" y="2667000"/>
            <a:ext cx="2116931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552575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p.3 · 多人+帧泄漏</a:t>
            </a:r>
          </a:p>
        </p:txBody>
      </p:sp>
      <p:sp>
        <p:nvSpPr>
          <p:cNvPr id="9" name="矩形 8">
            <a:extLst>
              <a:ext uri="{FF2B5EF4-FFF2-40B4-BE49-F238E27FC236}">
                <ns2:creationId id="{63209400-DFC8-43BE-A691-32360D437393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Yang &amp; Wang, SCB-Dataset3: A Benchmark for Detecting Student Classroom Behavior, arXiv:2310.02522v2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15F40395-0F97-49A0-A50C-13FD6243EE7A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数据规模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6769FC08-0988-4B51-98CA-549FCDAF37E1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SCB3-S 5686 张图像、45578 个框；SCB3-U 有多视角真实课堂视频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E783E43D-C9E0-464A-AEA9-2F866967C58E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标签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498CE492-9C6F-43A2-9677-796697E7E422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阅读、写字、使用手机、抬头、举手等课堂行为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693B997E-80B5-41BC-B491-32D7D5E57B95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训练设置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3DE12AB4-787D-42CF-95E3-03EAFDD09D7B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640×640，YOLOv7x，100 epoch，Precision/Recall/mAP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089EC110-477C-4429-B26F-191B67B57B5B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重要结果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0E9995A4-B58A-4346-BF07-5F20955BEA22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严格设置 mAP@50 约 71.4%，相邻帧切分可达 94.4%，存在高估风险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FEE80F1F-2886-42FC-A3F7-DBE828F9C323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相邻视频帧切分会高估成绩，训练测试必须防泄漏。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B846D1A9-66A8-477F-9FEB-795C1EEEAE3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1B022564-0C8F-44BA-9D2A-7BF3E357F927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04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60189885-2194-4ABF-9F5F-797CC34D2E98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86705132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A3CD66C-5C2A-41E9-BED2-365AB4907DD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同一研究任务需要处理不同模态和标注体系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503A49-B45F-48DC-96E0-E244C00DC115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BFD4A6-875C-4A56-AB30-EC28218AACD8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数据特点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BC9226F-1D48-4DCE-96B8-13BC7FB0AD1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D0E5E0-F9C5-48B7-BD27-6FCD7F99A7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" r="312"/>
          <a:stretch>
            <a:fillRect/>
          </a:stretch>
        </p:blipFill>
        <p:spPr>
          <a:xfrm>
            <a:off x="685800" y="1714500"/>
            <a:ext cx="5048250" cy="2857500"/>
          </a:xfrm>
          <a:prstGeom prst="roundRect">
            <a:avLst>
              <a:gd name="adj" fmla="val 5333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DA0EDE7F-D428-4EFE-9CB1-C99A35E1399A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1219200" cy="304800"/>
          </a:xfrm>
          <a:prstGeom prst="roundRect">
            <a:avLst>
              <a:gd name="adj" fmla="val 37500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SCB 图片样例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703740-A7F9-49A1-871A-CB55F78E4C8D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课堂画面具有多人、前后排和小目标特点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109043C-001D-482E-850E-5F8B5BF7E5CB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95250" cy="95250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937A31-153D-4638-A459-1C24C0ED974A}"/>
              </a:ext>
            </a:extLst>
          </p:cNvPr>
          <p:cNvSpPr>
            <a:spLocks noGrp="1"/>
          </p:cNvSpPr>
          <p:nvPr/>
        </p:nvSpPr>
        <p:spPr>
          <a:xfrm>
            <a:off x="6934200" y="171450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图片与视频同时存在，视频还需要保留时间连续性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80736F8-9FA5-418E-88C1-DD3FCD2DC791}"/>
              </a:ext>
            </a:extLst>
          </p:cNvPr>
          <p:cNvSpPr>
            <a:spLocks noGrp="1"/>
          </p:cNvSpPr>
          <p:nvPr/>
        </p:nvSpPr>
        <p:spPr>
          <a:xfrm>
            <a:off x="6667500" y="2590800"/>
            <a:ext cx="95250" cy="95250"/>
          </a:xfrm>
          <a:prstGeom prst="ellipse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0437FE-F0B9-48BC-A342-4A53AF2EDCE0}"/>
              </a:ext>
            </a:extLst>
          </p:cNvPr>
          <p:cNvSpPr>
            <a:spLocks noGrp="1"/>
          </p:cNvSpPr>
          <p:nvPr/>
        </p:nvSpPr>
        <p:spPr>
          <a:xfrm>
            <a:off x="6934200" y="24955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数据集标签名称和任务定义不同，需要保留来源标签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8F511C8-314A-4051-B7C7-EF986F65EE25}"/>
              </a:ext>
            </a:extLst>
          </p:cNvPr>
          <p:cNvSpPr>
            <a:spLocks noGrp="1"/>
          </p:cNvSpPr>
          <p:nvPr/>
        </p:nvSpPr>
        <p:spPr>
          <a:xfrm>
            <a:off x="6667500" y="3371850"/>
            <a:ext cx="95250" cy="95250"/>
          </a:xfrm>
          <a:prstGeom prst="ellipse">
            <a:avLst/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D5D805-1463-414C-A243-938F1A143948}"/>
              </a:ext>
            </a:extLst>
          </p:cNvPr>
          <p:cNvSpPr>
            <a:spLocks noGrp="1"/>
          </p:cNvSpPr>
          <p:nvPr/>
        </p:nvSpPr>
        <p:spPr>
          <a:xfrm>
            <a:off x="6934200" y="327660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原始分辨率不一致，不能把所有数据直接按同一尺寸解释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5D4F98C-73E1-4607-AD1F-1E78811F711E}"/>
              </a:ext>
            </a:extLst>
          </p:cNvPr>
          <p:cNvSpPr>
            <a:spLocks noGrp="1"/>
          </p:cNvSpPr>
          <p:nvPr/>
        </p:nvSpPr>
        <p:spPr>
          <a:xfrm>
            <a:off x="6667500" y="4152900"/>
            <a:ext cx="95250" cy="95250"/>
          </a:xfrm>
          <a:prstGeom prst="ellipse">
            <a:avLst/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DDB5E8-1C39-4F27-9EF6-82B4BE24C3A3}"/>
              </a:ext>
            </a:extLst>
          </p:cNvPr>
          <p:cNvSpPr>
            <a:spLocks noGrp="1"/>
          </p:cNvSpPr>
          <p:nvPr/>
        </p:nvSpPr>
        <p:spPr>
          <a:xfrm>
            <a:off x="6934200" y="40576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部分样本有标注，部分样本需要先做质量检查和统一转换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C76956-684B-4E5F-A54D-0B2C5A9DC7A8}"/>
              </a:ext>
            </a:extLst>
          </p:cNvPr>
          <p:cNvSpPr>
            <a:spLocks noGrp="1"/>
          </p:cNvSpPr>
          <p:nvPr/>
        </p:nvSpPr>
        <p:spPr>
          <a:xfrm>
            <a:off x="6667500" y="521970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数据处理的第一原则：保留来源、标签和原始分辨率。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A4E90475-6E91-4B9E-989E-F9423D84FA2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13E0A8-5E24-4BA4-9461-68CA71D7E519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3D860A-7C26-45F5-942F-3E02A7F987C7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386005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A24D88D1-EF43-4632-8187-7F64EFB3E1A5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不同数据集承担不同分析任务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271ACD-4DA2-4FE9-B52C-11B4A08A4207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B94D2C-63F0-48E3-B8AC-1A51BD2589E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任务边界与标签体系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E798333B-DC82-4EBD-9296-DCB2E84A4D3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1AA00E-CC21-47BF-B01A-CB8C8E26EB50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2000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AA6A77-8A72-4855-8158-55867ECE98C4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数据集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48B1DE-AAD5-481A-BB66-53303DC8C2D7}"/>
              </a:ext>
            </a:extLst>
          </p:cNvPr>
          <p:cNvSpPr>
            <a:spLocks noGrp="1"/>
          </p:cNvSpPr>
          <p:nvPr/>
        </p:nvSpPr>
        <p:spPr>
          <a:xfrm>
            <a:off x="2686050" y="1752600"/>
            <a:ext cx="37147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AD1984-3221-4BD0-8D03-24DF54F1B995}"/>
              </a:ext>
            </a:extLst>
          </p:cNvPr>
          <p:cNvSpPr>
            <a:spLocks noGrp="1"/>
          </p:cNvSpPr>
          <p:nvPr/>
        </p:nvSpPr>
        <p:spPr>
          <a:xfrm>
            <a:off x="2800350" y="186690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适合回答的问题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A4A5A-6A94-4EC6-A9A8-6E3C3FC993A6}"/>
              </a:ext>
            </a:extLst>
          </p:cNvPr>
          <p:cNvSpPr>
            <a:spLocks noGrp="1"/>
          </p:cNvSpPr>
          <p:nvPr/>
        </p:nvSpPr>
        <p:spPr>
          <a:xfrm>
            <a:off x="6400800" y="1752600"/>
            <a:ext cx="3143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2A1F1A-79FE-447D-80F7-FFAB20491BC8}"/>
              </a:ext>
            </a:extLst>
          </p:cNvPr>
          <p:cNvSpPr>
            <a:spLocks noGrp="1"/>
          </p:cNvSpPr>
          <p:nvPr/>
        </p:nvSpPr>
        <p:spPr>
          <a:xfrm>
            <a:off x="6515100" y="18669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标签特点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BFF5FD-8489-4EC9-8711-1CEFC221D60A}"/>
              </a:ext>
            </a:extLst>
          </p:cNvPr>
          <p:cNvSpPr>
            <a:spLocks noGrp="1"/>
          </p:cNvSpPr>
          <p:nvPr/>
        </p:nvSpPr>
        <p:spPr>
          <a:xfrm>
            <a:off x="9544050" y="1752600"/>
            <a:ext cx="19621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629BFC-7BD1-4769-87BF-8E348F066982}"/>
              </a:ext>
            </a:extLst>
          </p:cNvPr>
          <p:cNvSpPr>
            <a:spLocks noGrp="1"/>
          </p:cNvSpPr>
          <p:nvPr/>
        </p:nvSpPr>
        <p:spPr>
          <a:xfrm>
            <a:off x="9658350" y="18669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使用边界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51331F-1286-4547-9BDA-DB1E6513C2AF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2000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C0290A-0100-4263-BE36-A536A229E0F4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D0B300-2266-4E79-8669-269C5C51369B}"/>
              </a:ext>
            </a:extLst>
          </p:cNvPr>
          <p:cNvSpPr>
            <a:spLocks noGrp="1"/>
          </p:cNvSpPr>
          <p:nvPr/>
        </p:nvSpPr>
        <p:spPr>
          <a:xfrm>
            <a:off x="2686050" y="2247900"/>
            <a:ext cx="37147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1F2641-663D-4F93-8DF8-8C0248AA1C8E}"/>
              </a:ext>
            </a:extLst>
          </p:cNvPr>
          <p:cNvSpPr>
            <a:spLocks noGrp="1"/>
          </p:cNvSpPr>
          <p:nvPr/>
        </p:nvSpPr>
        <p:spPr>
          <a:xfrm>
            <a:off x="2800350" y="236220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学习投入度与状态变化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58D187-D446-4F41-9C12-FBFE33545BA0}"/>
              </a:ext>
            </a:extLst>
          </p:cNvPr>
          <p:cNvSpPr>
            <a:spLocks noGrp="1"/>
          </p:cNvSpPr>
          <p:nvPr/>
        </p:nvSpPr>
        <p:spPr>
          <a:xfrm>
            <a:off x="6400800" y="2247900"/>
            <a:ext cx="3143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DF08CDB-3D58-4728-83BB-B84D6E0693AC}"/>
              </a:ext>
            </a:extLst>
          </p:cNvPr>
          <p:cNvSpPr>
            <a:spLocks noGrp="1"/>
          </p:cNvSpPr>
          <p:nvPr/>
        </p:nvSpPr>
        <p:spPr>
          <a:xfrm>
            <a:off x="6515100" y="23622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Boredom / Engagement / Confusion / Frustration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B21F2AD-3C06-45F1-BF26-A43D85CD9A0D}"/>
              </a:ext>
            </a:extLst>
          </p:cNvPr>
          <p:cNvSpPr>
            <a:spLocks noGrp="1"/>
          </p:cNvSpPr>
          <p:nvPr/>
        </p:nvSpPr>
        <p:spPr>
          <a:xfrm>
            <a:off x="9544050" y="2247900"/>
            <a:ext cx="19621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A0AF4E-CD22-42D3-AC44-25DD28AB4D16}"/>
              </a:ext>
            </a:extLst>
          </p:cNvPr>
          <p:cNvSpPr>
            <a:spLocks noGrp="1"/>
          </p:cNvSpPr>
          <p:nvPr/>
        </p:nvSpPr>
        <p:spPr>
          <a:xfrm>
            <a:off x="9658350" y="23622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不直接当作微表情标签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B9BA3C-DD9C-433C-BC24-9DB4FCD0FB27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2000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D09979-5827-4490-B449-6B7FD9F05177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Tianchi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47F377B-B494-489B-B8D7-D7F0505BBC80}"/>
              </a:ext>
            </a:extLst>
          </p:cNvPr>
          <p:cNvSpPr>
            <a:spLocks noGrp="1"/>
          </p:cNvSpPr>
          <p:nvPr/>
        </p:nvSpPr>
        <p:spPr>
          <a:xfrm>
            <a:off x="2686050" y="2743200"/>
            <a:ext cx="37147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6F2226-D238-41A0-BF31-B98528648584}"/>
              </a:ext>
            </a:extLst>
          </p:cNvPr>
          <p:cNvSpPr>
            <a:spLocks noGrp="1"/>
          </p:cNvSpPr>
          <p:nvPr/>
        </p:nvSpPr>
        <p:spPr>
          <a:xfrm>
            <a:off x="2800350" y="285750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学生行为目标检测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34936E-3307-4D86-8EE1-A38292477630}"/>
              </a:ext>
            </a:extLst>
          </p:cNvPr>
          <p:cNvSpPr>
            <a:spLocks noGrp="1"/>
          </p:cNvSpPr>
          <p:nvPr/>
        </p:nvSpPr>
        <p:spPr>
          <a:xfrm>
            <a:off x="6400800" y="2743200"/>
            <a:ext cx="3143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BAEEC0E-1921-4A65-9175-A12AEEE9BEF7}"/>
              </a:ext>
            </a:extLst>
          </p:cNvPr>
          <p:cNvSpPr>
            <a:spLocks noGrp="1"/>
          </p:cNvSpPr>
          <p:nvPr/>
        </p:nvSpPr>
        <p:spPr>
          <a:xfrm>
            <a:off x="6515100" y="28575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upright、book、bend、raise_head 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9181432-775E-4FE4-B62B-53E184E266A1}"/>
              </a:ext>
            </a:extLst>
          </p:cNvPr>
          <p:cNvSpPr>
            <a:spLocks noGrp="1"/>
          </p:cNvSpPr>
          <p:nvPr/>
        </p:nvSpPr>
        <p:spPr>
          <a:xfrm>
            <a:off x="9544050" y="2743200"/>
            <a:ext cx="19621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E7B103-69FB-49E1-9D06-C58853E8F5FE}"/>
              </a:ext>
            </a:extLst>
          </p:cNvPr>
          <p:cNvSpPr>
            <a:spLocks noGrp="1"/>
          </p:cNvSpPr>
          <p:nvPr/>
        </p:nvSpPr>
        <p:spPr>
          <a:xfrm>
            <a:off x="9658350" y="28575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保留 YOLO 标注体系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AEA7FE3-0095-4E10-A441-86293FD53838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2000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9012B4-C23A-4922-8292-3D1F49F5AE36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573E9E-3487-4A1A-AF9D-877C9D76643E}"/>
              </a:ext>
            </a:extLst>
          </p:cNvPr>
          <p:cNvSpPr>
            <a:spLocks noGrp="1"/>
          </p:cNvSpPr>
          <p:nvPr/>
        </p:nvSpPr>
        <p:spPr>
          <a:xfrm>
            <a:off x="2686050" y="3238500"/>
            <a:ext cx="37147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3605F48-9161-40BD-AEF3-B1531E083800}"/>
              </a:ext>
            </a:extLst>
          </p:cNvPr>
          <p:cNvSpPr>
            <a:spLocks noGrp="1"/>
          </p:cNvSpPr>
          <p:nvPr/>
        </p:nvSpPr>
        <p:spPr>
          <a:xfrm>
            <a:off x="2800350" y="335280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课堂行为和多人场景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6507FDC-4686-49DD-BE56-AA55282BC811}"/>
              </a:ext>
            </a:extLst>
          </p:cNvPr>
          <p:cNvSpPr>
            <a:spLocks noGrp="1"/>
          </p:cNvSpPr>
          <p:nvPr/>
        </p:nvSpPr>
        <p:spPr>
          <a:xfrm>
            <a:off x="6400800" y="3238500"/>
            <a:ext cx="3143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CBEE4C-3A4F-45C3-8766-DE5B572AA3E3}"/>
              </a:ext>
            </a:extLst>
          </p:cNvPr>
          <p:cNvSpPr>
            <a:spLocks noGrp="1"/>
          </p:cNvSpPr>
          <p:nvPr/>
        </p:nvSpPr>
        <p:spPr>
          <a:xfrm>
            <a:off x="6515100" y="33528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 类课堂行为，含图片和多视角视频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F5FA10-AB8B-460E-A662-80476A73F7CA}"/>
              </a:ext>
            </a:extLst>
          </p:cNvPr>
          <p:cNvSpPr>
            <a:spLocks noGrp="1"/>
          </p:cNvSpPr>
          <p:nvPr/>
        </p:nvSpPr>
        <p:spPr>
          <a:xfrm>
            <a:off x="9544050" y="3238500"/>
            <a:ext cx="19621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3BD29B2-5840-468A-ADF2-CF4E5E02177A}"/>
              </a:ext>
            </a:extLst>
          </p:cNvPr>
          <p:cNvSpPr>
            <a:spLocks noGrp="1"/>
          </p:cNvSpPr>
          <p:nvPr/>
        </p:nvSpPr>
        <p:spPr>
          <a:xfrm>
            <a:off x="9658350" y="33528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按来源标签解释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A0C1458-9EC2-4138-997E-C6EE3472977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00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53D3632-2232-4986-AF59-8683ADCCE6EA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微表情数据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0FC8B9C-87C0-44B7-8944-83033F3A8317}"/>
              </a:ext>
            </a:extLst>
          </p:cNvPr>
          <p:cNvSpPr>
            <a:spLocks noGrp="1"/>
          </p:cNvSpPr>
          <p:nvPr/>
        </p:nvSpPr>
        <p:spPr>
          <a:xfrm>
            <a:off x="2686050" y="3733800"/>
            <a:ext cx="37147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2B3902A-2E79-4C3B-93AD-2FD63111D814}"/>
              </a:ext>
            </a:extLst>
          </p:cNvPr>
          <p:cNvSpPr>
            <a:spLocks noGrp="1"/>
          </p:cNvSpPr>
          <p:nvPr/>
        </p:nvSpPr>
        <p:spPr>
          <a:xfrm>
            <a:off x="2800350" y="384810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面部微表情识别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0436B61-D9C6-4CF3-B975-9B61AFCFD462}"/>
              </a:ext>
            </a:extLst>
          </p:cNvPr>
          <p:cNvSpPr>
            <a:spLocks noGrp="1"/>
          </p:cNvSpPr>
          <p:nvPr/>
        </p:nvSpPr>
        <p:spPr>
          <a:xfrm>
            <a:off x="6400800" y="3733800"/>
            <a:ext cx="3143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7F6C9DA-02B3-44F7-8451-F75D84DD94F8}"/>
              </a:ext>
            </a:extLst>
          </p:cNvPr>
          <p:cNvSpPr>
            <a:spLocks noGrp="1"/>
          </p:cNvSpPr>
          <p:nvPr/>
        </p:nvSpPr>
        <p:spPr>
          <a:xfrm>
            <a:off x="6515100" y="38481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使用专门的微表情类别和时间片段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3EB786A-5CDF-4271-AC2A-763466D9CA0F}"/>
              </a:ext>
            </a:extLst>
          </p:cNvPr>
          <p:cNvSpPr>
            <a:spLocks noGrp="1"/>
          </p:cNvSpPr>
          <p:nvPr/>
        </p:nvSpPr>
        <p:spPr>
          <a:xfrm>
            <a:off x="9544050" y="3733800"/>
            <a:ext cx="19621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8F4428F-7105-4466-970D-23DBBF6B70BD}"/>
              </a:ext>
            </a:extLst>
          </p:cNvPr>
          <p:cNvSpPr>
            <a:spLocks noGrp="1"/>
          </p:cNvSpPr>
          <p:nvPr/>
        </p:nvSpPr>
        <p:spPr>
          <a:xfrm>
            <a:off x="9658350" y="38481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与投入度任务分开评估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3EB83C99-8D0F-43B8-B822-5C17C191674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838200"/>
          </a:xfrm>
          <a:prstGeom prst="roundRect">
            <a:avLst>
              <a:gd name="adj" fmla="val 13636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AF57746-CCDC-46DF-922E-64F1A4B57F27}"/>
              </a:ext>
            </a:extLst>
          </p:cNvPr>
          <p:cNvSpPr>
            <a:spLocks noGrp="1"/>
          </p:cNvSpPr>
          <p:nvPr/>
        </p:nvSpPr>
        <p:spPr>
          <a:xfrm>
            <a:off x="914400" y="49911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汇报时先说明任务定义，再比较模型性能。相近词语不代表相同标签。</a:t>
            </a:r>
          </a:p>
        </p:txBody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50956F38-76B3-4356-8F14-4EA289F482B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17E8CE6-142C-4882-8A35-0B7B504907A7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9101C79-0121-465B-9190-EF4BE184B775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75530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0BD74DB-6CBD-4E74-8D93-AB245B25F43C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只改变一个条件，观察视觉特征如何退化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5CA6F8-1DAF-4F52-BF27-3908FC7CFEAA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8D4598-C410-4D51-9CE0-F7800BF1282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同一人物的处理前后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A2F7FD9C-51AE-4D83-8764-942E4FF4EF4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365A3E-8CE9-42A3-99CC-5777A481FA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02" b="5302"/>
          <a:stretch>
            <a:fillRect/>
          </a:stretch>
        </p:blipFill>
        <p:spPr>
          <a:xfrm>
            <a:off x="685800" y="1733550"/>
            <a:ext cx="3333750" cy="1676400"/>
          </a:xfrm>
          <a:prstGeom prst="roundRect">
            <a:avLst>
              <a:gd name="adj" fmla="val 9091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C7276CB-1F25-4D1C-87DD-6B146571225E}"/>
              </a:ext>
            </a:extLst>
          </p:cNvPr>
          <p:cNvSpPr>
            <a:spLocks noGrp="1"/>
          </p:cNvSpPr>
          <p:nvPr/>
        </p:nvSpPr>
        <p:spPr>
          <a:xfrm>
            <a:off x="819150" y="1866900"/>
            <a:ext cx="4381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原图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75F49A2-AF51-4509-866A-800B3BA08D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02" b="5302"/>
          <a:stretch>
            <a:fillRect/>
          </a:stretch>
        </p:blipFill>
        <p:spPr>
          <a:xfrm>
            <a:off x="4362450" y="1733550"/>
            <a:ext cx="3333750" cy="1676400"/>
          </a:xfrm>
          <a:prstGeom prst="roundRect">
            <a:avLst>
              <a:gd name="adj" fmla="val 9091"/>
            </a:avLst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6F86AE89-FDCD-47A4-AB22-B3B65974D1E5}"/>
              </a:ext>
            </a:extLst>
          </p:cNvPr>
          <p:cNvSpPr>
            <a:spLocks noGrp="1"/>
          </p:cNvSpPr>
          <p:nvPr/>
        </p:nvSpPr>
        <p:spPr>
          <a:xfrm>
            <a:off x="4495800" y="1866900"/>
            <a:ext cx="8191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1/2 分辨率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3F540E5-FD3E-4CEB-A05A-1EEADFBD2E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02" b="5102"/>
          <a:stretch>
            <a:fillRect/>
          </a:stretch>
        </p:blipFill>
        <p:spPr>
          <a:xfrm>
            <a:off x="8039100" y="1733550"/>
            <a:ext cx="3333750" cy="1676400"/>
          </a:xfrm>
          <a:prstGeom prst="roundRect">
            <a:avLst>
              <a:gd name="adj" fmla="val 9091"/>
            </a:avLst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ECBCFF1-9AF7-4134-8A16-147CC2EE8374}"/>
              </a:ext>
            </a:extLst>
          </p:cNvPr>
          <p:cNvSpPr>
            <a:spLocks noGrp="1"/>
          </p:cNvSpPr>
          <p:nvPr/>
        </p:nvSpPr>
        <p:spPr>
          <a:xfrm>
            <a:off x="8172450" y="1866900"/>
            <a:ext cx="8191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1/4 分辨率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33DFD92-93AB-44BE-8A0A-40BE9892A6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302" b="5302"/>
          <a:stretch>
            <a:fillRect/>
          </a:stretch>
        </p:blipFill>
        <p:spPr>
          <a:xfrm>
            <a:off x="685800" y="3829050"/>
            <a:ext cx="3333750" cy="1676400"/>
          </a:xfrm>
          <a:prstGeom prst="roundRect">
            <a:avLst>
              <a:gd name="adj" fmla="val 9091"/>
            </a:avLst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466CF14-D28B-4CE6-B7AD-EC0F875BF7BE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15049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dirty="0" err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原图</a:t>
            </a:r>
            <a:r>
              <a:rPr sz="975" b="1" dirty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 + 2% </a:t>
            </a:r>
            <a:r>
              <a:rPr sz="975" b="1" dirty="0" err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黑色矩形遮挡</a:t>
            </a:r>
            <a:endParaRPr sz="975" b="1" dirty="0">
              <a:solidFill>
                <a:srgbClr val="19312E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F0A351B-ECF4-4B07-B8A6-B2823B1A70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302" b="5302"/>
          <a:stretch>
            <a:fillRect/>
          </a:stretch>
        </p:blipFill>
        <p:spPr>
          <a:xfrm>
            <a:off x="4362450" y="3829050"/>
            <a:ext cx="3333750" cy="1676400"/>
          </a:xfrm>
          <a:prstGeom prst="roundRect">
            <a:avLst>
              <a:gd name="adj" fmla="val 9091"/>
            </a:avLst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9966960-0880-4B4E-8639-7440A8552BB8}"/>
              </a:ext>
            </a:extLst>
          </p:cNvPr>
          <p:cNvSpPr>
            <a:spLocks noGrp="1"/>
          </p:cNvSpPr>
          <p:nvPr/>
        </p:nvSpPr>
        <p:spPr>
          <a:xfrm>
            <a:off x="4495800" y="3962400"/>
            <a:ext cx="12001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1/4 分辨率 + 遮挡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99AD179-CB47-4CA7-8D88-737F01E4CF9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5302" b="5302"/>
          <a:stretch>
            <a:fillRect/>
          </a:stretch>
        </p:blipFill>
        <p:spPr>
          <a:xfrm>
            <a:off x="8039100" y="3829050"/>
            <a:ext cx="3333750" cy="1676400"/>
          </a:xfrm>
          <a:prstGeom prst="roundRect">
            <a:avLst>
              <a:gd name="adj" fmla="val 9091"/>
            </a:avLst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F0E12ED-4BF7-4273-8D71-9CD5AACB9012}"/>
              </a:ext>
            </a:extLst>
          </p:cNvPr>
          <p:cNvSpPr>
            <a:spLocks noGrp="1"/>
          </p:cNvSpPr>
          <p:nvPr/>
        </p:nvSpPr>
        <p:spPr>
          <a:xfrm>
            <a:off x="8172450" y="3962400"/>
            <a:ext cx="7429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恢复到原尺寸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02D33C-DE08-4711-96C0-DCB9F5DCD197}"/>
              </a:ext>
            </a:extLst>
          </p:cNvPr>
          <p:cNvSpPr>
            <a:spLocks noGrp="1"/>
          </p:cNvSpPr>
          <p:nvPr/>
        </p:nvSpPr>
        <p:spPr>
          <a:xfrm>
            <a:off x="685800" y="60198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示例来自 SCB 图片。遮挡区域由程序记录，组合条件用于后续模型评估。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468DB05A-48DB-4C01-BA11-123BB740C4E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CF8D17-F8EC-4FC0-8973-9634D2BB8710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B0D4589-FF39-4FE0-996D-09C0F4E103E4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503143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015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14A · 实测输入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处理台实际运行：四种视觉条件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11" name="condition-original"/>
          <p:cNvGrpSpPr/>
          <p:nvPr/>
        </p:nvGrpSpPr>
        <p:grpSpPr>
          <a:xfrm>
            <a:off x="685800" y="1676400"/>
            <a:ext cx="2476500" cy="2000250"/>
            <a:chOff x="685800" y="1676400"/>
            <a:chExt cx="2476500" cy="200025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2476500" cy="2000250"/>
            </a:xfrm>
            <a:prstGeom prst="roundRect">
              <a:avLst>
                <a:gd name="adj" fmla="val 8571"/>
              </a:avLst>
            </a:prstGeom>
            <a:solidFill>
              <a:srgbClr val="FFFDF8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9"/>
            <a:srcRect l="0" t="17500" r="0" b="17500"/>
            <a:stretch>
              <a:fillRect/>
            </a:stretch>
          </p:blipFill>
          <p:spPr>
            <a:xfrm>
              <a:off x="781050" y="1771650"/>
              <a:ext cx="2286000" cy="14859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781050" y="1771650"/>
              <a:ext cx="2286000" cy="1485900"/>
            </a:xfrm>
            <a:prstGeom prst="rect">
              <a:avLst/>
            </a:prstGeom>
            <a:noFill/>
            <a:ln w="9525">
              <a:solidFill>
                <a:srgbClr val="D7DED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723" y="3362325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原图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85472" y="3387725"/>
              <a:ext cx="229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6张</a:t>
              </a:r>
            </a:p>
          </p:txBody>
        </p:sp>
      </p:grpSp>
      <p:grpSp>
        <p:nvGrpSpPr>
          <p:cNvPr id="17" name="condition-occlusion"/>
          <p:cNvGrpSpPr/>
          <p:nvPr/>
        </p:nvGrpSpPr>
        <p:grpSpPr>
          <a:xfrm>
            <a:off x="3371850" y="1676400"/>
            <a:ext cx="2476500" cy="2000250"/>
            <a:chOff x="3371850" y="1676400"/>
            <a:chExt cx="2476500" cy="2000250"/>
          </a:xfrm>
        </p:grpSpPr>
        <p:sp>
          <p:nvSpPr>
            <p:cNvPr id="12" name="Rectangle 12"/>
            <p:cNvSpPr/>
            <p:nvPr/>
          </p:nvSpPr>
          <p:spPr>
            <a:xfrm>
              <a:off x="3371850" y="1676400"/>
              <a:ext cx="2476500" cy="2000250"/>
            </a:xfrm>
            <a:prstGeom prst="roundRect">
              <a:avLst>
                <a:gd name="adj" fmla="val 8571"/>
              </a:avLst>
            </a:prstGeom>
            <a:solidFill>
              <a:srgbClr val="FFFDF8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0"/>
            <a:srcRect l="0" t="17500" r="0" b="17500"/>
            <a:stretch>
              <a:fillRect/>
            </a:stretch>
          </p:blipFill>
          <p:spPr>
            <a:xfrm>
              <a:off x="3467100" y="1771650"/>
              <a:ext cx="2286000" cy="148590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3467100" y="1771650"/>
              <a:ext cx="2286000" cy="1485900"/>
            </a:xfrm>
            <a:prstGeom prst="rect">
              <a:avLst/>
            </a:prstGeom>
            <a:noFill/>
            <a:ln w="9525">
              <a:solidFill>
                <a:srgbClr val="D7DED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17773" y="3362325"/>
              <a:ext cx="59278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1%遮挡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25212" y="33877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黑色方块</a:t>
              </a:r>
            </a:p>
          </p:txBody>
        </p:sp>
      </p:grpSp>
      <p:grpSp>
        <p:nvGrpSpPr>
          <p:cNvPr id="23" name="condition-lowres"/>
          <p:cNvGrpSpPr/>
          <p:nvPr/>
        </p:nvGrpSpPr>
        <p:grpSpPr>
          <a:xfrm>
            <a:off x="6057900" y="1676400"/>
            <a:ext cx="2476500" cy="2000250"/>
            <a:chOff x="6057900" y="1676400"/>
            <a:chExt cx="24765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6057900" y="1676400"/>
              <a:ext cx="2476500" cy="2000250"/>
            </a:xfrm>
            <a:prstGeom prst="roundRect">
              <a:avLst>
                <a:gd name="adj" fmla="val 8571"/>
              </a:avLst>
            </a:prstGeom>
            <a:solidFill>
              <a:srgbClr val="FFFDF8"/>
            </a:solidFill>
            <a:ln>
              <a:noFill/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11"/>
            <a:srcRect l="0" t="17500" r="0" b="17500"/>
            <a:stretch>
              <a:fillRect/>
            </a:stretch>
          </p:blipFill>
          <p:spPr>
            <a:xfrm>
              <a:off x="6153150" y="1771650"/>
              <a:ext cx="2286000" cy="1485900"/>
            </a:xfrm>
            <a:prstGeom prst="rect">
              <a:avLst/>
            </a:prstGeom>
          </p:spPr>
        </p:pic>
        <p:sp>
          <p:nvSpPr>
            <p:cNvPr id="20" name="Rectangle 20"/>
            <p:cNvSpPr/>
            <p:nvPr/>
          </p:nvSpPr>
          <p:spPr>
            <a:xfrm>
              <a:off x="6153150" y="1771650"/>
              <a:ext cx="2286000" cy="1485900"/>
            </a:xfrm>
            <a:prstGeom prst="rect">
              <a:avLst/>
            </a:prstGeom>
            <a:noFill/>
            <a:ln w="9525">
              <a:solidFill>
                <a:srgbClr val="D7DED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03823" y="3362325"/>
              <a:ext cx="100074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1/4低分辨率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69911" y="338772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远距离模拟</a:t>
              </a:r>
            </a:p>
          </p:txBody>
        </p:sp>
      </p:grpSp>
      <p:grpSp>
        <p:nvGrpSpPr>
          <p:cNvPr id="29" name="condition-combo"/>
          <p:cNvGrpSpPr/>
          <p:nvPr/>
        </p:nvGrpSpPr>
        <p:grpSpPr>
          <a:xfrm>
            <a:off x="8743950" y="1676400"/>
            <a:ext cx="2476500" cy="2000250"/>
            <a:chOff x="8743950" y="1676400"/>
            <a:chExt cx="2476500" cy="2000250"/>
          </a:xfrm>
        </p:grpSpPr>
        <p:sp>
          <p:nvSpPr>
            <p:cNvPr id="24" name="Rectangle 24"/>
            <p:cNvSpPr/>
            <p:nvPr/>
          </p:nvSpPr>
          <p:spPr>
            <a:xfrm>
              <a:off x="8743950" y="1676400"/>
              <a:ext cx="2476500" cy="2000250"/>
            </a:xfrm>
            <a:prstGeom prst="roundRect">
              <a:avLst>
                <a:gd name="adj" fmla="val 8571"/>
              </a:avLst>
            </a:prstGeom>
            <a:solidFill>
              <a:srgbClr val="FFFDF8"/>
            </a:solidFill>
            <a:ln>
              <a:noFill/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12"/>
            <a:srcRect l="0" t="17500" r="0" b="17500"/>
            <a:stretch>
              <a:fillRect/>
            </a:stretch>
          </p:blipFill>
          <p:spPr>
            <a:xfrm>
              <a:off x="8839200" y="1771650"/>
              <a:ext cx="2286000" cy="1485900"/>
            </a:xfrm>
            <a:prstGeom prst="rect">
              <a:avLst/>
            </a:prstGeom>
          </p:spPr>
        </p:pic>
        <p:sp>
          <p:nvSpPr>
            <p:cNvPr id="26" name="Rectangle 26"/>
            <p:cNvSpPr/>
            <p:nvPr/>
          </p:nvSpPr>
          <p:spPr>
            <a:xfrm>
              <a:off x="8839200" y="1771650"/>
              <a:ext cx="2286000" cy="1485900"/>
            </a:xfrm>
            <a:prstGeom prst="rect">
              <a:avLst/>
            </a:prstGeom>
            <a:noFill/>
            <a:ln w="9525">
              <a:solidFill>
                <a:srgbClr val="D7DED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89873" y="336232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组合条件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36867" y="3387725"/>
              <a:ext cx="936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低分辨率+遮挡</a:t>
              </a:r>
            </a:p>
          </p:txBody>
        </p:sp>
      </p:grpSp>
      <p:grpSp>
        <p:nvGrpSpPr>
          <p:cNvPr id="34" name="condition-summary"/>
          <p:cNvGrpSpPr/>
          <p:nvPr/>
        </p:nvGrpSpPr>
        <p:grpSpPr>
          <a:xfrm>
            <a:off x="685800" y="4095750"/>
            <a:ext cx="10820400" cy="1619250"/>
            <a:chOff x="685800" y="4095750"/>
            <a:chExt cx="10820400" cy="1619250"/>
          </a:xfrm>
        </p:grpSpPr>
        <p:sp>
          <p:nvSpPr>
            <p:cNvPr id="30" name="Rectangle 30"/>
            <p:cNvSpPr/>
            <p:nvPr/>
          </p:nvSpPr>
          <p:spPr>
            <a:xfrm>
              <a:off x="685800" y="4095750"/>
              <a:ext cx="10820400" cy="1619250"/>
            </a:xfrm>
            <a:prstGeom prst="roundRect">
              <a:avLst>
                <a:gd name="adj" fmla="val 10588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1075" y="4286250"/>
              <a:ext cx="825280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实际运行：6 张 Tianchi（课堂行为图片集） × 4 种条件 = 24 张模型输入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3742" y="4787900"/>
              <a:ext cx="7128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CEBE6"/>
                  </a:solidFill>
                  <a:latin typeface="Microsoft YaHei"/>
                  <a:ea typeface="Microsoft YaHei"/>
                  <a:cs typeface="Microsoft YaHei"/>
                </a:rPr>
                <a:t>输出原图、1/4 低分辨率、1% 遮挡、组合条件，并保留 样本编号 / 处理条件 / 输出路径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4123" y="5162550"/>
              <a:ext cx="58012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CEBE6"/>
                  </a:solidFill>
                  <a:latin typeface="Microsoft YaHei"/>
                  <a:ea typeface="Microsoft YaHei"/>
                  <a:cs typeface="Microsoft YaHei"/>
                </a:rPr>
                <a:t>运行目录：D:/classroom_project/presentation_experiment_20261029</a:t>
              </a:r>
            </a:p>
          </p:txBody>
        </p:sp>
      </p:grpSp>
      <p:grpSp>
        <p:nvGrpSpPr>
          <p:cNvPr id="37" name="conclusion-conditions"/>
          <p:cNvGrpSpPr/>
          <p:nvPr/>
        </p:nvGrpSpPr>
        <p:grpSpPr>
          <a:xfrm>
            <a:off x="685800" y="5867400"/>
            <a:ext cx="10820400" cy="400050"/>
            <a:chOff x="685800" y="5867400"/>
            <a:chExt cx="10820400" cy="400050"/>
          </a:xfrm>
        </p:grpSpPr>
        <p:sp>
          <p:nvSpPr>
            <p:cNvPr id="35" name="Rectangle 35"/>
            <p:cNvSpPr/>
            <p:nvPr/>
          </p:nvSpPr>
          <p:spPr>
            <a:xfrm>
              <a:off x="685800" y="5867400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6973" y="5972175"/>
              <a:ext cx="432079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一句话结论：同一批样本只改变处理条件，比较才公平。</a:t>
              </a:r>
            </a:p>
          </p:txBody>
        </p:sp>
      </p:grpSp>
    </p:spTree>
    <p:extLst>
      <p:ext uri="{BB962C8B-B14F-4D97-AF65-F5344CB8AC3E}">
        <p14:creationId val="1503143454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156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14B · 数据与方法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数据集和实验参数：这次到底跑了什么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11" name="data-1"/>
          <p:cNvGrpSpPr/>
          <p:nvPr/>
        </p:nvGrpSpPr>
        <p:grpSpPr>
          <a:xfrm>
            <a:off x="685800" y="1676400"/>
            <a:ext cx="3333750" cy="2381250"/>
            <a:chOff x="685800" y="1676400"/>
            <a:chExt cx="3333750" cy="238125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3333750" cy="2381250"/>
            </a:xfrm>
            <a:prstGeom prst="roundRect">
              <a:avLst>
                <a:gd name="adj" fmla="val 72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356" y="1879600"/>
              <a:ext cx="26427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SCB（课堂行为数据集）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4880" y="2298700"/>
              <a:ext cx="2997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26,652 张图片 · 12,836 个视频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5642" y="2711450"/>
              <a:ext cx="2712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8 类课堂行为，适合多人遮挡研究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023" y="3219450"/>
              <a:ext cx="201179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数据规模：75,027 个文件</a:t>
              </a:r>
            </a:p>
          </p:txBody>
        </p:sp>
      </p:grpSp>
      <p:grpSp>
        <p:nvGrpSpPr>
          <p:cNvPr id="17" name="data-2"/>
          <p:cNvGrpSpPr/>
          <p:nvPr/>
        </p:nvGrpSpPr>
        <p:grpSpPr>
          <a:xfrm>
            <a:off x="4429125" y="1676400"/>
            <a:ext cx="3333750" cy="2381250"/>
            <a:chOff x="4429125" y="1676400"/>
            <a:chExt cx="3333750" cy="2381250"/>
          </a:xfrm>
        </p:grpSpPr>
        <p:sp>
          <p:nvSpPr>
            <p:cNvPr id="12" name="Rectangle 12"/>
            <p:cNvSpPr/>
            <p:nvPr/>
          </p:nvSpPr>
          <p:spPr>
            <a:xfrm>
              <a:off x="4429125" y="1676400"/>
              <a:ext cx="3333750" cy="2381250"/>
            </a:xfrm>
            <a:prstGeom prst="roundRect">
              <a:avLst>
                <a:gd name="adj" fmla="val 72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86681" y="1879600"/>
              <a:ext cx="19237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Tianchi 课堂行为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88205" y="2298700"/>
              <a:ext cx="24141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4,065 张图片 · 12 类标签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88967" y="27114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本次实测数据来源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89348" y="3219450"/>
              <a:ext cx="158962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处理台试跑 6 张图片</a:t>
              </a:r>
            </a:p>
          </p:txBody>
        </p:sp>
      </p:grpSp>
      <p:grpSp>
        <p:nvGrpSpPr>
          <p:cNvPr id="23" name="data-3"/>
          <p:cNvGrpSpPr/>
          <p:nvPr/>
        </p:nvGrpSpPr>
        <p:grpSpPr>
          <a:xfrm>
            <a:off x="8172450" y="1676400"/>
            <a:ext cx="3333750" cy="2381250"/>
            <a:chOff x="8172450" y="1676400"/>
            <a:chExt cx="33337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8172450" y="1676400"/>
              <a:ext cx="3333750" cy="2381250"/>
            </a:xfrm>
            <a:prstGeom prst="roundRect">
              <a:avLst>
                <a:gd name="adj" fmla="val 72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30006" y="1879600"/>
              <a:ext cx="27694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DAiSEE（投入度视频集）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31530" y="2298700"/>
              <a:ext cx="27529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9,067 视频 · 4 状态 · 0–3 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2292" y="27114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投入度基线可运行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32673" y="3219450"/>
              <a:ext cx="17360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正式结论仍需时序评估</a:t>
              </a:r>
            </a:p>
          </p:txBody>
        </p:sp>
      </p:grpSp>
      <p:grpSp>
        <p:nvGrpSpPr>
          <p:cNvPr id="27" name="data-note"/>
          <p:cNvGrpSpPr/>
          <p:nvPr/>
        </p:nvGrpSpPr>
        <p:grpSpPr>
          <a:xfrm>
            <a:off x="685800" y="4457700"/>
            <a:ext cx="10820400" cy="1143000"/>
            <a:chOff x="685800" y="4457700"/>
            <a:chExt cx="10820400" cy="1143000"/>
          </a:xfrm>
        </p:grpSpPr>
        <p:sp>
          <p:nvSpPr>
            <p:cNvPr id="24" name="Rectangle 24"/>
            <p:cNvSpPr/>
            <p:nvPr/>
          </p:nvSpPr>
          <p:spPr>
            <a:xfrm>
              <a:off x="685800" y="4457700"/>
              <a:ext cx="10820400" cy="1143000"/>
            </a:xfrm>
            <a:prstGeom prst="roundRect">
              <a:avLst>
                <a:gd name="adj" fmla="val 15000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3361" y="4679950"/>
              <a:ext cx="5904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固定随机种子 20261029 · 原图/1⁄4 分辨率 · 0/1% 像素和方块干扰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3742" y="5073650"/>
              <a:ext cx="47025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处理清单写入 样本清单表.xlsx；模型明细写入各模型目录</a:t>
              </a:r>
            </a:p>
          </p:txBody>
        </p:sp>
      </p:grpSp>
      <p:grpSp>
        <p:nvGrpSpPr>
          <p:cNvPr id="30" name="conclusion-data"/>
          <p:cNvGrpSpPr/>
          <p:nvPr/>
        </p:nvGrpSpPr>
        <p:grpSpPr>
          <a:xfrm>
            <a:off x="685800" y="5772150"/>
            <a:ext cx="10820400" cy="400050"/>
            <a:chOff x="685800" y="5772150"/>
            <a:chExt cx="10820400" cy="400050"/>
          </a:xfrm>
        </p:grpSpPr>
        <p:sp>
          <p:nvSpPr>
            <p:cNvPr id="28" name="Rectangle 28"/>
            <p:cNvSpPr/>
            <p:nvPr/>
          </p:nvSpPr>
          <p:spPr>
            <a:xfrm>
              <a:off x="685800" y="5772150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6973" y="5876925"/>
              <a:ext cx="44931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一句话结论：数据集提供真实标签，处理台制造可控干扰。</a:t>
              </a:r>
            </a:p>
          </p:txBody>
        </p:sp>
      </p:grpSp>
    </p:spTree>
    <p:extLst>
      <p:ext uri="{BB962C8B-B14F-4D97-AF65-F5344CB8AC3E}">
        <p14:creationId val="1503143454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4CD5AFE-1CC0-4BAA-A324-DC30A6AAAA4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先确认数据可靠，再进入模型实验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D1F0FE-E663-42AD-AB87-3FFE2D9BCF67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9B368B-0BDF-4FC9-A51F-4FA5DD2C8175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rPr>
              <a:t>数据质量与标注转换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23AC4D39-05B2-4AC7-87CC-8315181D4484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6673D6-50C6-4285-A531-4B9E48E4B907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质量检查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5746F9-F0CB-4360-87FB-F79F4ABE9B1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000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损坏图片和视频</a:t>
            </a:r>
          </a:p>
          <a:p>
            <a: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分辨率过小</a:t>
            </a:r>
          </a:p>
          <a:p>
            <a: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缺失标签</a:t>
            </a:r>
          </a:p>
          <a:p>
            <a: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重复文件</a:t>
            </a:r>
          </a:p>
          <a:p>
            <a: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训练集与测试集泄漏</a:t>
            </a:r>
          </a:p>
          <a:p>
            <a: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ZIP 内媒体是否完整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25D76C-1F36-4326-8529-7D9811A6A196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统一标注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DEA2CF-C352-40BF-B4D3-766BEB089620}"/>
              </a:ext>
            </a:extLst>
          </p:cNvPr>
          <p:cNvSpPr>
            <a:spLocks noGrp="1"/>
          </p:cNvSpPr>
          <p:nvPr/>
        </p:nvSpPr>
        <p:spPr>
          <a:xfrm>
            <a:off x="6191250" y="2209800"/>
            <a:ext cx="4476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VOC XML → unified_annotations.csv</a:t>
            </a:r>
          </a:p>
          <a:p>
            <a: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YOLO TXT → unified_annotations.csv</a:t>
            </a:r>
          </a:p>
          <a:p>
            <a: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COCO JSON → unified_annotations.csv</a:t>
            </a:r>
          </a:p>
          <a:p>
            <a: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关键点 JSON / CSV → 统一关键点字段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10D1F27-AF7A-467E-974B-AEB8D2DC44DC}"/>
              </a:ext>
            </a:extLst>
          </p:cNvPr>
          <p:cNvSpPr>
            <a:spLocks noGrp="1"/>
          </p:cNvSpPr>
          <p:nvPr/>
        </p:nvSpPr>
        <p:spPr>
          <a:xfrm>
            <a:off x="6191250" y="4248150"/>
            <a:ext cx="4476750" cy="800100"/>
          </a:xfrm>
          <a:prstGeom prst="roundRect">
            <a:avLst>
              <a:gd name="adj" fmla="val 14286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CD0DB8-34C6-426E-8998-E585EF4E7FCD}"/>
              </a:ext>
            </a:extLst>
          </p:cNvPr>
          <p:cNvSpPr>
            <a:spLocks noGrp="1"/>
          </p:cNvSpPr>
          <p:nvPr/>
        </p:nvSpPr>
        <p:spPr>
          <a:xfrm>
            <a:off x="6438900" y="4410075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输出：quality_report.csv</a:t>
            </a:r>
          </a:p>
          <a:p>
            <a: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unified_annotations.csv</a:t>
            </a:r>
          </a:p>
          <a:p>
            <a: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label_registry sheet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A8E156-CF83-4A8D-B41E-EEF1756ECE12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00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质量报告和标注转换结果与原始数据分开保存，便于追溯。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C947391F-1B88-41FF-B13C-2E84CE7FC22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599140-D8E2-49BE-9383-578F28F08120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数据质量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80B233-1FF3-4165-8ED0-05A4DDAE16DB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632449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C0D29A4D-060C-4FDC-AE23-FBF131A34E4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程序把原始媒体变成可重复实验条件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8FF659-42A5-4661-B7B2-08F1827A7B5E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2AFFB7-9932-4637-AD82-6D1A7E2A8518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rPr>
              <a:t>数据预处理流程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E7BDC934-6CF5-4873-95D4-5CD357B850DE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3DF7C33-4B42-4618-A129-6C5A779CFC9B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285167-B1C5-4E52-AC70-2F8CD4909D57}"/>
              </a:ext>
            </a:extLst>
          </p:cNvPr>
          <p:cNvSpPr>
            <a:spLocks noGrp="1"/>
          </p:cNvSpPr>
          <p:nvPr/>
        </p:nvSpPr>
        <p:spPr>
          <a:xfrm>
            <a:off x="80010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9EF10D-97D2-4D30-BA15-AD5552C8A2EF}"/>
              </a:ext>
            </a:extLst>
          </p:cNvPr>
          <p:cNvSpPr>
            <a:spLocks noGrp="1"/>
          </p:cNvSpPr>
          <p:nvPr/>
        </p:nvSpPr>
        <p:spPr>
          <a:xfrm>
            <a:off x="80010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扫描媒体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4CBCFECA-AA02-47ED-8757-08EC0C0C166E}"/>
              </a:ext>
            </a:extLst>
          </p:cNvPr>
          <p:cNvSpPr>
            <a:spLocks noGrp="1"/>
          </p:cNvSpPr>
          <p:nvPr/>
        </p:nvSpPr>
        <p:spPr>
          <a:xfrm>
            <a:off x="180975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A7A54E2-9A0B-498A-999C-B59327A3F301}"/>
              </a:ext>
            </a:extLst>
          </p:cNvPr>
          <p:cNvSpPr>
            <a:spLocks noGrp="1"/>
          </p:cNvSpPr>
          <p:nvPr/>
        </p:nvSpPr>
        <p:spPr>
          <a:xfrm>
            <a:off x="203835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47D084-0815-4FC5-9C25-2897742B7E63}"/>
              </a:ext>
            </a:extLst>
          </p:cNvPr>
          <p:cNvSpPr>
            <a:spLocks noGrp="1"/>
          </p:cNvSpPr>
          <p:nvPr/>
        </p:nvSpPr>
        <p:spPr>
          <a:xfrm>
            <a:off x="215265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19090B-728B-45B0-92A1-DA8201A7DAFC}"/>
              </a:ext>
            </a:extLst>
          </p:cNvPr>
          <p:cNvSpPr>
            <a:spLocks noGrp="1"/>
          </p:cNvSpPr>
          <p:nvPr/>
        </p:nvSpPr>
        <p:spPr>
          <a:xfrm>
            <a:off x="215265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图片/视频分类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BE0176EA-242B-45E9-BF5C-F92606CF4918}"/>
              </a:ext>
            </a:extLst>
          </p:cNvPr>
          <p:cNvSpPr>
            <a:spLocks noGrp="1"/>
          </p:cNvSpPr>
          <p:nvPr/>
        </p:nvSpPr>
        <p:spPr>
          <a:xfrm>
            <a:off x="316230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E1AEA1-A242-4C69-B8EE-F17A33108AE9}"/>
              </a:ext>
            </a:extLst>
          </p:cNvPr>
          <p:cNvSpPr>
            <a:spLocks noGrp="1"/>
          </p:cNvSpPr>
          <p:nvPr/>
        </p:nvSpPr>
        <p:spPr>
          <a:xfrm>
            <a:off x="339090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F1661F-D982-4781-89AE-C574FD156095}"/>
              </a:ext>
            </a:extLst>
          </p:cNvPr>
          <p:cNvSpPr>
            <a:spLocks noGrp="1"/>
          </p:cNvSpPr>
          <p:nvPr/>
        </p:nvSpPr>
        <p:spPr>
          <a:xfrm>
            <a:off x="350520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9D5E56-B142-45F5-833A-ED576954592F}"/>
              </a:ext>
            </a:extLst>
          </p:cNvPr>
          <p:cNvSpPr>
            <a:spLocks noGrp="1"/>
          </p:cNvSpPr>
          <p:nvPr/>
        </p:nvSpPr>
        <p:spPr>
          <a:xfrm>
            <a:off x="350520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标签与标注整理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09D6F55C-83D9-41B2-8EEC-1811A57686A3}"/>
              </a:ext>
            </a:extLst>
          </p:cNvPr>
          <p:cNvSpPr>
            <a:spLocks noGrp="1"/>
          </p:cNvSpPr>
          <p:nvPr/>
        </p:nvSpPr>
        <p:spPr>
          <a:xfrm>
            <a:off x="451485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F5C29AB-84C0-4FB0-8209-E53B6C67E7B3}"/>
              </a:ext>
            </a:extLst>
          </p:cNvPr>
          <p:cNvSpPr>
            <a:spLocks noGrp="1"/>
          </p:cNvSpPr>
          <p:nvPr/>
        </p:nvSpPr>
        <p:spPr>
          <a:xfrm>
            <a:off x="474345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F22ADF-C563-45AD-9D9E-B7D5F98CE655}"/>
              </a:ext>
            </a:extLst>
          </p:cNvPr>
          <p:cNvSpPr>
            <a:spLocks noGrp="1"/>
          </p:cNvSpPr>
          <p:nvPr/>
        </p:nvSpPr>
        <p:spPr>
          <a:xfrm>
            <a:off x="485775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A9DFA5-80EC-43AE-B3EF-83AF215FBCEF}"/>
              </a:ext>
            </a:extLst>
          </p:cNvPr>
          <p:cNvSpPr>
            <a:spLocks noGrp="1"/>
          </p:cNvSpPr>
          <p:nvPr/>
        </p:nvSpPr>
        <p:spPr>
          <a:xfrm>
            <a:off x="485775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抽样或手选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E7ABE597-CA4F-4BB3-A3CB-E6E6E735F6F9}"/>
              </a:ext>
            </a:extLst>
          </p:cNvPr>
          <p:cNvSpPr>
            <a:spLocks noGrp="1"/>
          </p:cNvSpPr>
          <p:nvPr/>
        </p:nvSpPr>
        <p:spPr>
          <a:xfrm>
            <a:off x="586740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3DE795-F433-455A-81E1-A0606A8BFAF0}"/>
              </a:ext>
            </a:extLst>
          </p:cNvPr>
          <p:cNvSpPr>
            <a:spLocks noGrp="1"/>
          </p:cNvSpPr>
          <p:nvPr/>
        </p:nvSpPr>
        <p:spPr>
          <a:xfrm>
            <a:off x="609600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D5E2616-DAD8-435B-90A8-0798FB75E518}"/>
              </a:ext>
            </a:extLst>
          </p:cNvPr>
          <p:cNvSpPr>
            <a:spLocks noGrp="1"/>
          </p:cNvSpPr>
          <p:nvPr/>
        </p:nvSpPr>
        <p:spPr>
          <a:xfrm>
            <a:off x="621030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01DBE4-E1F4-48C3-B0CF-57938A72ADC4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分辨率缩放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8623D653-CBFE-4671-8AB8-C374A2E76FD5}"/>
              </a:ext>
            </a:extLst>
          </p:cNvPr>
          <p:cNvSpPr>
            <a:spLocks noGrp="1"/>
          </p:cNvSpPr>
          <p:nvPr/>
        </p:nvSpPr>
        <p:spPr>
          <a:xfrm>
            <a:off x="721995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E086072-FD02-441F-AAEF-CF73A12D2BA2}"/>
              </a:ext>
            </a:extLst>
          </p:cNvPr>
          <p:cNvSpPr>
            <a:spLocks noGrp="1"/>
          </p:cNvSpPr>
          <p:nvPr/>
        </p:nvSpPr>
        <p:spPr>
          <a:xfrm>
            <a:off x="744855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7F425F-A195-417F-8F5C-C7CDC736BCEA}"/>
              </a:ext>
            </a:extLst>
          </p:cNvPr>
          <p:cNvSpPr>
            <a:spLocks noGrp="1"/>
          </p:cNvSpPr>
          <p:nvPr/>
        </p:nvSpPr>
        <p:spPr>
          <a:xfrm>
            <a:off x="756285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FD8839-B4DC-4F51-8FE9-E0E53440E010}"/>
              </a:ext>
            </a:extLst>
          </p:cNvPr>
          <p:cNvSpPr>
            <a:spLocks noGrp="1"/>
          </p:cNvSpPr>
          <p:nvPr/>
        </p:nvSpPr>
        <p:spPr>
          <a:xfrm>
            <a:off x="756285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遮挡与隐私处理</a:t>
            </a:r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D1D9BF6A-083D-4BBA-9E45-F3B24A96591B}"/>
              </a:ext>
            </a:extLst>
          </p:cNvPr>
          <p:cNvSpPr>
            <a:spLocks noGrp="1"/>
          </p:cNvSpPr>
          <p:nvPr/>
        </p:nvSpPr>
        <p:spPr>
          <a:xfrm>
            <a:off x="857250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9E922A7-7870-4289-8F43-28598F1486CF}"/>
              </a:ext>
            </a:extLst>
          </p:cNvPr>
          <p:cNvSpPr>
            <a:spLocks noGrp="1"/>
          </p:cNvSpPr>
          <p:nvPr/>
        </p:nvSpPr>
        <p:spPr>
          <a:xfrm>
            <a:off x="880110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85EE65-53B4-48BD-A5AE-F4DC18BCEBE7}"/>
              </a:ext>
            </a:extLst>
          </p:cNvPr>
          <p:cNvSpPr>
            <a:spLocks noGrp="1"/>
          </p:cNvSpPr>
          <p:nvPr/>
        </p:nvSpPr>
        <p:spPr>
          <a:xfrm>
            <a:off x="891540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E9F13D2-2107-408B-A447-2D8BA5F38DA4}"/>
              </a:ext>
            </a:extLst>
          </p:cNvPr>
          <p:cNvSpPr>
            <a:spLocks noGrp="1"/>
          </p:cNvSpPr>
          <p:nvPr/>
        </p:nvSpPr>
        <p:spPr>
          <a:xfrm>
            <a:off x="891540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人物聚焦与跟踪</a:t>
            </a: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5C36743C-0B4A-4969-94A8-C44095E35AEB}"/>
              </a:ext>
            </a:extLst>
          </p:cNvPr>
          <p:cNvSpPr>
            <a:spLocks noGrp="1"/>
          </p:cNvSpPr>
          <p:nvPr/>
        </p:nvSpPr>
        <p:spPr>
          <a:xfrm>
            <a:off x="992505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6E4192D-43D7-4919-A035-8C44BE0F130A}"/>
              </a:ext>
            </a:extLst>
          </p:cNvPr>
          <p:cNvSpPr>
            <a:spLocks noGrp="1"/>
          </p:cNvSpPr>
          <p:nvPr/>
        </p:nvSpPr>
        <p:spPr>
          <a:xfrm>
            <a:off x="1015365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D7AA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C763333-BBAE-43F7-BF12-73A4ED9869D9}"/>
              </a:ext>
            </a:extLst>
          </p:cNvPr>
          <p:cNvSpPr>
            <a:spLocks noGrp="1"/>
          </p:cNvSpPr>
          <p:nvPr/>
        </p:nvSpPr>
        <p:spPr>
          <a:xfrm>
            <a:off x="1026795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B6FAA25-9868-4F43-8A44-C8F6347D240B}"/>
              </a:ext>
            </a:extLst>
          </p:cNvPr>
          <p:cNvSpPr>
            <a:spLocks noGrp="1"/>
          </p:cNvSpPr>
          <p:nvPr/>
        </p:nvSpPr>
        <p:spPr>
          <a:xfrm>
            <a:off x="1026795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模型评估与导出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54A3517-3F6A-4F8A-B18B-62B854A97B68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输出不只是处理后的媒体，还包括实验配置、断点记录、哈希和统计报告。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BA2ABCC-D48F-4067-8A50-7438EDE36869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同一数据、同一参数、同一随机种子，可以重新得到同一组实验条件。</a:t>
            </a:r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CA45E148-A142-4820-9E10-F5431F1AAF9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4D55B75-141F-46AE-AB1B-B41DA7E5A4B7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流程概览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53FFF53-D45A-4E0D-8DFF-5CDFB870FD73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409599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C30A69CA-B479-479B-8483-52B70C2DCE5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用比例控制远距离视角的视觉信息量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7ECB72-38F7-4D71-BD27-39656C45EEB6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88DFDF-AE51-4DD0-9965-13F2885AB70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分辨率退化实验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24E4CA3-EC44-4807-9A5B-92934C723364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D20DB4-B151-4C8F-801E-DD7DF334DB97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571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程序支持把原图缩放到多个比例，再选择是否恢复到目标尺寸。实验比较图像质量和人物分析性能的变化。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3723D-37DB-422F-932B-D6190C55E3F0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1333500" cy="1809750"/>
          </a:xfrm>
          <a:prstGeom prst="rect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55B43E-8D23-4368-A409-A60656BEBBE2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原图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946A3305-4535-4416-9FAF-6EDF09B9E3FB}"/>
              </a:ext>
            </a:extLst>
          </p:cNvPr>
          <p:cNvSpPr>
            <a:spLocks noGrp="1"/>
          </p:cNvSpPr>
          <p:nvPr/>
        </p:nvSpPr>
        <p:spPr>
          <a:xfrm>
            <a:off x="2076450" y="4191000"/>
            <a:ext cx="2857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55593F-B38C-4AAD-8DA5-B3341F5011B5}"/>
              </a:ext>
            </a:extLst>
          </p:cNvPr>
          <p:cNvSpPr>
            <a:spLocks noGrp="1"/>
          </p:cNvSpPr>
          <p:nvPr/>
        </p:nvSpPr>
        <p:spPr>
          <a:xfrm>
            <a:off x="2476500" y="3333750"/>
            <a:ext cx="1333500" cy="1428750"/>
          </a:xfrm>
          <a:prstGeom prst="rect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F0DD59-EC17-4427-B484-A09E9C7E9374}"/>
              </a:ext>
            </a:extLst>
          </p:cNvPr>
          <p:cNvSpPr>
            <a:spLocks noGrp="1"/>
          </p:cNvSpPr>
          <p:nvPr/>
        </p:nvSpPr>
        <p:spPr>
          <a:xfrm>
            <a:off x="2476500" y="49530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1/2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EF5FB965-5388-4533-8208-5DF29B712BE9}"/>
              </a:ext>
            </a:extLst>
          </p:cNvPr>
          <p:cNvSpPr>
            <a:spLocks noGrp="1"/>
          </p:cNvSpPr>
          <p:nvPr/>
        </p:nvSpPr>
        <p:spPr>
          <a:xfrm>
            <a:off x="3867150" y="4191000"/>
            <a:ext cx="2857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D2D713-D1BF-4991-9789-A0521E1CAD8E}"/>
              </a:ext>
            </a:extLst>
          </p:cNvPr>
          <p:cNvSpPr>
            <a:spLocks noGrp="1"/>
          </p:cNvSpPr>
          <p:nvPr/>
        </p:nvSpPr>
        <p:spPr>
          <a:xfrm>
            <a:off x="4267200" y="3714750"/>
            <a:ext cx="1333500" cy="1047750"/>
          </a:xfrm>
          <a:prstGeom prst="rect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94B7F3-11D4-4412-A5D6-0BFF5BAF68F4}"/>
              </a:ext>
            </a:extLst>
          </p:cNvPr>
          <p:cNvSpPr>
            <a:spLocks noGrp="1"/>
          </p:cNvSpPr>
          <p:nvPr/>
        </p:nvSpPr>
        <p:spPr>
          <a:xfrm>
            <a:off x="4267200" y="49530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1/4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65E5BE3F-A6B1-4CE4-ADE0-CF295E4576CF}"/>
              </a:ext>
            </a:extLst>
          </p:cNvPr>
          <p:cNvSpPr>
            <a:spLocks noGrp="1"/>
          </p:cNvSpPr>
          <p:nvPr/>
        </p:nvSpPr>
        <p:spPr>
          <a:xfrm>
            <a:off x="5657850" y="4191000"/>
            <a:ext cx="2857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E95B91-1C06-48AC-B9DE-BA4CBC3E040A}"/>
              </a:ext>
            </a:extLst>
          </p:cNvPr>
          <p:cNvSpPr>
            <a:spLocks noGrp="1"/>
          </p:cNvSpPr>
          <p:nvPr/>
        </p:nvSpPr>
        <p:spPr>
          <a:xfrm>
            <a:off x="6057900" y="4095750"/>
            <a:ext cx="1333500" cy="666750"/>
          </a:xfrm>
          <a:prstGeom prst="rect">
            <a:avLst/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E9D10D-1149-47F4-84F0-79954B93171F}"/>
              </a:ext>
            </a:extLst>
          </p:cNvPr>
          <p:cNvSpPr>
            <a:spLocks noGrp="1"/>
          </p:cNvSpPr>
          <p:nvPr/>
        </p:nvSpPr>
        <p:spPr>
          <a:xfrm>
            <a:off x="6057900" y="49530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1/8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ABD46AE-2A79-4F43-A062-6DB78CAC8E13}"/>
              </a:ext>
            </a:extLst>
          </p:cNvPr>
          <p:cNvSpPr>
            <a:spLocks noGrp="1"/>
          </p:cNvSpPr>
          <p:nvPr/>
        </p:nvSpPr>
        <p:spPr>
          <a:xfrm>
            <a:off x="7448550" y="4191000"/>
            <a:ext cx="2857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8B2F81-F0FC-4D77-985A-6187D90E1379}"/>
              </a:ext>
            </a:extLst>
          </p:cNvPr>
          <p:cNvSpPr>
            <a:spLocks noGrp="1"/>
          </p:cNvSpPr>
          <p:nvPr/>
        </p:nvSpPr>
        <p:spPr>
          <a:xfrm>
            <a:off x="7848600" y="3333750"/>
            <a:ext cx="1333500" cy="1428750"/>
          </a:xfrm>
          <a:prstGeom prst="rect">
            <a:avLst/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E94EF9-5443-4AAF-BB9C-D143DFB42F69}"/>
              </a:ext>
            </a:extLst>
          </p:cNvPr>
          <p:cNvSpPr>
            <a:spLocks noGrp="1"/>
          </p:cNvSpPr>
          <p:nvPr/>
        </p:nvSpPr>
        <p:spPr>
          <a:xfrm>
            <a:off x="7848600" y="49530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恢复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F1AB2C-1247-4888-AB53-BE93B5FE6C12}"/>
              </a:ext>
            </a:extLst>
          </p:cNvPr>
          <p:cNvSpPr>
            <a:spLocks noGrp="1"/>
          </p:cNvSpPr>
          <p:nvPr/>
        </p:nvSpPr>
        <p:spPr>
          <a:xfrm>
            <a:off x="9525000" y="2381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实验记录字段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B031B7-056F-43DB-97A4-9788B1E03778}"/>
              </a:ext>
            </a:extLst>
          </p:cNvPr>
          <p:cNvSpPr>
            <a:spLocks noGrp="1"/>
          </p:cNvSpPr>
          <p:nvPr/>
        </p:nvSpPr>
        <p:spPr>
          <a:xfrm>
            <a:off x="9525000" y="2743200"/>
            <a:ext cx="1809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整体分辨率</a:t>
            </a:r>
          </a:p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人物目标大小</a:t>
            </a:r>
          </a:p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人脸区域大小</a:t>
            </a:r>
          </a:p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缩放比例</a:t>
            </a:r>
          </a:p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恢复方式</a:t>
            </a:r>
          </a:p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处理前后文件大小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CCEB9C3-08E3-4CD9-BAE2-3859D60B213B}"/>
              </a:ext>
            </a:extLst>
          </p:cNvPr>
          <p:cNvSpPr>
            <a:spLocks noGrp="1"/>
          </p:cNvSpPr>
          <p:nvPr/>
        </p:nvSpPr>
        <p:spPr>
          <a:xfrm>
            <a:off x="7048500" y="5410200"/>
            <a:ext cx="4476750" cy="590550"/>
          </a:xfrm>
          <a:prstGeom prst="roundRect">
            <a:avLst>
              <a:gd name="adj" fmla="val 19355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51CFBF-A5A7-417B-9398-BEE653FDAC97}"/>
              </a:ext>
            </a:extLst>
          </p:cNvPr>
          <p:cNvSpPr>
            <a:spLocks noGrp="1"/>
          </p:cNvSpPr>
          <p:nvPr/>
        </p:nvSpPr>
        <p:spPr>
          <a:xfrm>
            <a:off x="7239000" y="55626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恢复分辨率改善尺寸，不等于恢复已经丢失的真实信息。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204CBCF5-6316-42F4-901D-32EFBDC6627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276A21B-64F4-492A-BF7B-4C4AF8F4D1C0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577EA9-8068-4EE9-8F76-464565DA663C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7334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9D1524D5-AB31-4C12-91ED-C01139EC23F9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42C5ECFE-44A8-49F0-9581-5FFF72DF3D7A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3" name="矩形 2">
            <a:extLst>
              <a:ext uri="{FF2B5EF4-FFF2-40B4-BE49-F238E27FC236}">
                <ns2:creationId id="{A998C4A3-AB64-4A76-AA8C-6193C6672DD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低分辨率表情识别：FSR-FER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40E1381F-AB0B-4BAA-A41D-610FF5A33F83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F85CB403-121D-4C50-B076-CD53DC14F080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低分辨率输入在 x2-x8 下逐渐丢失表情特征；特征超分辨率可以直接改善识别特征。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D33FEDDF-DE0D-4E32-9DAC-593373296E5C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B1B8212A-C621-4AC6-9470-955C18792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54175" y="2667000"/>
            <a:ext cx="3778250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685925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p.2 · 重点：低清丢细节</a:t>
            </a:r>
          </a:p>
        </p:txBody>
      </p:sp>
      <p:sp>
        <p:nvSpPr>
          <p:cNvPr id="9" name="矩形 8">
            <a:extLst>
              <a:ext uri="{FF2B5EF4-FFF2-40B4-BE49-F238E27FC236}">
                <ns2:creationId id="{BDE46485-D6DF-4DA4-85E8-5A1F5E038E5A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Jing et al., Feature Super-Resolution Based Facial Expression Recognition, arXiv:2004.02234v1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1DF96BAB-33C0-443A-AE11-3A89284DAB79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数据与退化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226B480A-C769-433A-AEB4-1771E6A21BBB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RAF-DB，统一到 100×100；Bicubic x2-x8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49A954F3-2815-455B-9EBD-44256B9414B2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基线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16446A05-595D-4331-8746-9719C919E46F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Bicubic、RCAN、Meta-SR 与 FSR-FER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55B9D325-E174-4734-95FD-1310B9A3B492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核心指标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2646E64C-5400-4103-B3A8-ECECA435D86B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各下采样尺度的 Total Accuracy 与平均准确率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835F0813-75BB-4644-AF47-8763285EBC26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主要结果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CF2DF223-9AA5-4BD0-9584-6D7A341F3832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x5/x8 下 FSR-FER 比直接放大更稳定；论文没有做真实遮挡实验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9275BB5A-F4E1-415E-99C3-DF2167A9C987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低分辨率越严重，表情细节丢得越多；放大不等于恢复真实细节。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3A2C31C1-BE07-4F43-B759-6CD782A808E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503CF57D-507B-4574-ADF2-21A3EBBAE88A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05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1B6B67F8-A8D4-47BE-8102-A6D4A0CEC3E8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17295634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3DCC7F04-6D21-4BC7-9531-50E442459924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503A45-C53E-4711-9DC9-55FDECB496BD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9E7965-F789-4128-B98C-C310EAAE0D4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多尺度低分辨率表情识别：期刊扩展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5BD83F5-1360-4552-9155-BCF03FA002DF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5F48FF-0B96-4A3A-BEDB-144B85B85AAB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期刊版在 RAF-DB 和 SFEW 2.0 上验证一个模型覆盖多尺度输入，并用特征距离观察恢复效果。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FE1D186-799E-4613-B81A-C1691CEC01DC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2AC266-AB5B-469A-86C5-314D0C492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43063" y="2667000"/>
            <a:ext cx="3800475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79384E52-589C-4172-979C-AB9B95E84863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16192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PDF p.2 多尺度人脸与特征距离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D0CDC6-DE88-45C5-85D6-8BE3A8780109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Nan et al., Feature Super Resolution Based Facial Expression Recognition for Multi-scale Low Resolution Images, Knowledge-Based Systems 236 (2022) 107678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46A737-9CD3-4336-AA28-A2366EC01211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AA565C-C017-4312-A33F-8944AC5CADB1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RAF-DB、SFEW 2.0，静态表情图像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724376-D1AE-4D3D-92FD-9885CA289963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处理方式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504EAA-0F66-490C-9404-510E4A2C7E75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100×100 输入，Bicubic x2-x8；没有真实遮挡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084B20-AE93-494C-A9B4-4D464177E565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比较方法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2BF66-7F73-4A21-B90D-B5B3BA3E2506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FSR-FER、RCAN、Meta-SR、Bicubic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3CF068-68D1-47FD-B5EB-44872BF471BB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主要结果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4F5AF4-74BB-4551-8C18-12A0CE775C9E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FSR-FER 在较低尺度更稳定，示例 Total Accuracy 达 74.637%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A15E70D-9527-4768-B039-CE0879D37DB3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5576DD-6FBD-4BCB-A8E9-269278790CAE}"/>
              </a:ext>
            </a:extLst>
          </p:cNvPr>
          <p:cNvSpPr>
            <a:spLocks noGrp="1"/>
          </p:cNvSpPr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对本课题的直接启发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AF6B50-5308-4F52-B2CA-C05C83D30D25}"/>
              </a:ext>
            </a:extLst>
          </p:cNvPr>
          <p:cNvSpPr>
            <a:spLocks noGrp="1"/>
          </p:cNvSpPr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在学生行为数据上补充跨数据集验证，并把特征距离或可视化作为性能曲线的辅助证据。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0F55430A-E2FB-4FFA-B1D8-149FBD932BD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459B2DB-1943-49CB-AE0D-6FDC6A9A3E5E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06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DDF1BA-8A1C-4F4F-837E-CDA1D1603085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220639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055A3D62-AA54-4635-8966-2FD7AAF0E7A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从简单噪声逐步接近课堂中的真实遮挡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22551E-5255-4781-A922-D7424D97D4D5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61B11C-48B5-4CE6-9F77-A49A663B9AD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遮挡与隐私处理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5DDF8C36-BE26-4C62-B56C-1695FAAD5A8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90D6AAD-3172-4F1A-8F84-644F675CEEA9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428750" cy="1409700"/>
          </a:xfrm>
          <a:prstGeom prst="roundRect">
            <a:avLst>
              <a:gd name="adj" fmla="val 10811"/>
            </a:avLst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FDF94D-F9BA-4482-B043-4B9DD35B6B16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895350" cy="457200"/>
          </a:xfrm>
          <a:prstGeom prst="rect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15DF273-0E42-4033-96A2-05E169E38A48}"/>
              </a:ext>
            </a:extLst>
          </p:cNvPr>
          <p:cNvSpPr>
            <a:spLocks noGrp="1"/>
          </p:cNvSpPr>
          <p:nvPr/>
        </p:nvSpPr>
        <p:spPr>
          <a:xfrm>
            <a:off x="1009650" y="2324100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E4FCFBA-6391-47D6-8BAA-7730676B9DB1}"/>
              </a:ext>
            </a:extLst>
          </p:cNvPr>
          <p:cNvSpPr>
            <a:spLocks noGrp="1"/>
          </p:cNvSpPr>
          <p:nvPr/>
        </p:nvSpPr>
        <p:spPr>
          <a:xfrm>
            <a:off x="1171575" y="2324100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0F52B87-B14F-4D98-94F1-913FB99ED87F}"/>
              </a:ext>
            </a:extLst>
          </p:cNvPr>
          <p:cNvSpPr>
            <a:spLocks noGrp="1"/>
          </p:cNvSpPr>
          <p:nvPr/>
        </p:nvSpPr>
        <p:spPr>
          <a:xfrm>
            <a:off x="1333500" y="2324100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054A867-454E-4A94-8593-D5B8BB8515A0}"/>
              </a:ext>
            </a:extLst>
          </p:cNvPr>
          <p:cNvSpPr>
            <a:spLocks noGrp="1"/>
          </p:cNvSpPr>
          <p:nvPr/>
        </p:nvSpPr>
        <p:spPr>
          <a:xfrm>
            <a:off x="1495425" y="2324100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655B05D-44FC-4FE7-83F0-C20A00CB943D}"/>
              </a:ext>
            </a:extLst>
          </p:cNvPr>
          <p:cNvSpPr>
            <a:spLocks noGrp="1"/>
          </p:cNvSpPr>
          <p:nvPr/>
        </p:nvSpPr>
        <p:spPr>
          <a:xfrm>
            <a:off x="1657350" y="2324100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31763D5-CA2C-473A-8C6F-3F0E52D57B10}"/>
              </a:ext>
            </a:extLst>
          </p:cNvPr>
          <p:cNvSpPr>
            <a:spLocks noGrp="1"/>
          </p:cNvSpPr>
          <p:nvPr/>
        </p:nvSpPr>
        <p:spPr>
          <a:xfrm>
            <a:off x="1009650" y="2486025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0B1FC26-6DE0-4BEA-B8C5-431664A5CF96}"/>
              </a:ext>
            </a:extLst>
          </p:cNvPr>
          <p:cNvSpPr>
            <a:spLocks noGrp="1"/>
          </p:cNvSpPr>
          <p:nvPr/>
        </p:nvSpPr>
        <p:spPr>
          <a:xfrm>
            <a:off x="1171575" y="2486025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AE59C77-0874-443F-8138-3DA86FE707B5}"/>
              </a:ext>
            </a:extLst>
          </p:cNvPr>
          <p:cNvSpPr>
            <a:spLocks noGrp="1"/>
          </p:cNvSpPr>
          <p:nvPr/>
        </p:nvSpPr>
        <p:spPr>
          <a:xfrm>
            <a:off x="1333500" y="2486025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E2B676C-EECB-4DC2-8615-B0C2BF07F1D4}"/>
              </a:ext>
            </a:extLst>
          </p:cNvPr>
          <p:cNvSpPr>
            <a:spLocks noGrp="1"/>
          </p:cNvSpPr>
          <p:nvPr/>
        </p:nvSpPr>
        <p:spPr>
          <a:xfrm>
            <a:off x="1495425" y="2486025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6E6C5B3-FC83-4A38-8D03-838932CB69F8}"/>
              </a:ext>
            </a:extLst>
          </p:cNvPr>
          <p:cNvSpPr>
            <a:spLocks noGrp="1"/>
          </p:cNvSpPr>
          <p:nvPr/>
        </p:nvSpPr>
        <p:spPr>
          <a:xfrm>
            <a:off x="1657350" y="2486025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C38346-499D-4630-85FF-B910BFFFB360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黑色像素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95ECEC-EADC-42C9-8442-615189DF20EA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随机小点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3DB553-769B-4E28-BE54-6AA3CF344BD9}"/>
              </a:ext>
            </a:extLst>
          </p:cNvPr>
          <p:cNvSpPr>
            <a:spLocks noGrp="1"/>
          </p:cNvSpPr>
          <p:nvPr/>
        </p:nvSpPr>
        <p:spPr>
          <a:xfrm>
            <a:off x="2352675" y="1905000"/>
            <a:ext cx="1428750" cy="1409700"/>
          </a:xfrm>
          <a:prstGeom prst="roundRect">
            <a:avLst>
              <a:gd name="adj" fmla="val 10811"/>
            </a:avLst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BC17F99-FFFE-42E7-B25A-9514ED2A1BA6}"/>
              </a:ext>
            </a:extLst>
          </p:cNvPr>
          <p:cNvSpPr>
            <a:spLocks noGrp="1"/>
          </p:cNvSpPr>
          <p:nvPr/>
        </p:nvSpPr>
        <p:spPr>
          <a:xfrm>
            <a:off x="2619375" y="2266950"/>
            <a:ext cx="895350" cy="457200"/>
          </a:xfrm>
          <a:prstGeom prst="rect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7E2239-C175-4198-9264-C55404C55B08}"/>
              </a:ext>
            </a:extLst>
          </p:cNvPr>
          <p:cNvSpPr>
            <a:spLocks noGrp="1"/>
          </p:cNvSpPr>
          <p:nvPr/>
        </p:nvSpPr>
        <p:spPr>
          <a:xfrm>
            <a:off x="2847975" y="234315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A53674-ABC4-4CA6-97CE-C130C2F60286}"/>
              </a:ext>
            </a:extLst>
          </p:cNvPr>
          <p:cNvSpPr>
            <a:spLocks noGrp="1"/>
          </p:cNvSpPr>
          <p:nvPr/>
        </p:nvSpPr>
        <p:spPr>
          <a:xfrm>
            <a:off x="2447925" y="35242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黑色矩形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EC6518D-683B-4AD3-B7F6-F5E660FC5DFA}"/>
              </a:ext>
            </a:extLst>
          </p:cNvPr>
          <p:cNvSpPr>
            <a:spLocks noGrp="1"/>
          </p:cNvSpPr>
          <p:nvPr/>
        </p:nvSpPr>
        <p:spPr>
          <a:xfrm>
            <a:off x="2447925" y="38100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可控面积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E7938BF-864E-4A58-B09D-8506F93651D4}"/>
              </a:ext>
            </a:extLst>
          </p:cNvPr>
          <p:cNvSpPr>
            <a:spLocks noGrp="1"/>
          </p:cNvSpPr>
          <p:nvPr/>
        </p:nvSpPr>
        <p:spPr>
          <a:xfrm>
            <a:off x="4019550" y="1905000"/>
            <a:ext cx="1428750" cy="1409700"/>
          </a:xfrm>
          <a:prstGeom prst="roundRect">
            <a:avLst>
              <a:gd name="adj" fmla="val 10811"/>
            </a:avLst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82F9DFC-9B3F-466A-8F71-2E2E1A0A9AF9}"/>
              </a:ext>
            </a:extLst>
          </p:cNvPr>
          <p:cNvSpPr>
            <a:spLocks noGrp="1"/>
          </p:cNvSpPr>
          <p:nvPr/>
        </p:nvSpPr>
        <p:spPr>
          <a:xfrm>
            <a:off x="4286250" y="2266950"/>
            <a:ext cx="895350" cy="457200"/>
          </a:xfrm>
          <a:prstGeom prst="rect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094D451-2A06-4FE0-88C0-D414B4C33578}"/>
              </a:ext>
            </a:extLst>
          </p:cNvPr>
          <p:cNvSpPr>
            <a:spLocks noGrp="1"/>
          </p:cNvSpPr>
          <p:nvPr/>
        </p:nvSpPr>
        <p:spPr>
          <a:xfrm>
            <a:off x="4600575" y="2343150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071B4BE-2DEF-4E37-9128-7E751664C510}"/>
              </a:ext>
            </a:extLst>
          </p:cNvPr>
          <p:cNvSpPr>
            <a:spLocks noGrp="1"/>
          </p:cNvSpPr>
          <p:nvPr/>
        </p:nvSpPr>
        <p:spPr>
          <a:xfrm>
            <a:off x="4495800" y="2590800"/>
            <a:ext cx="4762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D9459F-870A-4E50-AB91-571C425315B8}"/>
              </a:ext>
            </a:extLst>
          </p:cNvPr>
          <p:cNvSpPr>
            <a:spLocks noGrp="1"/>
          </p:cNvSpPr>
          <p:nvPr/>
        </p:nvSpPr>
        <p:spPr>
          <a:xfrm>
            <a:off x="4114800" y="35242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脸部/关键点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8E4602C-9BE4-49E9-B259-CA381FD94093}"/>
              </a:ext>
            </a:extLst>
          </p:cNvPr>
          <p:cNvSpPr>
            <a:spLocks noGrp="1"/>
          </p:cNvSpPr>
          <p:nvPr/>
        </p:nvSpPr>
        <p:spPr>
          <a:xfrm>
            <a:off x="4114800" y="38100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结构化遮挡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DD931E9-47DC-430B-967B-0AC3889DC135}"/>
              </a:ext>
            </a:extLst>
          </p:cNvPr>
          <p:cNvSpPr>
            <a:spLocks noGrp="1"/>
          </p:cNvSpPr>
          <p:nvPr/>
        </p:nvSpPr>
        <p:spPr>
          <a:xfrm>
            <a:off x="5686425" y="1905000"/>
            <a:ext cx="1428750" cy="1409700"/>
          </a:xfrm>
          <a:prstGeom prst="roundRect">
            <a:avLst>
              <a:gd name="adj" fmla="val 10811"/>
            </a:avLst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93E698F-44AA-4E54-8ED9-9DDE4C120931}"/>
              </a:ext>
            </a:extLst>
          </p:cNvPr>
          <p:cNvSpPr>
            <a:spLocks noGrp="1"/>
          </p:cNvSpPr>
          <p:nvPr/>
        </p:nvSpPr>
        <p:spPr>
          <a:xfrm>
            <a:off x="5953125" y="2266950"/>
            <a:ext cx="895350" cy="457200"/>
          </a:xfrm>
          <a:prstGeom prst="rect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FF1F7DC-0AC3-4B21-AA90-7E12A975E35B}"/>
              </a:ext>
            </a:extLst>
          </p:cNvPr>
          <p:cNvSpPr>
            <a:spLocks noGrp="1"/>
          </p:cNvSpPr>
          <p:nvPr/>
        </p:nvSpPr>
        <p:spPr>
          <a:xfrm>
            <a:off x="6115050" y="2152650"/>
            <a:ext cx="514350" cy="685800"/>
          </a:xfrm>
          <a:prstGeom prst="rect">
            <a:avLst/>
          </a:prstGeom>
          <a:solidFill>
            <a:srgbClr val="89A49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3A46EE-EA23-4C46-8704-AD52F11574A7}"/>
              </a:ext>
            </a:extLst>
          </p:cNvPr>
          <p:cNvSpPr>
            <a:spLocks noGrp="1"/>
          </p:cNvSpPr>
          <p:nvPr/>
        </p:nvSpPr>
        <p:spPr>
          <a:xfrm>
            <a:off x="5781675" y="35242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前景学生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80D1FD-F517-48C4-A10F-957B06AEAC9A}"/>
              </a:ext>
            </a:extLst>
          </p:cNvPr>
          <p:cNvSpPr>
            <a:spLocks noGrp="1"/>
          </p:cNvSpPr>
          <p:nvPr/>
        </p:nvSpPr>
        <p:spPr>
          <a:xfrm>
            <a:off x="5781675" y="38100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模拟层级遮挡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04559D83-ED0E-4543-BA07-F2A608223C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56" r="10156"/>
          <a:stretch>
            <a:fillRect/>
          </a:stretch>
        </p:blipFill>
        <p:spPr>
          <a:xfrm>
            <a:off x="7810500" y="1905000"/>
            <a:ext cx="3238500" cy="2286000"/>
          </a:xfrm>
          <a:prstGeom prst="roundRect">
            <a:avLst>
              <a:gd name="adj" fmla="val 6667"/>
            </a:avLst>
          </a:prstGeom>
        </p:spPr>
      </p:pic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A62A6C6-F856-4A5C-872E-32BCD7906C09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1143000" cy="304800"/>
          </a:xfrm>
          <a:prstGeom prst="roundRect">
            <a:avLst>
              <a:gd name="adj" fmla="val 37500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视频帧样例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61ED95A-19A9-410E-9986-5DDB0153D20D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每次处理都记录：遮挡类型、面积、位置、是否真实遮挡、是否影响关键点。</a:t>
            </a:r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0C2DD1A0-7C94-423B-BE10-8A104B2C6B4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420D34-E56F-4284-81A3-90872A1FDAA2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D702FF6-7786-4544-BF38-724427FDF644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93205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B2DCE535-ACEA-4779-8D54-92E04B4EF6D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9FF78DC0-AE63-4D9E-8F71-F2739727A697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21</a:t>
            </a:r>
          </a:p>
        </p:txBody>
      </p:sp>
      <p:sp>
        <p:nvSpPr>
          <p:cNvPr id="3" name="矩形 2">
            <a:extLst>
              <a:ext uri="{FF2B5EF4-FFF2-40B4-BE49-F238E27FC236}">
                <ns2:creationId id="{4E85ECD6-E9EC-4190-BEA9-6276B56EEEF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显式遮挡推理：可见点与遮挡点分开建模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CD6E6522-5B53-4E0D-8301-DF4662F3550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03C67904-8D9C-4E43-A940-FC41BCE5B978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HUPOR 把可见关键点检测和被遮挡关键点推理分成两个步骤，减少多人遮挡下的错误骨架组装。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123C58AD-70BF-4E2B-858A-4990ED8C2043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6AFEF7A0-371E-4509-A843-F717B3AF1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3000" y="2667000"/>
            <a:ext cx="4800600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75260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p.2 · 重点：可见点/遮挡点</a:t>
            </a:r>
          </a:p>
        </p:txBody>
      </p:sp>
      <p:sp>
        <p:nvSpPr>
          <p:cNvPr id="9" name="矩形 8">
            <a:extLst>
              <a:ext uri="{FF2B5EF4-FFF2-40B4-BE49-F238E27FC236}">
                <ns2:creationId id="{1403CC4A-07B6-4946-AC4F-F917953DD659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Liu et al., Explicit Occlusion Reasoning for Multi-person 3D Human Pose Estimation, arXiv:2208.00090v1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D9EFD3C4-C9BD-48DF-ACC6-4C83BD4F7DE5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数据集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F501A6A9-6A1B-4801-97FD-1C6CA7AA4ADB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MuPoTS-3D、3DPW-OCC、CMU Panoptic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859D3EDC-29AF-4211-AE38-ADD59CB53C5E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标签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FD36AF05-BFF6-478E-8397-68A2524DA069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可见、被遮挡、截断；SSF 生成合成遮挡标签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2E73D6A6-9804-4005-BBA1-AF0BD69AA4D0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F9BD9D68-6C7D-4FB5-9B92-283F0A8993A9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HUPOR、DSED，先检测可见点，再推理遮挡点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4B562A04-8895-443C-A93B-4AF68A5FA8CE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指标与结果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AD28E62C-7FCC-440A-9FD8-1CAE82886573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PCKrel、PCKocc、MPJPE、Precision/Recall/F1；PCKrel 约提升 3.8 个百分点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915DA363-430D-4866-AEFC-87FAA0742ABE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可见关键点和被遮挡关键点要分开统计。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6454611C-FB14-423A-A3BA-55494A555C6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0D416C08-F415-4710-8CF6-83B1F9321DB6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07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E5B7AD41-8BC9-4841-B482-D7990AF54773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20778255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01A4B845-F288-49B9-9FEF-B64CFA2018D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从数据输入到实验报告的完整闭环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EBEE1C-319B-4584-95BA-6776AD7B83C2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5B7971-501A-4511-831B-D16322E6A00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程序功能地图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4DFD4C28-7EAC-463F-A62A-A0537AFDC63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0E6E2E5-2436-4181-B5AC-91D0BA00EC18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820400" cy="266700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8CD80B5-03F4-446C-B413-5EDDE245790D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685800" cy="685800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951A67-AB06-4C72-B4F0-D8BA76BD0E50}"/>
              </a:ext>
            </a:extLst>
          </p:cNvPr>
          <p:cNvSpPr>
            <a:spLocks noGrp="1"/>
          </p:cNvSpPr>
          <p:nvPr/>
        </p:nvSpPr>
        <p:spPr>
          <a:xfrm>
            <a:off x="1266825" y="24765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ECF43F-D7FF-4E73-B311-0E5E9E34AD23}"/>
              </a:ext>
            </a:extLst>
          </p:cNvPr>
          <p:cNvSpPr>
            <a:spLocks noGrp="1"/>
          </p:cNvSpPr>
          <p:nvPr/>
        </p:nvSpPr>
        <p:spPr>
          <a:xfrm>
            <a:off x="895350" y="3105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数据入口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FF468E-E4D0-47F4-B398-FF549E5AF8F5}"/>
              </a:ext>
            </a:extLst>
          </p:cNvPr>
          <p:cNvSpPr>
            <a:spLocks noGrp="1"/>
          </p:cNvSpPr>
          <p:nvPr/>
        </p:nvSpPr>
        <p:spPr>
          <a:xfrm>
            <a:off x="742950" y="3467100"/>
            <a:ext cx="1381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扫描文件夹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读取 ZIP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识别图片/视频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43601143-FD5A-45FA-BB87-2CE6B91276EB}"/>
              </a:ext>
            </a:extLst>
          </p:cNvPr>
          <p:cNvSpPr>
            <a:spLocks noGrp="1"/>
          </p:cNvSpPr>
          <p:nvPr/>
        </p:nvSpPr>
        <p:spPr>
          <a:xfrm>
            <a:off x="1790700" y="2609850"/>
            <a:ext cx="15430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ABA11B4-E00A-47AE-9641-539B79E19660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685800" cy="685800"/>
          </a:xfrm>
          <a:prstGeom prst="ellipse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83D9A5-FE48-4F36-9D51-A3A976CFDEB8}"/>
              </a:ext>
            </a:extLst>
          </p:cNvPr>
          <p:cNvSpPr>
            <a:spLocks noGrp="1"/>
          </p:cNvSpPr>
          <p:nvPr/>
        </p:nvSpPr>
        <p:spPr>
          <a:xfrm>
            <a:off x="3648075" y="24765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1D3958-0725-442D-B718-F03561657CC0}"/>
              </a:ext>
            </a:extLst>
          </p:cNvPr>
          <p:cNvSpPr>
            <a:spLocks noGrp="1"/>
          </p:cNvSpPr>
          <p:nvPr/>
        </p:nvSpPr>
        <p:spPr>
          <a:xfrm>
            <a:off x="3276600" y="3105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处理控制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8BA55F1-785A-437B-B1AD-AB9A67035D38}"/>
              </a:ext>
            </a:extLst>
          </p:cNvPr>
          <p:cNvSpPr>
            <a:spLocks noGrp="1"/>
          </p:cNvSpPr>
          <p:nvPr/>
        </p:nvSpPr>
        <p:spPr>
          <a:xfrm>
            <a:off x="3124200" y="3467100"/>
            <a:ext cx="1381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随机抽样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手动选择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自定义输出路径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948903ED-A662-4E43-B389-9ABE80CC7308}"/>
              </a:ext>
            </a:extLst>
          </p:cNvPr>
          <p:cNvSpPr>
            <a:spLocks noGrp="1"/>
          </p:cNvSpPr>
          <p:nvPr/>
        </p:nvSpPr>
        <p:spPr>
          <a:xfrm>
            <a:off x="4171950" y="2609850"/>
            <a:ext cx="15430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0E6EC98-8493-4B03-A6AC-EF1245ADD687}"/>
              </a:ext>
            </a:extLst>
          </p:cNvPr>
          <p:cNvSpPr>
            <a:spLocks noGrp="1"/>
          </p:cNvSpPr>
          <p:nvPr/>
        </p:nvSpPr>
        <p:spPr>
          <a:xfrm>
            <a:off x="5810250" y="2266950"/>
            <a:ext cx="685800" cy="685800"/>
          </a:xfrm>
          <a:prstGeom prst="ellipse">
            <a:avLst/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3DDD4B-0DC7-43B9-A8BF-59EB00CE6AD7}"/>
              </a:ext>
            </a:extLst>
          </p:cNvPr>
          <p:cNvSpPr>
            <a:spLocks noGrp="1"/>
          </p:cNvSpPr>
          <p:nvPr/>
        </p:nvSpPr>
        <p:spPr>
          <a:xfrm>
            <a:off x="6029325" y="24765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A6996D-8871-4E38-8CD1-1E2CBE0DDDD1}"/>
              </a:ext>
            </a:extLst>
          </p:cNvPr>
          <p:cNvSpPr>
            <a:spLocks noGrp="1"/>
          </p:cNvSpPr>
          <p:nvPr/>
        </p:nvSpPr>
        <p:spPr>
          <a:xfrm>
            <a:off x="5657850" y="3105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视觉处理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EAABC3-51AE-4D6E-982C-3F65EC76272E}"/>
              </a:ext>
            </a:extLst>
          </p:cNvPr>
          <p:cNvSpPr>
            <a:spLocks noGrp="1"/>
          </p:cNvSpPr>
          <p:nvPr/>
        </p:nvSpPr>
        <p:spPr>
          <a:xfrm>
            <a:off x="5505450" y="3467100"/>
            <a:ext cx="1381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缩放与恢复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噪声与遮挡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隐私保护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8B5C2F6F-5C2B-4C72-9220-389EAB7BC696}"/>
              </a:ext>
            </a:extLst>
          </p:cNvPr>
          <p:cNvSpPr>
            <a:spLocks noGrp="1"/>
          </p:cNvSpPr>
          <p:nvPr/>
        </p:nvSpPr>
        <p:spPr>
          <a:xfrm>
            <a:off x="6553200" y="2609850"/>
            <a:ext cx="15430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24D47F7-DFD0-4EF3-928D-12DE5F9263D6}"/>
              </a:ext>
            </a:extLst>
          </p:cNvPr>
          <p:cNvSpPr>
            <a:spLocks noGrp="1"/>
          </p:cNvSpPr>
          <p:nvPr/>
        </p:nvSpPr>
        <p:spPr>
          <a:xfrm>
            <a:off x="8191500" y="2266950"/>
            <a:ext cx="685800" cy="685800"/>
          </a:xfrm>
          <a:prstGeom prst="ellipse">
            <a:avLst/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7A25D7-51A1-486E-9289-9F8AB97741E6}"/>
              </a:ext>
            </a:extLst>
          </p:cNvPr>
          <p:cNvSpPr>
            <a:spLocks noGrp="1"/>
          </p:cNvSpPr>
          <p:nvPr/>
        </p:nvSpPr>
        <p:spPr>
          <a:xfrm>
            <a:off x="8410575" y="24765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335809F-E81A-4003-8B1A-99575FC40410}"/>
              </a:ext>
            </a:extLst>
          </p:cNvPr>
          <p:cNvSpPr>
            <a:spLocks noGrp="1"/>
          </p:cNvSpPr>
          <p:nvPr/>
        </p:nvSpPr>
        <p:spPr>
          <a:xfrm>
            <a:off x="8039100" y="3105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人物分析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3AD9FF-1457-44D2-83BA-B6E87374570E}"/>
              </a:ext>
            </a:extLst>
          </p:cNvPr>
          <p:cNvSpPr>
            <a:spLocks noGrp="1"/>
          </p:cNvSpPr>
          <p:nvPr/>
        </p:nvSpPr>
        <p:spPr>
          <a:xfrm>
            <a:off x="7886700" y="3467100"/>
            <a:ext cx="1381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ROI 聚焦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多人跟踪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person_id</a:t>
            </a:r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D475A302-F687-4AAF-BF57-3547F206279E}"/>
              </a:ext>
            </a:extLst>
          </p:cNvPr>
          <p:cNvSpPr>
            <a:spLocks noGrp="1"/>
          </p:cNvSpPr>
          <p:nvPr/>
        </p:nvSpPr>
        <p:spPr>
          <a:xfrm>
            <a:off x="8934450" y="2609850"/>
            <a:ext cx="10668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3B5D008-9801-4D05-B13F-A19C98D51CDF}"/>
              </a:ext>
            </a:extLst>
          </p:cNvPr>
          <p:cNvSpPr>
            <a:spLocks noGrp="1"/>
          </p:cNvSpPr>
          <p:nvPr/>
        </p:nvSpPr>
        <p:spPr>
          <a:xfrm>
            <a:off x="10096500" y="2266950"/>
            <a:ext cx="685800" cy="685800"/>
          </a:xfrm>
          <a:prstGeom prst="ellipse">
            <a:avLst/>
          </a:prstGeom>
          <a:solidFill>
            <a:srgbClr val="D7AA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F76008-9A13-4476-AA4A-13E5A81CE454}"/>
              </a:ext>
            </a:extLst>
          </p:cNvPr>
          <p:cNvSpPr>
            <a:spLocks noGrp="1"/>
          </p:cNvSpPr>
          <p:nvPr/>
        </p:nvSpPr>
        <p:spPr>
          <a:xfrm>
            <a:off x="10315575" y="24765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C182CA0-F0D3-4FF6-888B-73E30AC203F9}"/>
              </a:ext>
            </a:extLst>
          </p:cNvPr>
          <p:cNvSpPr>
            <a:spLocks noGrp="1"/>
          </p:cNvSpPr>
          <p:nvPr/>
        </p:nvSpPr>
        <p:spPr>
          <a:xfrm>
            <a:off x="9944100" y="3105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结果导出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4E283F-EE77-443E-9A2C-55D273EDC6A6}"/>
              </a:ext>
            </a:extLst>
          </p:cNvPr>
          <p:cNvSpPr>
            <a:spLocks noGrp="1"/>
          </p:cNvSpPr>
          <p:nvPr/>
        </p:nvSpPr>
        <p:spPr>
          <a:xfrm>
            <a:off x="9791700" y="3467100"/>
            <a:ext cx="1381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Excel / CSV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JSON / 报告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图表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AC8FF11-56D8-480C-A39B-7B02EE5D7A71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1009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程序价值：让“复杂场景”从主观描述变成可以重复、可以比较、可以导出的实验条件。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3114A57-69F0-464C-90AF-BAFD11EED88B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09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界面标签：数据概览  /  处理设置  /  结果与导出  /  汇报三表  /  多人跟踪  /  数据质量</a:t>
            </a: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67DA0729-446E-4BFC-A715-3F882784F57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62D5-2692-45E9-8A22-D668AC6A6F51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AB1A100-6ABF-4A17-B420-1A867E08CDE0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547298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E9059FB-0547-4C69-8F30-C5A4690EF0B5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连续视频中保持同一个人物身份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DC03B9-D7B3-429F-91E4-39BAA9145E94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rPr>
              <a:t>23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021562-A1F1-4404-B677-195895BC0048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rPr>
              <a:t>多人跟踪与人物聚焦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5D390A7-7B29-4E81-8BD5-74AE7E6A23FE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010BDC-1AAB-4F63-9A6A-3070B05A5F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" b="36"/>
          <a:stretch>
            <a:fillRect/>
          </a:stretch>
        </p:blipFill>
        <p:spPr>
          <a:xfrm>
            <a:off x="685800" y="1752600"/>
            <a:ext cx="5829300" cy="3276600"/>
          </a:xfrm>
          <a:prstGeom prst="roundRect">
            <a:avLst>
              <a:gd name="adj" fmla="val 4651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50C0875-163C-4289-B376-92059D1749A3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示意：固定一个人物 ID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94661F-16E2-44D8-8851-6303ABEC284B}"/>
              </a:ext>
            </a:extLst>
          </p:cNvPr>
          <p:cNvSpPr>
            <a:spLocks noGrp="1"/>
          </p:cNvSpPr>
          <p:nvPr/>
        </p:nvSpPr>
        <p:spPr>
          <a:xfrm>
            <a:off x="2038350" y="3695700"/>
            <a:ext cx="685800" cy="876300"/>
          </a:xfrm>
          <a:prstGeom prst="rect">
            <a:avLst/>
          </a:prstGeom>
          <a:noFill/>
          <a:ln w="28575">
            <a:solidFill>
              <a:srgbClr val="D27A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648A0F3-67C4-4F71-A7A0-30BDF1C8805E}"/>
              </a:ext>
            </a:extLst>
          </p:cNvPr>
          <p:cNvSpPr>
            <a:spLocks noGrp="1"/>
          </p:cNvSpPr>
          <p:nvPr/>
        </p:nvSpPr>
        <p:spPr>
          <a:xfrm>
            <a:off x="1962150" y="3371850"/>
            <a:ext cx="1066800" cy="304800"/>
          </a:xfrm>
          <a:prstGeom prst="roundRect">
            <a:avLst>
              <a:gd name="adj" fmla="val 37500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person_id=1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B40AEC-A812-4EA9-8BBF-D12CC26269D7}"/>
              </a:ext>
            </a:extLst>
          </p:cNvPr>
          <p:cNvSpPr>
            <a:spLocks noGrp="1"/>
          </p:cNvSpPr>
          <p:nvPr/>
        </p:nvSpPr>
        <p:spPr>
          <a:xfrm>
            <a:off x="4048125" y="3333750"/>
            <a:ext cx="685800" cy="876300"/>
          </a:xfrm>
          <a:prstGeom prst="rect">
            <a:avLst/>
          </a:prstGeom>
          <a:noFill/>
          <a:ln w="28575">
            <a:solidFill>
              <a:srgbClr val="2B6D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866389E-D9D4-4062-A952-7B7FB9980125}"/>
              </a:ext>
            </a:extLst>
          </p:cNvPr>
          <p:cNvSpPr>
            <a:spLocks noGrp="1"/>
          </p:cNvSpPr>
          <p:nvPr/>
        </p:nvSpPr>
        <p:spPr>
          <a:xfrm>
            <a:off x="3971925" y="3009900"/>
            <a:ext cx="1066800" cy="304800"/>
          </a:xfrm>
          <a:prstGeom prst="roundRect">
            <a:avLst>
              <a:gd name="adj" fmla="val 37500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person_id=2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EC565F-505F-48E4-92E5-DAA11BC497E4}"/>
              </a:ext>
            </a:extLst>
          </p:cNvPr>
          <p:cNvSpPr>
            <a:spLocks noGrp="1"/>
          </p:cNvSpPr>
          <p:nvPr/>
        </p:nvSpPr>
        <p:spPr>
          <a:xfrm>
            <a:off x="4953000" y="4095750"/>
            <a:ext cx="685800" cy="876300"/>
          </a:xfrm>
          <a:prstGeom prst="rect">
            <a:avLst/>
          </a:prstGeom>
          <a:noFill/>
          <a:ln w="28575">
            <a:solidFill>
              <a:srgbClr val="D7AA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74DD3C6-ED74-46C2-A7A2-BA466D0427BA}"/>
              </a:ext>
            </a:extLst>
          </p:cNvPr>
          <p:cNvSpPr>
            <a:spLocks noGrp="1"/>
          </p:cNvSpPr>
          <p:nvPr/>
        </p:nvSpPr>
        <p:spPr>
          <a:xfrm>
            <a:off x="4876800" y="3771900"/>
            <a:ext cx="1066800" cy="304800"/>
          </a:xfrm>
          <a:prstGeom prst="roundRect">
            <a:avLst>
              <a:gd name="adj" fmla="val 37500"/>
            </a:avLst>
          </a:prstGeom>
          <a:solidFill>
            <a:srgbClr val="F6EAC9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person_id=3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57CC3C-7ACA-4C37-ACA2-005892159889}"/>
              </a:ext>
            </a:extLst>
          </p:cNvPr>
          <p:cNvSpPr>
            <a:spLocks noGrp="1"/>
          </p:cNvSpPr>
          <p:nvPr/>
        </p:nvSpPr>
        <p:spPr>
          <a:xfrm>
            <a:off x="7334250" y="1905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程序流程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D25088-3677-4D75-BDAE-10DF0F6DA20A}"/>
              </a:ext>
            </a:extLst>
          </p:cNvPr>
          <p:cNvSpPr>
            <a:spLocks noGrp="1"/>
          </p:cNvSpPr>
          <p:nvPr/>
        </p:nvSpPr>
        <p:spPr>
          <a:xfrm>
            <a:off x="7334250" y="2305050"/>
            <a:ext cx="342900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多人检测</a:t>
            </a:r>
          </a:p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↓</a:t>
            </a:r>
          </a:p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分配 person_id</a:t>
            </a:r>
          </a:p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↓</a:t>
            </a:r>
          </a:p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跨帧跟踪</a:t>
            </a:r>
          </a:p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↓</a:t>
            </a:r>
          </a:p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对指定人物做分辨率、遮挡和行为分析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7A90DD-D4C9-43B0-A90C-76317DEEA93D}"/>
              </a:ext>
            </a:extLst>
          </p:cNvPr>
          <p:cNvSpPr>
            <a:spLocks noGrp="1"/>
          </p:cNvSpPr>
          <p:nvPr/>
        </p:nvSpPr>
        <p:spPr>
          <a:xfrm>
            <a:off x="7334250" y="501015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跟踪指标：IDF1、MOTA、HOTA、ID Switch、遮挡恢复率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DC5F356-C616-4D9A-BD11-8ADF85D066D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D63272-DF30-4BE0-AE96-12D401B5E467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人物分析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90D5AD-93E0-4AA4-9905-5655A594AA2E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605109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977C6F2A-5604-42B4-91AA-2281A721601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1E984517-25A4-43CC-9EC6-D79BEF7DE412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24</a:t>
            </a:r>
          </a:p>
        </p:txBody>
      </p:sp>
      <p:sp>
        <p:nvSpPr>
          <p:cNvPr id="3" name="矩形 2">
            <a:extLst>
              <a:ext uri="{FF2B5EF4-FFF2-40B4-BE49-F238E27FC236}">
                <ns2:creationId id="{0E176EDA-2D91-4C6B-9A42-AD989568CF8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PoseTrack：姿态和跟踪必须一起评价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7321F2AB-5CF0-4C15-B3FC-0D402E8D503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0CC9B30D-A111-409A-9DB5-C5EB431E171E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PoseTrack 把视频中的姿态估计、人物轨迹和身份一致性放到同一套基准中。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456605FA-1C02-4239-9928-8257D6D1C8EB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CF2B24AA-1A09-4D0D-89E4-DA4C0DCFA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5514" y="2667000"/>
            <a:ext cx="4575572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552575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p.2 · 重点：姿态+跟踪</a:t>
            </a:r>
          </a:p>
        </p:txBody>
      </p:sp>
      <p:sp>
        <p:nvSpPr>
          <p:cNvPr id="9" name="矩形 8">
            <a:extLst>
              <a:ext uri="{FF2B5EF4-FFF2-40B4-BE49-F238E27FC236}">
                <ns2:creationId id="{AF2A0CAC-4653-4C9D-9BF6-BC05BA4EA65F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Andriluka et al., PoseTrack: A Benchmark for Human Pose Estimation and Tracking, CVPR 2018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3ECBE2A0-691D-4E81-8672-3F145959DDD3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数据与标注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C324A524-106E-43A9-9210-DB41509FE80E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视频约 41-151 帧，每人 15 个关键点，每人有 track ID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B932AE32-97F6-4489-B229-D36DD74FD31E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复杂因素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C11E88D0-E139-444E-9376-89F50CF29070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遮挡、截断、相机运动和 ignore regions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BF94DA4B-EDD4-48BC-A302-A37B5633F6EF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指标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BB71BEF5-E24B-4ED4-97B4-5ED1802E3002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PCKh/mAP 评价姿态，MOTA/MOTP 评价跟踪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98B46AEA-C360-49DE-A094-C0A847BDD9D4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实验启示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50DB267E-580B-411C-8395-C407755C7584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拥挤、快速运动和镜头运动会显著降低 MOTA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6095C8AF-9060-4B46-8DFF-B05D48C9468F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多人视频要同时看姿态、身份和轨迹是否连续。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779982A0-E35F-4200-B17A-4AEF50E4842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D89CC157-EA56-4548-A8ED-94465671A0F8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08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975EFF87-CA15-4B2E-8927-E11F665EF30B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428776364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ns2:creationId id="{39E59433-9E73-4173-AC03-8FB17C0979D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同一组条件对应不同任务指标</a:t>
            </a:r>
          </a:p>
        </p:txBody>
      </p:sp>
      <p:sp>
        <p:nvSpPr>
          <p:cNvPr id="2" name="矩形 1">
            <a:extLst>
              <a:ext uri="{FF2B5EF4-FFF2-40B4-BE49-F238E27FC236}">
                <ns2:creationId id="{EC919F40-197D-4EEF-A611-DCBAF0E92F90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25</a:t>
            </a:r>
          </a:p>
        </p:txBody>
      </p:sp>
      <p:sp>
        <p:nvSpPr>
          <p:cNvPr id="3" name="矩形 2"/>
          <p:cNvSpPr/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-254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SimSun"/>
                <a:ea typeface="SimSun"/>
                <a:cs typeface="SimSun"/>
              </a:rPr>
              <a:t>模型到底在评价什么？（英文只作论文对照）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2E4950CD-0797-4A5D-8E02-9EDF658600D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C76EF0C9-6584-4C3C-808D-1B0CA224FB7B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2381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ns2:creationId id="{A3F6C785-40AB-4F6D-A27A-4959D98351B5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任务</a:t>
            </a:r>
          </a:p>
        </p:txBody>
      </p:sp>
      <p:sp>
        <p:nvSpPr>
          <p:cNvPr id="7" name="矩形 6">
            <a:extLst>
              <a:ext uri="{FF2B5EF4-FFF2-40B4-BE49-F238E27FC236}">
                <ns2:creationId id="{24997E94-F8F0-4E83-8035-38128C74A831}"/>
              </a:ext>
            </a:extLst>
          </p:cNvPr>
          <p:cNvSpPr>
            <a:spLocks noGrp="1"/>
          </p:cNvSpPr>
          <p:nvPr/>
        </p:nvSpPr>
        <p:spPr>
          <a:xfrm>
            <a:off x="3067050" y="1752600"/>
            <a:ext cx="44767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81350" y="186690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用来回答什么问题</a:t>
            </a:r>
          </a:p>
        </p:txBody>
      </p:sp>
      <p:sp>
        <p:nvSpPr>
          <p:cNvPr id="9" name="矩形 8">
            <a:extLst>
              <a:ext uri="{FF2B5EF4-FFF2-40B4-BE49-F238E27FC236}">
                <ns2:creationId id="{469202A0-59CA-4BC7-9D8A-C61EE5EBD7E8}"/>
              </a:ext>
            </a:extLst>
          </p:cNvPr>
          <p:cNvSpPr>
            <a:spLocks noGrp="1"/>
          </p:cNvSpPr>
          <p:nvPr/>
        </p:nvSpPr>
        <p:spPr>
          <a:xfrm>
            <a:off x="7543800" y="1752600"/>
            <a:ext cx="3524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658100" y="18669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用大白话说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CCD099C4-803F-4C55-BB5F-BE32C665F49D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2381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ns2:creationId id="{5D7EB044-DF08-4B27-AE52-5000B555B2F3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分类识别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0CEC0AFF-F21B-43AE-9207-B96D36D5AB12}"/>
              </a:ext>
            </a:extLst>
          </p:cNvPr>
          <p:cNvSpPr>
            <a:spLocks noGrp="1"/>
          </p:cNvSpPr>
          <p:nvPr/>
        </p:nvSpPr>
        <p:spPr>
          <a:xfrm>
            <a:off x="3067050" y="2247900"/>
            <a:ext cx="44767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181350" y="236220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答对率↑ / 报真率↑ / 找全率↑ / 各类平均↑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8EB2A7D7-F2B5-4915-831C-8F0CBF87EF45}"/>
              </a:ext>
            </a:extLst>
          </p:cNvPr>
          <p:cNvSpPr>
            <a:spLocks noGrp="1"/>
          </p:cNvSpPr>
          <p:nvPr/>
        </p:nvSpPr>
        <p:spPr>
          <a:xfrm>
            <a:off x="7543800" y="2247900"/>
            <a:ext cx="3524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658100" y="23622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行为有没有答对，少数类别有没有被漏掉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1B71A222-0896-4847-871B-506DEF77FFA4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2381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ns2:creationId id="{BCB003EF-4D6F-4219-BA80-B0DAA65ECF24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投入度估计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D7C8E998-7209-492D-A5CE-8A30D5708798}"/>
              </a:ext>
            </a:extLst>
          </p:cNvPr>
          <p:cNvSpPr>
            <a:spLocks noGrp="1"/>
          </p:cNvSpPr>
          <p:nvPr/>
        </p:nvSpPr>
        <p:spPr>
          <a:xfrm>
            <a:off x="3067050" y="2743200"/>
            <a:ext cx="44767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3181350" y="285750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平均差多少分↓ / 大错惩罚更重↓</a:t>
            </a:r>
          </a:p>
        </p:txBody>
      </p:sp>
      <p:sp>
        <p:nvSpPr>
          <p:cNvPr id="21" name="矩形 20">
            <a:extLst>
              <a:ext uri="{FF2B5EF4-FFF2-40B4-BE49-F238E27FC236}">
                <ns2:creationId id="{5D09F628-5C1C-4AA5-8CFB-F6C2AA8BB4CC}"/>
              </a:ext>
            </a:extLst>
          </p:cNvPr>
          <p:cNvSpPr>
            <a:spLocks noGrp="1"/>
          </p:cNvSpPr>
          <p:nvPr/>
        </p:nvSpPr>
        <p:spPr>
          <a:xfrm>
            <a:off x="7543800" y="2743200"/>
            <a:ext cx="3524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658100" y="28575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模型给的分数，和真实分数差几级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8F2CF754-450C-4C45-A64B-F37AAF2BFE23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2381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ns2:creationId id="{49717959-C0EC-4F02-BE83-33432F5BE3B0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目标检测</a:t>
            </a:r>
          </a:p>
        </p:txBody>
      </p:sp>
      <p:sp>
        <p:nvSpPr>
          <p:cNvPr id="25" name="矩形 24">
            <a:extLst>
              <a:ext uri="{FF2B5EF4-FFF2-40B4-BE49-F238E27FC236}">
                <ns2:creationId id="{819DE350-2F56-4099-A18E-213711BA7546}"/>
              </a:ext>
            </a:extLst>
          </p:cNvPr>
          <p:cNvSpPr>
            <a:spLocks noGrp="1"/>
          </p:cNvSpPr>
          <p:nvPr/>
        </p:nvSpPr>
        <p:spPr>
          <a:xfrm>
            <a:off x="3067050" y="3238500"/>
            <a:ext cx="44767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181350" y="335280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报真率↑ / 找全率↑ / 框的位置+类别综合分↑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730CF30B-0435-4119-987F-51C448F6F666}"/>
              </a:ext>
            </a:extLst>
          </p:cNvPr>
          <p:cNvSpPr>
            <a:spLocks noGrp="1"/>
          </p:cNvSpPr>
          <p:nvPr/>
        </p:nvSpPr>
        <p:spPr>
          <a:xfrm>
            <a:off x="7543800" y="3238500"/>
            <a:ext cx="3524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658100" y="33528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人和行为有没有框准</a:t>
            </a:r>
          </a:p>
        </p:txBody>
      </p:sp>
      <p:sp>
        <p:nvSpPr>
          <p:cNvPr id="29" name="矩形 28">
            <a:extLst>
              <a:ext uri="{FF2B5EF4-FFF2-40B4-BE49-F238E27FC236}">
                <ns2:creationId id="{B7E1FF2A-0FDE-4F9C-B3C4-14BB9B57EA4C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381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ns2:creationId id="{FE803F8D-E47B-4868-8183-86A30BBC5755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姿态估计</a:t>
            </a:r>
          </a:p>
        </p:txBody>
      </p:sp>
      <p:sp>
        <p:nvSpPr>
          <p:cNvPr id="31" name="矩形 30">
            <a:extLst>
              <a:ext uri="{FF2B5EF4-FFF2-40B4-BE49-F238E27FC236}">
                <ns2:creationId id="{ED2FA4C1-7E83-4260-92E7-767388677B64}"/>
              </a:ext>
            </a:extLst>
          </p:cNvPr>
          <p:cNvSpPr>
            <a:spLocks noGrp="1"/>
          </p:cNvSpPr>
          <p:nvPr/>
        </p:nvSpPr>
        <p:spPr>
          <a:xfrm>
            <a:off x="3067050" y="3733800"/>
            <a:ext cx="44767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181350" y="384810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单类得分↑ / 找全率↑ / 关键点接近度↑ / 人体尺度匹配↑</a:t>
            </a:r>
          </a:p>
        </p:txBody>
      </p:sp>
      <p:sp>
        <p:nvSpPr>
          <p:cNvPr id="33" name="矩形 32">
            <a:extLst>
              <a:ext uri="{FF2B5EF4-FFF2-40B4-BE49-F238E27FC236}">
                <ns2:creationId id="{5A8CCD4B-B129-49E6-9693-9D8142FC3EA2}"/>
              </a:ext>
            </a:extLst>
          </p:cNvPr>
          <p:cNvSpPr>
            <a:spLocks noGrp="1"/>
          </p:cNvSpPr>
          <p:nvPr/>
        </p:nvSpPr>
        <p:spPr>
          <a:xfrm>
            <a:off x="7543800" y="3733800"/>
            <a:ext cx="3524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658100" y="38481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肩、肘、腕等点有没有对准</a:t>
            </a:r>
          </a:p>
        </p:txBody>
      </p:sp>
      <p:sp>
        <p:nvSpPr>
          <p:cNvPr id="35" name="矩形 34">
            <a:extLst>
              <a:ext uri="{FF2B5EF4-FFF2-40B4-BE49-F238E27FC236}">
                <ns2:creationId id="{D38B929F-B44B-45C2-A8C0-6A50612E8C84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2381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ns2:creationId id="{13485986-63A1-4B58-AC3A-2DB7D412E9C7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多人跟踪</a:t>
            </a:r>
          </a:p>
        </p:txBody>
      </p:sp>
      <p:sp>
        <p:nvSpPr>
          <p:cNvPr id="37" name="矩形 36">
            <a:extLst>
              <a:ext uri="{FF2B5EF4-FFF2-40B4-BE49-F238E27FC236}">
                <ns2:creationId id="{2A4091EA-C7B9-4963-A5B5-88FC8D4C8132}"/>
              </a:ext>
            </a:extLst>
          </p:cNvPr>
          <p:cNvSpPr>
            <a:spLocks noGrp="1"/>
          </p:cNvSpPr>
          <p:nvPr/>
        </p:nvSpPr>
        <p:spPr>
          <a:xfrm>
            <a:off x="3067050" y="4229100"/>
            <a:ext cx="44767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3181350" y="434340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同一人跟对↑ / 漏检误检↓ / 综合分↑ / 换号次数↓</a:t>
            </a:r>
          </a:p>
        </p:txBody>
      </p:sp>
      <p:sp>
        <p:nvSpPr>
          <p:cNvPr id="39" name="矩形 38">
            <a:extLst>
              <a:ext uri="{FF2B5EF4-FFF2-40B4-BE49-F238E27FC236}">
                <ns2:creationId id="{5E6B8381-7EC8-4427-BD3D-F8143AC3FD67}"/>
              </a:ext>
            </a:extLst>
          </p:cNvPr>
          <p:cNvSpPr>
            <a:spLocks noGrp="1"/>
          </p:cNvSpPr>
          <p:nvPr/>
        </p:nvSpPr>
        <p:spPr>
          <a:xfrm>
            <a:off x="7543800" y="4229100"/>
            <a:ext cx="3524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7658100" y="43434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视频前后是不是同一个人</a:t>
            </a:r>
          </a:p>
        </p:txBody>
      </p:sp>
      <p:sp>
        <p:nvSpPr>
          <p:cNvPr id="41" name="矩形: 圆角 40">
            <a:extLst>
              <a:ext uri="{FF2B5EF4-FFF2-40B4-BE49-F238E27FC236}">
                <ns2:creationId id="{8CC97D4C-7541-4C9C-B575-CB655C9FFD19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0820400" cy="723900"/>
          </a:xfrm>
          <a:prstGeom prst="roundRect">
            <a:avLst>
              <a:gd name="adj" fmla="val 1578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ns2:creationId id="{FF43817E-40EA-43BB-BEB3-2AA88F39CF1C}"/>
              </a:ext>
            </a:extLst>
          </p:cNvPr>
          <p:cNvSpPr>
            <a:spLocks noGrp="1"/>
          </p:cNvSpPr>
          <p:nvPr/>
        </p:nvSpPr>
        <p:spPr>
          <a:xfrm>
            <a:off x="895350" y="52387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核心比较</a:t>
            </a:r>
          </a:p>
        </p:txBody>
      </p:sp>
      <p:sp>
        <p:nvSpPr>
          <p:cNvPr id="43" name="矩形 42">
            <a:extLst>
              <a:ext uri="{FF2B5EF4-FFF2-40B4-BE49-F238E27FC236}">
                <ns2:creationId id="{FA75D656-C699-4CF0-A6F2-0D053FBD8D7D}"/>
              </a:ext>
            </a:extLst>
          </p:cNvPr>
          <p:cNvSpPr>
            <a:spLocks noGrp="1"/>
          </p:cNvSpPr>
          <p:nvPr/>
        </p:nvSpPr>
        <p:spPr>
          <a:xfrm>
            <a:off x="2362200" y="521970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原图  ·  低分辨率  ·  遮挡  ·  低分辨率+遮挡  ·  恢复分辨率</a:t>
            </a:r>
          </a:p>
        </p:txBody>
      </p:sp>
      <p:sp>
        <p:nvSpPr>
          <p:cNvPr id="44" name="直接连接符 43">
            <a:extLst>
              <a:ext uri="{FF2B5EF4-FFF2-40B4-BE49-F238E27FC236}">
                <ns2:creationId id="{D169FC64-01B0-4951-A3C7-836683CE114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ns2:creationId id="{60F159AD-B46A-4CCF-A2F9-25E4925F3443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46" name="矩形 45">
            <a:extLst>
              <a:ext uri="{FF2B5EF4-FFF2-40B4-BE49-F238E27FC236}">
                <ns2:creationId id="{2E92D64F-8274-4ACA-A59A-EA5BB50A973E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  <p:grpSp>
        <p:nvGrpSpPr>
          <p:cNvPr id="96" name="conclusion-metrics"/>
          <p:cNvGrpSpPr/>
          <p:nvPr/>
        </p:nvGrpSpPr>
        <p:grpSpPr>
          <a:xfrm>
            <a:off x="685800" y="5810250"/>
            <a:ext cx="10820400" cy="400050"/>
            <a:chOff x="685800" y="5810250"/>
            <a:chExt cx="10820400" cy="400050"/>
          </a:xfrm>
        </p:grpSpPr>
        <p:sp>
          <p:nvSpPr>
            <p:cNvPr id="94" name="Rectangle 94"/>
            <p:cNvSpPr/>
            <p:nvPr/>
          </p:nvSpPr>
          <p:spPr>
            <a:xfrm>
              <a:off x="685800" y="5810250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26973" y="5915025"/>
              <a:ext cx="483773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一句话结论：先把每个任务要用大白话说分开，再选评价指标。</a:t>
              </a:r>
            </a:p>
          </p:txBody>
        </p:sp>
      </p:grpSp>
    </p:spTree>
    <p:extLst>
      <p:ext uri="{BB962C8B-B14F-4D97-AF65-F5344CB8AC3E}">
        <p14:creationId val="54680430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015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25A · 模型运行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四个模型已经在处理台输出上运行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10" name="model-1"/>
          <p:cNvGrpSpPr/>
          <p:nvPr/>
        </p:nvGrpSpPr>
        <p:grpSpPr>
          <a:xfrm>
            <a:off x="685800" y="1676400"/>
            <a:ext cx="5048250" cy="1428750"/>
            <a:chOff x="685800" y="1676400"/>
            <a:chExt cx="5048250" cy="142875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5048250" cy="1428750"/>
            </a:xfrm>
            <a:prstGeom prst="roundRect">
              <a:avLst>
                <a:gd name="adj" fmla="val 120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737" y="1879600"/>
              <a:ext cx="271841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YOLO11n：找出人和物体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5642" y="2292350"/>
              <a:ext cx="2116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6 条记录 · 24 个条件输出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023" y="2667000"/>
              <a:ext cx="226164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输出框数量：原图平均 13.83</a:t>
              </a:r>
            </a:p>
          </p:txBody>
        </p:sp>
      </p:grpSp>
      <p:grpSp>
        <p:nvGrpSpPr>
          <p:cNvPr id="15" name="model-2"/>
          <p:cNvGrpSpPr/>
          <p:nvPr/>
        </p:nvGrpSpPr>
        <p:grpSpPr>
          <a:xfrm>
            <a:off x="6457950" y="1676400"/>
            <a:ext cx="5048250" cy="1428750"/>
            <a:chOff x="6457950" y="1676400"/>
            <a:chExt cx="5048250" cy="1428750"/>
          </a:xfrm>
        </p:grpSpPr>
        <p:sp>
          <p:nvSpPr>
            <p:cNvPr id="11" name="Rectangle 11"/>
            <p:cNvSpPr/>
            <p:nvPr/>
          </p:nvSpPr>
          <p:spPr>
            <a:xfrm>
              <a:off x="6457950" y="1676400"/>
              <a:ext cx="5048250" cy="1428750"/>
            </a:xfrm>
            <a:prstGeom prst="roundRect">
              <a:avLst>
                <a:gd name="adj" fmla="val 120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15887" y="1879600"/>
              <a:ext cx="385682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YOLO11n-Pose：找肩、肘、腕等点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17792" y="2292350"/>
              <a:ext cx="2573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原图 10.83 → 1/4 分辨率 6.67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18173" y="2667000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关键点人次明显下降</a:t>
              </a:r>
            </a:p>
          </p:txBody>
        </p:sp>
      </p:grpSp>
      <p:grpSp>
        <p:nvGrpSpPr>
          <p:cNvPr id="20" name="model-3"/>
          <p:cNvGrpSpPr/>
          <p:nvPr/>
        </p:nvGrpSpPr>
        <p:grpSpPr>
          <a:xfrm>
            <a:off x="685800" y="3333750"/>
            <a:ext cx="5048250" cy="1428750"/>
            <a:chOff x="685800" y="3333750"/>
            <a:chExt cx="5048250" cy="1428750"/>
          </a:xfrm>
        </p:grpSpPr>
        <p:sp>
          <p:nvSpPr>
            <p:cNvPr id="16" name="Rectangle 16"/>
            <p:cNvSpPr/>
            <p:nvPr/>
          </p:nvSpPr>
          <p:spPr>
            <a:xfrm>
              <a:off x="685800" y="3333750"/>
              <a:ext cx="5048250" cy="1428750"/>
            </a:xfrm>
            <a:prstGeom prst="roundRect">
              <a:avLst>
                <a:gd name="adj" fmla="val 120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3737" y="3536950"/>
              <a:ext cx="36045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RT-DETR-L：另一种找目标的方法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3949700"/>
              <a:ext cx="2677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原图 63.67 → 1/4 分辨率 45.83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4324350"/>
              <a:ext cx="17360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通用检测输出数量下降</a:t>
              </a:r>
            </a:p>
          </p:txBody>
        </p:sp>
      </p:grpSp>
      <p:grpSp>
        <p:nvGrpSpPr>
          <p:cNvPr id="25" name="model-4"/>
          <p:cNvGrpSpPr/>
          <p:nvPr/>
        </p:nvGrpSpPr>
        <p:grpSpPr>
          <a:xfrm>
            <a:off x="6457950" y="3333750"/>
            <a:ext cx="5048250" cy="1428750"/>
            <a:chOff x="6457950" y="3333750"/>
            <a:chExt cx="5048250" cy="1428750"/>
          </a:xfrm>
        </p:grpSpPr>
        <p:sp>
          <p:nvSpPr>
            <p:cNvPr id="21" name="Rectangle 21"/>
            <p:cNvSpPr/>
            <p:nvPr/>
          </p:nvSpPr>
          <p:spPr>
            <a:xfrm>
              <a:off x="6457950" y="3333750"/>
              <a:ext cx="5048250" cy="1428750"/>
            </a:xfrm>
            <a:prstGeom prst="roundRect">
              <a:avLst>
                <a:gd name="adj" fmla="val 120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5887" y="3536950"/>
              <a:ext cx="26464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DAiSEE：投入度参考模型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17792" y="3949700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85B4A"/>
                  </a:solidFill>
                  <a:latin typeface="Microsoft YaHei"/>
                  <a:ea typeface="Microsoft YaHei"/>
                  <a:cs typeface="Microsoft YaHei"/>
                </a:rPr>
                <a:t>所有条件预测均值 =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18173" y="432435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训练场景与课堂场景不同</a:t>
              </a:r>
            </a:p>
          </p:txBody>
        </p:sp>
      </p:grpSp>
      <p:grpSp>
        <p:nvGrpSpPr>
          <p:cNvPr id="27" name="model-note"/>
          <p:cNvGrpSpPr/>
          <p:nvPr/>
        </p:nvGrpSpPr>
        <p:grpSpPr>
          <a:xfrm>
            <a:off x="678942" y="5359400"/>
            <a:ext cx="6252953" cy="264033"/>
            <a:chOff x="678942" y="5359400"/>
            <a:chExt cx="6252953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678942" y="5359400"/>
              <a:ext cx="6252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这里先看模型输出有没有变化；没有真实答案对照，不能叫“准确率”或 mAP。</a:t>
              </a:r>
            </a:p>
          </p:txBody>
        </p:sp>
      </p:grpSp>
      <p:grpSp>
        <p:nvGrpSpPr>
          <p:cNvPr id="30" name="conclusion-models"/>
          <p:cNvGrpSpPr/>
          <p:nvPr/>
        </p:nvGrpSpPr>
        <p:grpSpPr>
          <a:xfrm>
            <a:off x="685800" y="5905500"/>
            <a:ext cx="10820400" cy="400050"/>
            <a:chOff x="685800" y="5905500"/>
            <a:chExt cx="10820400" cy="400050"/>
          </a:xfrm>
        </p:grpSpPr>
        <p:sp>
          <p:nvSpPr>
            <p:cNvPr id="28" name="Rectangle 28"/>
            <p:cNvSpPr/>
            <p:nvPr/>
          </p:nvSpPr>
          <p:spPr>
            <a:xfrm>
              <a:off x="685800" y="5905500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6973" y="6010275"/>
              <a:ext cx="53546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一句话结论：低分辨率主要减少姿态关键点输出，通用检测也会变化。</a:t>
              </a:r>
            </a:p>
          </p:txBody>
        </p:sp>
      </p:grpSp>
    </p:spTree>
    <p:extLst>
      <p:ext uri="{BB962C8B-B14F-4D97-AF65-F5344CB8AC3E}">
        <p14:creationId val="54680430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015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25B · 条件对比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低分辨率和遮挡改变了模型输出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8" name="chart-1"/>
          <p:cNvGrpSpPr/>
          <p:nvPr/>
        </p:nvGrpSpPr>
        <p:grpSpPr>
          <a:xfrm>
            <a:off x="685800" y="1619250"/>
            <a:ext cx="7239000" cy="4095750"/>
            <a:chOff x="685800" y="1619250"/>
            <a:chExt cx="7239000" cy="4095750"/>
          </a:xfrm>
        </p:grpSpPr>
        <p:sp>
          <p:nvSpPr>
            <p:cNvPr id="6" name="Rectangle 6"/>
            <p:cNvSpPr/>
            <p:nvPr/>
          </p:nvSpPr>
          <p:spPr>
            <a:xfrm>
              <a:off x="685800" y="1619250"/>
              <a:ext cx="7239000" cy="4095750"/>
            </a:xfrm>
            <a:prstGeom prst="roundRect">
              <a:avLst>
                <a:gd name="adj" fmla="val 4186"/>
              </a:avLst>
            </a:prstGeom>
            <a:solidFill>
              <a:srgbClr val="FFFDF8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6300" y="1971889"/>
              <a:ext cx="6858000" cy="3390472"/>
            </a:xfrm>
            <a:prstGeom prst="rect">
              <a:avLst/>
            </a:prstGeom>
          </p:spPr>
        </p:pic>
      </p:grpSp>
      <p:grpSp>
        <p:nvGrpSpPr>
          <p:cNvPr id="17" name="chart-2"/>
          <p:cNvGrpSpPr/>
          <p:nvPr/>
        </p:nvGrpSpPr>
        <p:grpSpPr>
          <a:xfrm>
            <a:off x="8191500" y="1809750"/>
            <a:ext cx="3314700" cy="3429000"/>
            <a:chOff x="8191500" y="1809750"/>
            <a:chExt cx="3314700" cy="3429000"/>
          </a:xfrm>
        </p:grpSpPr>
        <p:sp>
          <p:nvSpPr>
            <p:cNvPr id="9" name="Rectangle 9"/>
            <p:cNvSpPr/>
            <p:nvPr/>
          </p:nvSpPr>
          <p:spPr>
            <a:xfrm>
              <a:off x="8191500" y="1809750"/>
              <a:ext cx="3314700" cy="3429000"/>
            </a:xfrm>
            <a:prstGeom prst="roundRect">
              <a:avLst>
                <a:gd name="adj" fmla="val 5172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7918" y="20637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读图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9442" y="25590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EBE6"/>
                  </a:solidFill>
                  <a:latin typeface="Microsoft YaHei"/>
                  <a:ea typeface="Microsoft YaHei"/>
                  <a:cs typeface="Microsoft YaHei"/>
                </a:rPr>
                <a:t>姿态：低分辨率后少找点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5632" y="2889250"/>
              <a:ext cx="18320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BA69"/>
                  </a:solidFill>
                  <a:latin typeface="Microsoft YaHei"/>
                  <a:ea typeface="Microsoft YaHei"/>
                  <a:cs typeface="Microsoft YaHei"/>
                </a:rPr>
                <a:t>10.83 → 6.67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89442" y="35115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EBE6"/>
                  </a:solidFill>
                  <a:latin typeface="Microsoft YaHei"/>
                  <a:ea typeface="Microsoft YaHei"/>
                  <a:cs typeface="Microsoft YaHei"/>
                </a:rPr>
                <a:t>另一种检测模型输出框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85632" y="3841750"/>
              <a:ext cx="19953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8CC8FF"/>
                  </a:solidFill>
                  <a:latin typeface="Microsoft YaHei"/>
                  <a:ea typeface="Microsoft YaHei"/>
                  <a:cs typeface="Microsoft YaHei"/>
                </a:rPr>
                <a:t>63.67 → 45.83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89823" y="4476750"/>
              <a:ext cx="27872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CEBE6"/>
                  </a:solidFill>
                  <a:latin typeface="Microsoft YaHei"/>
                  <a:ea typeface="Microsoft YaHei"/>
                  <a:cs typeface="Microsoft YaHei"/>
                </a:rPr>
                <a:t>框变多/变少，不等于模型变准/变差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89823" y="4762500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CEBE6"/>
                  </a:solidFill>
                  <a:latin typeface="Microsoft YaHei"/>
                  <a:ea typeface="Microsoft YaHei"/>
                  <a:cs typeface="Microsoft YaHei"/>
                </a:rPr>
                <a:t>要算准确率，必须有人工正确答案</a:t>
              </a:r>
            </a:p>
          </p:txBody>
        </p:sp>
      </p:grpSp>
      <p:grpSp>
        <p:nvGrpSpPr>
          <p:cNvPr id="20" name="conclusion-chart"/>
          <p:cNvGrpSpPr/>
          <p:nvPr/>
        </p:nvGrpSpPr>
        <p:grpSpPr>
          <a:xfrm>
            <a:off x="685800" y="5476875"/>
            <a:ext cx="10820400" cy="400050"/>
            <a:chOff x="685800" y="5476875"/>
            <a:chExt cx="10820400" cy="400050"/>
          </a:xfrm>
        </p:grpSpPr>
        <p:sp>
          <p:nvSpPr>
            <p:cNvPr id="18" name="Rectangle 18"/>
            <p:cNvSpPr/>
            <p:nvPr/>
          </p:nvSpPr>
          <p:spPr>
            <a:xfrm>
              <a:off x="685800" y="5476875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6973" y="5581650"/>
              <a:ext cx="432079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一句话结论：本次最明显的退化发生在姿态关键点数量。</a:t>
              </a:r>
            </a:p>
          </p:txBody>
        </p:sp>
      </p:grpSp>
    </p:spTree>
    <p:extLst>
      <p:ext uri="{BB962C8B-B14F-4D97-AF65-F5344CB8AC3E}">
        <p14:creationId val="54680430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015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25C · 结果解释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投入度基线的结果与边界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8" name="eng-1"/>
          <p:cNvGrpSpPr/>
          <p:nvPr/>
        </p:nvGrpSpPr>
        <p:grpSpPr>
          <a:xfrm>
            <a:off x="685800" y="1619250"/>
            <a:ext cx="5905500" cy="3905250"/>
            <a:chOff x="685800" y="1619250"/>
            <a:chExt cx="5905500" cy="3905250"/>
          </a:xfrm>
        </p:grpSpPr>
        <p:sp>
          <p:nvSpPr>
            <p:cNvPr id="6" name="Rectangle 6"/>
            <p:cNvSpPr/>
            <p:nvPr/>
          </p:nvSpPr>
          <p:spPr>
            <a:xfrm>
              <a:off x="685800" y="1619250"/>
              <a:ext cx="5905500" cy="3905250"/>
            </a:xfrm>
            <a:prstGeom prst="roundRect">
              <a:avLst>
                <a:gd name="adj" fmla="val 4390"/>
              </a:avLst>
            </a:prstGeom>
            <a:solidFill>
              <a:srgbClr val="FFFDF8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2771" y="1809750"/>
              <a:ext cx="5331558" cy="3524250"/>
            </a:xfrm>
            <a:prstGeom prst="rect">
              <a:avLst/>
            </a:prstGeom>
          </p:spPr>
        </p:pic>
      </p:grpSp>
      <p:grpSp>
        <p:nvGrpSpPr>
          <p:cNvPr id="17" name="eng-2"/>
          <p:cNvGrpSpPr/>
          <p:nvPr/>
        </p:nvGrpSpPr>
        <p:grpSpPr>
          <a:xfrm>
            <a:off x="7067550" y="1809750"/>
            <a:ext cx="4438650" cy="3333750"/>
            <a:chOff x="7067550" y="1809750"/>
            <a:chExt cx="4438650" cy="3333750"/>
          </a:xfrm>
        </p:grpSpPr>
        <p:sp>
          <p:nvSpPr>
            <p:cNvPr id="9" name="Rectangle 9"/>
            <p:cNvSpPr/>
            <p:nvPr/>
          </p:nvSpPr>
          <p:spPr>
            <a:xfrm>
              <a:off x="7067550" y="1809750"/>
              <a:ext cx="4438650" cy="3333750"/>
            </a:xfrm>
            <a:prstGeom prst="roundRect">
              <a:avLst>
                <a:gd name="adj" fmla="val 5143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63968" y="204470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为什么不能直接下结论？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5492" y="2540000"/>
              <a:ext cx="27775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DAiSEE 投入度验证集前 20 个视频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60920" y="2768600"/>
              <a:ext cx="40831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85B4A"/>
                  </a:solidFill>
                  <a:latin typeface="Microsoft YaHei"/>
                  <a:ea typeface="Microsoft YaHei"/>
                  <a:cs typeface="Microsoft YaHei"/>
                </a:rPr>
                <a:t>答对率 30% · 平均差 1.20 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65873" y="3409950"/>
              <a:ext cx="32869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放到课堂图片上时，模型全部判成同一类；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65873" y="3695700"/>
              <a:ext cx="33041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所以这组结果只作为“先跑通”的参考起点。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65873" y="4152900"/>
              <a:ext cx="32266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遮挡：5% / 1.85级 · 1/4：10% / 1.85级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65873" y="4438650"/>
              <a:ext cx="23908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组合：0% / 2.15级 · 参考起点</a:t>
              </a:r>
            </a:p>
          </p:txBody>
        </p:sp>
      </p:grpSp>
      <p:grpSp>
        <p:nvGrpSpPr>
          <p:cNvPr id="20" name="conclusion-engagement"/>
          <p:cNvGrpSpPr/>
          <p:nvPr/>
        </p:nvGrpSpPr>
        <p:grpSpPr>
          <a:xfrm>
            <a:off x="685800" y="5000625"/>
            <a:ext cx="10820400" cy="400050"/>
            <a:chOff x="685800" y="5000625"/>
            <a:chExt cx="10820400" cy="400050"/>
          </a:xfrm>
        </p:grpSpPr>
        <p:sp>
          <p:nvSpPr>
            <p:cNvPr id="18" name="Rectangle 18"/>
            <p:cNvSpPr/>
            <p:nvPr/>
          </p:nvSpPr>
          <p:spPr>
            <a:xfrm>
              <a:off x="685800" y="5000625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6973" y="5105400"/>
              <a:ext cx="41484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一句话结论：公开投入度模型换到课堂场景后会失配。</a:t>
              </a:r>
            </a:p>
          </p:txBody>
        </p:sp>
      </p:grpSp>
    </p:spTree>
    <p:extLst>
      <p:ext uri="{BB962C8B-B14F-4D97-AF65-F5344CB8AC3E}">
        <p14:creationId val="54680430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374650"/>
            <a:ext cx="10833354" cy="987425"/>
            <a:chOff x="672846" y="374650"/>
            <a:chExt cx="10833354" cy="987425"/>
          </a:xfrm>
        </p:grpSpPr>
        <p:sp>
          <p:nvSpPr>
            <p:cNvPr id="2" name="TextBox 2"/>
            <p:cNvSpPr txBox="1"/>
            <p:nvPr/>
          </p:nvSpPr>
          <p:spPr>
            <a:xfrm>
              <a:off x="678180" y="374650"/>
              <a:ext cx="14203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25D · 一页看懂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这些英文到底在问什么？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16" name="glossary-find"/>
          <p:cNvGrpSpPr/>
          <p:nvPr/>
        </p:nvGrpSpPr>
        <p:grpSpPr>
          <a:xfrm>
            <a:off x="685800" y="1676400"/>
            <a:ext cx="3333750" cy="3733800"/>
            <a:chOff x="685800" y="1676400"/>
            <a:chExt cx="3333750" cy="37338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3333750" cy="3733800"/>
            </a:xfrm>
            <a:prstGeom prst="roundRect">
              <a:avLst>
                <a:gd name="adj" fmla="val 5143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1456" y="19177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一、找没找到？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3361" y="2413000"/>
              <a:ext cx="18596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Accuracy（答对率）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4123" y="274320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整体答对了多少。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3361" y="3175000"/>
              <a:ext cx="18690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Precision（报真率）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123" y="350520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报出来的目标，有多少是真的。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3361" y="3937000"/>
              <a:ext cx="15375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Recall（找全率）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4123" y="426720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真实目标，有多少被找到了。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3361" y="4775200"/>
              <a:ext cx="17379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mAP（框得准不准）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4123" y="510540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综合看类别和框的位置。</a:t>
              </a:r>
            </a:p>
          </p:txBody>
        </p:sp>
      </p:grpSp>
      <p:grpSp>
        <p:nvGrpSpPr>
          <p:cNvPr id="27" name="glossary-pose"/>
          <p:cNvGrpSpPr/>
          <p:nvPr/>
        </p:nvGrpSpPr>
        <p:grpSpPr>
          <a:xfrm>
            <a:off x="4429125" y="1676400"/>
            <a:ext cx="3333750" cy="3733800"/>
            <a:chOff x="4429125" y="1676400"/>
            <a:chExt cx="3333750" cy="3733800"/>
          </a:xfrm>
        </p:grpSpPr>
        <p:sp>
          <p:nvSpPr>
            <p:cNvPr id="17" name="Rectangle 17"/>
            <p:cNvSpPr/>
            <p:nvPr/>
          </p:nvSpPr>
          <p:spPr>
            <a:xfrm>
              <a:off x="4429125" y="1676400"/>
              <a:ext cx="3333750" cy="3733800"/>
            </a:xfrm>
            <a:prstGeom prst="roundRect">
              <a:avLst>
                <a:gd name="adj" fmla="val 5143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24781" y="19177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二、点准不准？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26686" y="2413000"/>
              <a:ext cx="17025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PCK（点够不够近）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27448" y="274320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肩、肘、腕离正确位置近不近。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26686" y="3175000"/>
              <a:ext cx="19361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OKS（按人体大小看）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27448" y="3505200"/>
              <a:ext cx="29422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同样的偏差，对大人和小人区别对待。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26686" y="3937000"/>
              <a:ext cx="21367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IDF1 / HOTA（跟住没）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27448" y="4267200"/>
              <a:ext cx="20807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视频前后是不是同一个人。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26686" y="4775200"/>
              <a:ext cx="16810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ID Switch（换号）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27448" y="510540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把甲同学错认成乙同学的次数。</a:t>
              </a:r>
            </a:p>
          </p:txBody>
        </p:sp>
      </p:grpSp>
      <p:grpSp>
        <p:nvGrpSpPr>
          <p:cNvPr id="38" name="glossary-data"/>
          <p:cNvGrpSpPr/>
          <p:nvPr/>
        </p:nvGrpSpPr>
        <p:grpSpPr>
          <a:xfrm>
            <a:off x="8172450" y="1676400"/>
            <a:ext cx="3333750" cy="3733800"/>
            <a:chOff x="8172450" y="1676400"/>
            <a:chExt cx="3333750" cy="3733800"/>
          </a:xfrm>
        </p:grpSpPr>
        <p:sp>
          <p:nvSpPr>
            <p:cNvPr id="28" name="Rectangle 28"/>
            <p:cNvSpPr/>
            <p:nvPr/>
          </p:nvSpPr>
          <p:spPr>
            <a:xfrm>
              <a:off x="8172450" y="1676400"/>
              <a:ext cx="3333750" cy="3733800"/>
            </a:xfrm>
            <a:prstGeom prst="roundRect">
              <a:avLst>
                <a:gd name="adj" fmla="val 5143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68106" y="191770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三、论文怎么做？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70011" y="2413000"/>
              <a:ext cx="18830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ROI（只看选中的人）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70773" y="274320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手动画框，单独分析一个人。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70011" y="3175000"/>
              <a:ext cx="19040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LOSO（留一人测试）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70773" y="3505200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训练时不看这个人，专测新的人。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70011" y="3937000"/>
              <a:ext cx="2265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MIL（整段视频一个标签）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70773" y="426720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先看片段，再汇总成整段结果。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70011" y="4775200"/>
              <a:ext cx="28336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Super-resolution（低清增强）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70773" y="5105400"/>
              <a:ext cx="21065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小图放大 ≠ 找回真实细节。</a:t>
              </a:r>
            </a:p>
          </p:txBody>
        </p:sp>
      </p:grpSp>
      <p:grpSp>
        <p:nvGrpSpPr>
          <p:cNvPr id="41" name="glossary-tip"/>
          <p:cNvGrpSpPr/>
          <p:nvPr/>
        </p:nvGrpSpPr>
        <p:grpSpPr>
          <a:xfrm>
            <a:off x="685800" y="5715000"/>
            <a:ext cx="10820400" cy="514350"/>
            <a:chOff x="685800" y="5715000"/>
            <a:chExt cx="10820400" cy="514350"/>
          </a:xfrm>
        </p:grpSpPr>
        <p:sp>
          <p:nvSpPr>
            <p:cNvPr id="39" name="Rectangle 39"/>
            <p:cNvSpPr/>
            <p:nvPr/>
          </p:nvSpPr>
          <p:spPr>
            <a:xfrm>
              <a:off x="685800" y="5715000"/>
              <a:ext cx="10820400" cy="5143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3361" y="5861050"/>
              <a:ext cx="69258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汇报时先说中文，再补英文：观众只需听懂“找没找到、点准不准、有没有跟丢”。</a:t>
              </a:r>
            </a:p>
          </p:txBody>
        </p:sp>
      </p:grpSp>
    </p:spTree>
    <p:extLst>
      <p:ext uri="{BB962C8B-B14F-4D97-AF65-F5344CB8AC3E}">
        <p14:creationId val="54680430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ns2:creationId id="{6B25005F-D488-44CC-BF8C-6B3D316DD1B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把论文里的研究条件翻译成实验设置</a:t>
            </a:r>
          </a:p>
        </p:txBody>
      </p:sp>
      <p:sp>
        <p:nvSpPr>
          <p:cNvPr id="2" name="矩形 1">
            <a:extLst>
              <a:ext uri="{FF2B5EF4-FFF2-40B4-BE49-F238E27FC236}">
                <ns2:creationId id="{B6793E8F-2264-4694-BAD1-E4428BDDECBC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26</a:t>
            </a:r>
          </a:p>
        </p:txBody>
      </p:sp>
      <p:sp>
        <p:nvSpPr>
          <p:cNvPr id="3" name="矩形 2"/>
          <p:cNvSpPr/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-254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SimSun"/>
                <a:ea typeface="SimSun"/>
                <a:cs typeface="SimSun"/>
              </a:rPr>
              <a:t>论文里的英文：先翻译成大白话（1）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A426A68B-A1B2-43FF-946D-7C0EAF87F5A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ns2:creationId id="{10396A1E-7CF2-462D-AF04-19AC837CDE2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5350" y="18383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面部动作编号（FACS / AU）</a:t>
            </a:r>
          </a:p>
        </p:txBody>
      </p:sp>
      <p:sp>
        <p:nvSpPr>
          <p:cNvPr id="7" name="矩形 6">
            <a:extLst>
              <a:ext uri="{FF2B5EF4-FFF2-40B4-BE49-F238E27FC236}">
                <ns2:creationId id="{05BABCAD-238B-4A3D-A661-43AC58DE1453}"/>
              </a:ext>
            </a:extLst>
          </p:cNvPr>
          <p:cNvSpPr>
            <a:spLocks noGrp="1"/>
          </p:cNvSpPr>
          <p:nvPr/>
        </p:nvSpPr>
        <p:spPr>
          <a:xfrm>
            <a:off x="3238500" y="18002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面部动作编码系统 / 面部动作单元，用来描述眉毛、嘴角、眼睑等肌肉动作。</a:t>
            </a:r>
          </a:p>
        </p:txBody>
      </p:sp>
      <p:sp>
        <p:nvSpPr>
          <p:cNvPr id="8" name="矩形: 圆角 7">
            <a:extLst>
              <a:ext uri="{FF2B5EF4-FFF2-40B4-BE49-F238E27FC236}">
                <ns2:creationId id="{7F32E6DE-7426-440D-B141-FDAEFEF3ECEA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95350" y="25050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留一人测试（LOSO）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7ADACB6F-3C47-4893-A73E-AD3707C1466D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Leave-One-Subject-Out：每次把一个人完全留作测试集，检验模型能否识别新的人。</a:t>
            </a:r>
          </a:p>
        </p:txBody>
      </p:sp>
      <p:sp>
        <p:nvSpPr>
          <p:cNvPr id="11" name="矩形: 圆角 10">
            <a:extLst>
              <a:ext uri="{FF2B5EF4-FFF2-40B4-BE49-F238E27FC236}">
                <ns2:creationId id="{F65C0B02-C21B-4DFB-A756-EAA9CBCF412F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95350" y="31718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不重复人物（新人测试）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E1284417-C482-4AFC-BB0D-E1737697186E}"/>
              </a:ext>
            </a:extLst>
          </p:cNvPr>
          <p:cNvSpPr>
            <a:spLocks noGrp="1"/>
          </p:cNvSpPr>
          <p:nvPr/>
        </p:nvSpPr>
        <p:spPr>
          <a:xfrm>
            <a:off x="3238500" y="31337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训练集和测试集不包含同一个人的视频，避免模型记住人的脸而不是学会任务。</a:t>
            </a:r>
          </a:p>
        </p:txBody>
      </p:sp>
      <p:sp>
        <p:nvSpPr>
          <p:cNvPr id="14" name="矩形: 圆角 13">
            <a:extLst>
              <a:ext uri="{FF2B5EF4-FFF2-40B4-BE49-F238E27FC236}">
                <ns2:creationId id="{8A2D7C50-7772-4477-AF4B-8364378BCE86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95350" y="38385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整段视频标签（MIL）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9C5A4B43-BFCA-4FC2-988C-5ACFDFA314AF}"/>
              </a:ext>
            </a:extLst>
          </p:cNvPr>
          <p:cNvSpPr>
            <a:spLocks noGrp="1"/>
          </p:cNvSpPr>
          <p:nvPr/>
        </p:nvSpPr>
        <p:spPr>
          <a:xfrm>
            <a:off x="3238500" y="38004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Multiple Instance Learning：只有整段视频有标签，模型先预测片段，再把片段聚合成视频结果。</a:t>
            </a:r>
          </a:p>
        </p:txBody>
      </p:sp>
      <p:sp>
        <p:nvSpPr>
          <p:cNvPr id="17" name="矩形: 圆角 16">
            <a:extLst>
              <a:ext uri="{FF2B5EF4-FFF2-40B4-BE49-F238E27FC236}">
                <ns2:creationId id="{53B4EB92-D1E0-4F1B-8A7D-5722A0528B31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95350" y="45053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插值缩放 / 缩小 1/2–1/8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8A9B778C-5880-45D0-B5BD-44AD3131AD82}"/>
              </a:ext>
            </a:extLst>
          </p:cNvPr>
          <p:cNvSpPr>
            <a:spLocks noGrp="1"/>
          </p:cNvSpPr>
          <p:nvPr/>
        </p:nvSpPr>
        <p:spPr>
          <a:xfrm>
            <a:off x="3238500" y="44672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Bicubic 是插值缩放方法；x2-x8 表示线性尺寸缩小到 1/2 至 1/8，面积约变为 1/4 至 1/64。</a:t>
            </a:r>
          </a:p>
        </p:txBody>
      </p:sp>
      <p:sp>
        <p:nvSpPr>
          <p:cNvPr id="20" name="矩形: 圆角 19">
            <a:extLst>
              <a:ext uri="{FF2B5EF4-FFF2-40B4-BE49-F238E27FC236}">
                <ns2:creationId id="{0E72F4EE-E4B3-458F-94E5-35130C2E999B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95350" y="51720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低清增强（放大特征）</a:t>
            </a:r>
          </a:p>
        </p:txBody>
      </p:sp>
      <p:sp>
        <p:nvSpPr>
          <p:cNvPr id="22" name="矩形 21">
            <a:extLst>
              <a:ext uri="{FF2B5EF4-FFF2-40B4-BE49-F238E27FC236}">
                <ns2:creationId id="{08555CC2-34F6-4CB5-8B47-FC20058B82E5}"/>
              </a:ext>
            </a:extLst>
          </p:cNvPr>
          <p:cNvSpPr>
            <a:spLocks noGrp="1"/>
          </p:cNvSpPr>
          <p:nvPr/>
        </p:nvSpPr>
        <p:spPr>
          <a:xfrm>
            <a:off x="3238500" y="51339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超分辨率重建：从低分辨率输入生成更大或更有判别性的特征，不等于恢复真实丢失信息。</a:t>
            </a:r>
          </a:p>
        </p:txBody>
      </p:sp>
      <p:sp>
        <p:nvSpPr>
          <p:cNvPr id="23" name="矩形: 圆角 22">
            <a:extLst>
              <a:ext uri="{FF2B5EF4-FFF2-40B4-BE49-F238E27FC236}">
                <ns2:creationId id="{1502EA48-9E0D-41C1-AEDF-89C6EC926DF3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14400" y="5943600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看论文时只先记住四件事：标签是什么、图像多大、训练和测试是不是同一个人、答案标到了哪一层。</a:t>
            </a:r>
          </a:p>
        </p:txBody>
      </p:sp>
      <p:sp>
        <p:nvSpPr>
          <p:cNvPr id="25" name="直接连接符 24">
            <a:extLst>
              <a:ext uri="{FF2B5EF4-FFF2-40B4-BE49-F238E27FC236}">
                <ns2:creationId id="{78EE55DF-541C-4AEF-A31A-7BB1428EED5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ns2:creationId id="{39D8AD45-F9D2-4720-B1DC-36D3C3805CFE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术语解释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9CE399AB-BF6F-424D-B9C1-E57FF24D226C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038247056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ns2:creationId id="{E08515DB-632D-4A99-A738-5C3F557E04AB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同一个“准确率”不能替代所有评价指标</a:t>
            </a:r>
          </a:p>
        </p:txBody>
      </p:sp>
      <p:sp>
        <p:nvSpPr>
          <p:cNvPr id="2" name="矩形 1">
            <a:extLst>
              <a:ext uri="{FF2B5EF4-FFF2-40B4-BE49-F238E27FC236}">
                <ns2:creationId id="{A4AE0C80-E139-4F53-BA89-4E69516B3241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27</a:t>
            </a:r>
          </a:p>
        </p:txBody>
      </p:sp>
      <p:sp>
        <p:nvSpPr>
          <p:cNvPr id="3" name="矩形 2"/>
          <p:cNvSpPr/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-254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SimSun"/>
                <a:ea typeface="SimSun"/>
                <a:cs typeface="SimSun"/>
              </a:rPr>
              <a:t>论文里的英文：先翻译成大白话（2）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FBDAA6F7-2299-40EB-ABB4-8F9F3067314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ns2:creationId id="{AA32F659-E277-4154-956B-362788FB471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5350" y="18383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整体答对率（Accuracy）</a:t>
            </a:r>
          </a:p>
        </p:txBody>
      </p:sp>
      <p:sp>
        <p:nvSpPr>
          <p:cNvPr id="7" name="矩形 6">
            <a:extLst>
              <a:ext uri="{FF2B5EF4-FFF2-40B4-BE49-F238E27FC236}">
                <ns2:creationId id="{4BE4DFCF-ABDA-4891-8707-F6EF0CA56C1B}"/>
              </a:ext>
            </a:extLst>
          </p:cNvPr>
          <p:cNvSpPr>
            <a:spLocks noGrp="1"/>
          </p:cNvSpPr>
          <p:nvPr/>
        </p:nvSpPr>
        <p:spPr>
          <a:xfrm>
            <a:off x="3238500" y="18002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所有样本中预测正确的比例；类别不平衡时可能掩盖少数类效果。</a:t>
            </a:r>
          </a:p>
        </p:txBody>
      </p:sp>
      <p:sp>
        <p:nvSpPr>
          <p:cNvPr id="8" name="矩形: 圆角 7">
            <a:extLst>
              <a:ext uri="{FF2B5EF4-FFF2-40B4-BE49-F238E27FC236}">
                <ns2:creationId id="{078C7150-E141-4D01-8637-0D0D34AC22D2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95350" y="25050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报真 / 找全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8CCFC222-A5B9-47D3-B425-82AE5829B8E5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Precision：预测为某类的样本有多少是真的；Recall：真实属于某类的样本有多少被找到了。</a:t>
            </a:r>
          </a:p>
        </p:txBody>
      </p:sp>
      <p:sp>
        <p:nvSpPr>
          <p:cNvPr id="11" name="矩形: 圆角 10">
            <a:extLst>
              <a:ext uri="{FF2B5EF4-FFF2-40B4-BE49-F238E27FC236}">
                <ns2:creationId id="{9657C616-A7E0-438E-A87F-D48138BD8480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95350" y="31718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各类分别算，再取平均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6C153909-DB55-49C6-9BEB-C797BF57A24D}"/>
              </a:ext>
            </a:extLst>
          </p:cNvPr>
          <p:cNvSpPr>
            <a:spLocks noGrp="1"/>
          </p:cNvSpPr>
          <p:nvPr/>
        </p:nvSpPr>
        <p:spPr>
          <a:xfrm>
            <a:off x="3238500" y="31337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先分别计算每个类别的 F1 或 Recall，再平均，避免大类别完全主导结果。</a:t>
            </a:r>
          </a:p>
        </p:txBody>
      </p:sp>
      <p:sp>
        <p:nvSpPr>
          <p:cNvPr id="14" name="矩形: 圆角 13">
            <a:extLst>
              <a:ext uri="{FF2B5EF4-FFF2-40B4-BE49-F238E27FC236}">
                <ns2:creationId id="{151E2B35-6C15-4B6C-9961-75DAA04231DB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95350" y="38385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预测框和真实框重叠多少（IoU）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55F875A7-5C33-4689-A0E4-7A50390B09DB}"/>
              </a:ext>
            </a:extLst>
          </p:cNvPr>
          <p:cNvSpPr>
            <a:spLocks noGrp="1"/>
          </p:cNvSpPr>
          <p:nvPr/>
        </p:nvSpPr>
        <p:spPr>
          <a:xfrm>
            <a:off x="3238500" y="38004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预测框和真实框的重叠面积 ÷ 并集面积，用来判断检测框是否对准目标。</a:t>
            </a:r>
          </a:p>
        </p:txBody>
      </p:sp>
      <p:sp>
        <p:nvSpPr>
          <p:cNvPr id="17" name="矩形: 圆角 16">
            <a:extLst>
              <a:ext uri="{FF2B5EF4-FFF2-40B4-BE49-F238E27FC236}">
                <ns2:creationId id="{8582B422-F620-4C54-AE47-7A7FB3E1F004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95350" y="45053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单类 / 各类平均</a:t>
            </a:r>
          </a:p>
        </p:txBody>
      </p:sp>
      <p:sp>
        <p:nvSpPr>
          <p:cNvPr id="19" name="矩形 18"/>
          <p:cNvSpPr/>
          <p:nvPr/>
        </p:nvSpPr>
        <p:spPr>
          <a:xfrm>
            <a:off x="3238500" y="4467225"/>
            <a:ext cx="8001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AP 看一类，mAP 看各类平均；@50 表示框的重叠至少一半。</a:t>
            </a:r>
          </a:p>
        </p:txBody>
      </p:sp>
      <p:sp>
        <p:nvSpPr>
          <p:cNvPr id="20" name="矩形: 圆角 19">
            <a:extLst>
              <a:ext uri="{FF2B5EF4-FFF2-40B4-BE49-F238E27FC236}">
                <ns2:creationId id="{AAA6AB33-6E78-4945-A265-E1CE8D26931F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95350" y="51720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多阈值平均（mAP@50:95）</a:t>
            </a:r>
          </a:p>
        </p:txBody>
      </p:sp>
      <p:sp>
        <p:nvSpPr>
          <p:cNvPr id="22" name="矩形 21"/>
          <p:cNvSpPr/>
          <p:nvPr/>
        </p:nvSpPr>
        <p:spPr>
          <a:xfrm>
            <a:off x="3238500" y="5133975"/>
            <a:ext cx="8001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在 预测框和真实框重叠多少（IoU） 0.50、0.55 一直到 0.95 多个阈值上平均，更严格地评价定位质量。</a:t>
            </a:r>
          </a:p>
        </p:txBody>
      </p:sp>
      <p:sp>
        <p:nvSpPr>
          <p:cNvPr id="23" name="矩形: 圆角 22">
            <a:extLst>
              <a:ext uri="{FF2B5EF4-FFF2-40B4-BE49-F238E27FC236}">
                <ns2:creationId id="{75262C1B-74E4-4276-91F9-55BF24C4195A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14400" y="5943600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课堂行为检测建议同时报告 Precision、Recall、mAP@50 和 多阈值平均（mAP@50:95）。</a:t>
            </a:r>
          </a:p>
        </p:txBody>
      </p:sp>
      <p:sp>
        <p:nvSpPr>
          <p:cNvPr id="25" name="直接连接符 24">
            <a:extLst>
              <a:ext uri="{FF2B5EF4-FFF2-40B4-BE49-F238E27FC236}">
                <ns2:creationId id="{F15930EE-B01C-4827-B9B5-902A5C4C29D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ns2:creationId id="{4F649069-F538-4E12-A92F-5472D5C13DCF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术语解释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AAA2195D-0581-45B3-8964-117F302311BE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16341700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ns2:creationId id="{6FEAF5E4-6824-478F-9450-267385215FF4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把“看到了谁”和“跟住了谁”分开评价</a:t>
            </a:r>
          </a:p>
        </p:txBody>
      </p:sp>
      <p:sp>
        <p:nvSpPr>
          <p:cNvPr id="2" name="矩形 1">
            <a:extLst>
              <a:ext uri="{FF2B5EF4-FFF2-40B4-BE49-F238E27FC236}">
                <ns2:creationId id="{115BEEA9-DA03-4833-961E-9DF6F619BB18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28</a:t>
            </a:r>
          </a:p>
        </p:txBody>
      </p:sp>
      <p:sp>
        <p:nvSpPr>
          <p:cNvPr id="3" name="矩形 2"/>
          <p:cNvSpPr/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-254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SimSun"/>
                <a:ea typeface="SimSun"/>
                <a:cs typeface="SimSun"/>
              </a:rPr>
              <a:t>论文里的英文：先翻译成大白话（3）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63F8633C-F75E-4514-AD18-403B543B6F6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ns2:creationId id="{A4A22B90-4182-4A45-BA24-230B6E22361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5350" y="18383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关键点够不够近（PCK / PCKh）</a:t>
            </a:r>
          </a:p>
        </p:txBody>
      </p:sp>
      <p:sp>
        <p:nvSpPr>
          <p:cNvPr id="7" name="矩形 6">
            <a:extLst>
              <a:ext uri="{FF2B5EF4-FFF2-40B4-BE49-F238E27FC236}">
                <ns2:creationId id="{C072FF04-AAF2-427E-A8A9-361C99D8207F}"/>
              </a:ext>
            </a:extLst>
          </p:cNvPr>
          <p:cNvSpPr>
            <a:spLocks noGrp="1"/>
          </p:cNvSpPr>
          <p:nvPr/>
        </p:nvSpPr>
        <p:spPr>
          <a:xfrm>
            <a:off x="3238500" y="18002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关键点距离真实位置足够近就算正确；PCKh 用头部尺寸做归一化。</a:t>
            </a:r>
          </a:p>
        </p:txBody>
      </p:sp>
      <p:sp>
        <p:nvSpPr>
          <p:cNvPr id="8" name="矩形: 圆角 7">
            <a:extLst>
              <a:ext uri="{FF2B5EF4-FFF2-40B4-BE49-F238E27FC236}">
                <ns2:creationId id="{E161F7A5-5A65-4592-A9D7-EFA8D9AD6978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95350" y="25050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人体大小评分（OKS）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174C8DD2-CDCE-401A-A69A-0EC7FE95145D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OKS 衡量关键点与人体尺度的匹配程度；MPJPE 是平均每个关节的定位误差，越小越好。</a:t>
            </a:r>
          </a:p>
        </p:txBody>
      </p:sp>
      <p:sp>
        <p:nvSpPr>
          <p:cNvPr id="11" name="矩形: 圆角 10">
            <a:extLst>
              <a:ext uri="{FF2B5EF4-FFF2-40B4-BE49-F238E27FC236}">
                <ns2:creationId id="{11D78943-5F36-4EB7-839B-6799F7C96C8C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95350" y="31718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漏检误检换号（MOTA）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56EFBE72-02A0-4423-B108-A3BC74A418A9}"/>
              </a:ext>
            </a:extLst>
          </p:cNvPr>
          <p:cNvSpPr>
            <a:spLocks noGrp="1"/>
          </p:cNvSpPr>
          <p:nvPr/>
        </p:nvSpPr>
        <p:spPr>
          <a:xfrm>
            <a:off x="3238500" y="31337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MOTA 综合漏检、误检和身份切换；MOTP 衡量匹配位置的精度。</a:t>
            </a:r>
          </a:p>
        </p:txBody>
      </p:sp>
      <p:sp>
        <p:nvSpPr>
          <p:cNvPr id="14" name="矩形: 圆角 13">
            <a:extLst>
              <a:ext uri="{FF2B5EF4-FFF2-40B4-BE49-F238E27FC236}">
                <ns2:creationId id="{86F6D260-3FE9-4B04-8A64-95C52ED01E53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95350" y="38385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同一人跟住没（IDF1）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CE6AB55D-1C9A-4123-922D-F3C2C5A165AF}"/>
              </a:ext>
            </a:extLst>
          </p:cNvPr>
          <p:cNvSpPr>
            <a:spLocks noGrp="1"/>
          </p:cNvSpPr>
          <p:nvPr/>
        </p:nvSpPr>
        <p:spPr>
          <a:xfrm>
            <a:off x="3238500" y="38004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IDF1 衡量身份轨迹是否连续一致；HOTA 同时考虑检测准确度和关联准确度。</a:t>
            </a:r>
          </a:p>
        </p:txBody>
      </p:sp>
      <p:sp>
        <p:nvSpPr>
          <p:cNvPr id="17" name="矩形: 圆角 16">
            <a:extLst>
              <a:ext uri="{FF2B5EF4-FFF2-40B4-BE49-F238E27FC236}">
                <ns2:creationId id="{9E021E31-8EE4-4567-90B7-0890BA4A437C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95350" y="45053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固定人物编号（person_id）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BDA9E212-A5C7-41B9-BF34-FFCF80CDD7BD}"/>
              </a:ext>
            </a:extLst>
          </p:cNvPr>
          <p:cNvSpPr>
            <a:spLocks noGrp="1"/>
          </p:cNvSpPr>
          <p:nvPr/>
        </p:nvSpPr>
        <p:spPr>
          <a:xfrm>
            <a:off x="3238500" y="44672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系统给每个人的固定编号，同一个人跨帧应保持同一个 ID。</a:t>
            </a:r>
          </a:p>
        </p:txBody>
      </p:sp>
      <p:sp>
        <p:nvSpPr>
          <p:cNvPr id="20" name="矩形: 圆角 19">
            <a:extLst>
              <a:ext uri="{FF2B5EF4-FFF2-40B4-BE49-F238E27FC236}">
                <ns2:creationId id="{2F707108-2FD8-475D-94C3-314F40C030F8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95350" y="51720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不计分区域 / 关键点是否看得见</a:t>
            </a:r>
          </a:p>
        </p:txBody>
      </p:sp>
      <p:sp>
        <p:nvSpPr>
          <p:cNvPr id="22" name="矩形 21">
            <a:extLst>
              <a:ext uri="{FF2B5EF4-FFF2-40B4-BE49-F238E27FC236}">
                <ns2:creationId id="{603B6B3B-A06B-4B43-A7E0-8B08BC63EA1C}"/>
              </a:ext>
            </a:extLst>
          </p:cNvPr>
          <p:cNvSpPr>
            <a:spLocks noGrp="1"/>
          </p:cNvSpPr>
          <p:nvPr/>
        </p:nvSpPr>
        <p:spPr>
          <a:xfrm>
            <a:off x="3238500" y="51339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ignore regions 是不可靠区域；可见、遮挡、截断标签用于区分关键点是否真的能看到。</a:t>
            </a:r>
          </a:p>
        </p:txBody>
      </p:sp>
      <p:sp>
        <p:nvSpPr>
          <p:cNvPr id="23" name="矩形: 圆角 22">
            <a:extLst>
              <a:ext uri="{FF2B5EF4-FFF2-40B4-BE49-F238E27FC236}">
                <ns2:creationId id="{D456B68E-E6AD-4113-A1BF-7E9DA321202A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14400" y="5943600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复杂多人场景只看四件事：点有没有找准、哪里被挡住、每个人编号有没有串、轨迹有没有断。</a:t>
            </a:r>
          </a:p>
        </p:txBody>
      </p:sp>
      <p:sp>
        <p:nvSpPr>
          <p:cNvPr id="25" name="直接连接符 24">
            <a:extLst>
              <a:ext uri="{FF2B5EF4-FFF2-40B4-BE49-F238E27FC236}">
                <ns2:creationId id="{8B37CD10-01E2-436E-AF0B-5113361D4BE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ns2:creationId id="{85AF423A-9C21-499A-A4FC-A73059FF34BE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术语解释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D0B520BE-4903-467A-B75A-B71133AFEF35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010915465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8632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29A · 实测结果替换原占位页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先看模型有没有少找，再用真实答案算准确率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24" name="table"/>
          <p:cNvGrpSpPr/>
          <p:nvPr/>
        </p:nvGrpSpPr>
        <p:grpSpPr>
          <a:xfrm>
            <a:off x="685800" y="1676400"/>
            <a:ext cx="10820400" cy="3238500"/>
            <a:chOff x="685800" y="1676400"/>
            <a:chExt cx="10820400" cy="32385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3238500"/>
            </a:xfrm>
            <a:prstGeom prst="roundRect">
              <a:avLst>
                <a:gd name="adj" fmla="val 5294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676400"/>
              <a:ext cx="10820400" cy="5143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4692" y="18446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模型（它在做什么）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22142" y="18446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这次实际看到的变化</a:t>
              </a:r>
            </a:p>
          </p:txBody>
        </p:sp>
        <p:sp>
          <p:nvSpPr>
            <p:cNvPr id="30" name="TextBox 10"/>
            <p:cNvSpPr txBox="1"/>
            <p:nvPr/>
          </p:nvSpPr>
          <p:spPr>
            <a:xfrm>
              <a:off x="8089392" y="18446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用大白话解释</a:t>
              </a:r>
            </a:p>
          </p:txBody>
        </p:sp>
        <p:sp>
          <p:nvSpPr>
            <p:cNvPr id="31" name="Freeform 11"/>
            <p:cNvSpPr/>
            <p:nvPr/>
          </p:nvSpPr>
          <p:spPr>
            <a:xfrm>
              <a:off x="685800" y="2190750"/>
              <a:ext cx="10820400" cy="2000250"/>
            </a:xfrm>
            <a:custGeom>
              <a:avLst/>
              <a:gdLst/>
              <a:ahLst/>
              <a:cxnLst/>
              <a:rect l="l" t="t" r="r" b="b"/>
              <a:pathLst>
                <a:path w="10820400" h="2000250">
                  <a:moveTo>
                    <a:pt x="0" y="0"/>
                  </a:moveTo>
                  <a:lnTo>
                    <a:pt x="10820400" y="0"/>
                  </a:lnTo>
                  <a:moveTo>
                    <a:pt x="0" y="666750"/>
                  </a:moveTo>
                  <a:lnTo>
                    <a:pt x="10820400" y="666750"/>
                  </a:lnTo>
                  <a:moveTo>
                    <a:pt x="0" y="1333500"/>
                  </a:moveTo>
                  <a:lnTo>
                    <a:pt x="10820400" y="1333500"/>
                  </a:lnTo>
                  <a:moveTo>
                    <a:pt x="0" y="2000250"/>
                  </a:moveTo>
                  <a:lnTo>
                    <a:pt x="10820400" y="20002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3930" y="2422525"/>
              <a:ext cx="2285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YOLO11n（找人/物体）</a:t>
              </a:r>
            </a:p>
          </p:txBody>
        </p:sp>
        <p:sp>
          <p:nvSpPr>
            <p:cNvPr id="32" name="TextBox 13"/>
            <p:cNvSpPr txBox="1"/>
            <p:nvPr/>
          </p:nvSpPr>
          <p:spPr>
            <a:xfrm>
              <a:off x="3422142" y="2435225"/>
              <a:ext cx="1949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检测框：13.83 → 24.50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89773" y="2447925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框的数量，不等于准确率</a:t>
              </a:r>
            </a:p>
          </p:txBody>
        </p:sp>
        <p:sp>
          <p:nvSpPr>
            <p:cNvPr id="33" name="TextBox 15"/>
            <p:cNvSpPr txBox="1"/>
            <p:nvPr/>
          </p:nvSpPr>
          <p:spPr>
            <a:xfrm>
              <a:off x="963930" y="3089275"/>
              <a:ext cx="31615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YOLO11n-Pose（找身体关键点）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22142" y="3101975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关键点人次：10.83 → 6.67</a:t>
              </a:r>
            </a:p>
          </p:txBody>
        </p:sp>
        <p:sp>
          <p:nvSpPr>
            <p:cNvPr id="34" name="TextBox 17"/>
            <p:cNvSpPr txBox="1"/>
            <p:nvPr/>
          </p:nvSpPr>
          <p:spPr>
            <a:xfrm>
              <a:off x="8089773" y="3114675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低分辨率敏感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3930" y="3756025"/>
              <a:ext cx="33454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RT-DETR-L（另一种找目标的方法）</a:t>
              </a:r>
            </a:p>
          </p:txBody>
        </p:sp>
        <p:sp>
          <p:nvSpPr>
            <p:cNvPr id="35" name="TextBox 19"/>
            <p:cNvSpPr txBox="1"/>
            <p:nvPr/>
          </p:nvSpPr>
          <p:spPr>
            <a:xfrm>
              <a:off x="3422142" y="3768725"/>
              <a:ext cx="1949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检测框：63.67 → 45.83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9773" y="378142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先跑通的比较起点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3930" y="4422775"/>
              <a:ext cx="25097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DAiSEE（投入度参考模型）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22142" y="4435475"/>
              <a:ext cx="295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85B4A"/>
                  </a:solidFill>
                  <a:latin typeface="Microsoft YaHei"/>
                  <a:ea typeface="Microsoft YaHei"/>
                  <a:cs typeface="Microsoft YaHei"/>
                </a:rPr>
                <a:t>验证集：答对率30% · 平均差1.20级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89773" y="444817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先跑通的参考起点</a:t>
              </a:r>
            </a:p>
          </p:txBody>
        </p:sp>
      </p:grpSp>
      <p:grpSp>
        <p:nvGrpSpPr>
          <p:cNvPr id="26" name="note"/>
          <p:cNvGrpSpPr/>
          <p:nvPr/>
        </p:nvGrpSpPr>
        <p:grpSpPr>
          <a:xfrm>
            <a:off x="678942" y="5397500"/>
            <a:ext cx="7019677" cy="264033"/>
            <a:chOff x="678942" y="5397500"/>
            <a:chExt cx="7019677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678942" y="5397500"/>
              <a:ext cx="7019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正式的课堂准确率、姿态准确率、投入度误差：必须逐张图片/逐段视频准备真实答案。</a:t>
              </a:r>
            </a:p>
          </p:txBody>
        </p:sp>
      </p:grpSp>
      <p:grpSp>
        <p:nvGrpSpPr>
          <p:cNvPr id="29" name="conclusion-summary"/>
          <p:cNvGrpSpPr/>
          <p:nvPr/>
        </p:nvGrpSpPr>
        <p:grpSpPr>
          <a:xfrm>
            <a:off x="685800" y="5810250"/>
            <a:ext cx="10820400" cy="400050"/>
            <a:chOff x="685800" y="5810250"/>
            <a:chExt cx="10820400" cy="400050"/>
          </a:xfrm>
        </p:grpSpPr>
        <p:sp>
          <p:nvSpPr>
            <p:cNvPr id="27" name="Rectangle 27"/>
            <p:cNvSpPr/>
            <p:nvPr/>
          </p:nvSpPr>
          <p:spPr>
            <a:xfrm>
              <a:off x="685800" y="5810250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973" y="5915025"/>
              <a:ext cx="466542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一句话结论：流程已经跑通，正式性能还要用真实答案验证。</a:t>
              </a:r>
            </a:p>
          </p:txBody>
        </p:sp>
      </p:grpSp>
      <p:sp>
        <p:nvSpPr>
          <p:cNvPr id="10" name="直接连接符 9">
            <a:extLst>
              <a:ext uri="{FF2B5EF4-FFF2-40B4-BE49-F238E27FC236}">
                <ns2:creationId id="{C2193700-74D8-4165-B410-0A57E28D1F09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直接连接符 10">
            <a:extLst>
              <a:ext uri="{FF2B5EF4-FFF2-40B4-BE49-F238E27FC236}">
                <ns2:creationId id="{232330D5-6B0A-4C81-9AA8-9D748C81621E}"/>
              </a:ext>
            </a:extLst>
          </p:cNvPr>
          <p:cNvSpPr>
            <a:spLocks noGrp="1"/>
          </p:cNvSpPr>
          <p:nvPr/>
        </p:nvSpPr>
        <p:spPr>
          <a:xfrm>
            <a:off x="1619250" y="29527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直接连接符 12">
            <a:extLst>
              <a:ext uri="{FF2B5EF4-FFF2-40B4-BE49-F238E27FC236}">
                <ns2:creationId id="{5CF2FC74-4334-4BCF-9B0C-E63DA92FD24B}"/>
              </a:ext>
            </a:extLst>
          </p:cNvPr>
          <p:cNvSpPr>
            <a:spLocks noGrp="1"/>
          </p:cNvSpPr>
          <p:nvPr/>
        </p:nvSpPr>
        <p:spPr>
          <a:xfrm>
            <a:off x="2362200" y="29527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14">
            <a:extLst>
              <a:ext uri="{FF2B5EF4-FFF2-40B4-BE49-F238E27FC236}">
                <ns2:creationId id="{C57E1FBE-2A11-4519-9BCF-43ABB1E91B71}"/>
              </a:ext>
            </a:extLst>
          </p:cNvPr>
          <p:cNvSpPr>
            <a:spLocks noGrp="1"/>
          </p:cNvSpPr>
          <p:nvPr/>
        </p:nvSpPr>
        <p:spPr>
          <a:xfrm>
            <a:off x="3105150" y="29527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直接连接符 16">
            <a:extLst>
              <a:ext uri="{FF2B5EF4-FFF2-40B4-BE49-F238E27FC236}">
                <ns2:creationId id="{4194962A-C1F6-441C-A836-0F7CD5DF30D8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直接连接符 18">
            <a:extLst>
              <a:ext uri="{FF2B5EF4-FFF2-40B4-BE49-F238E27FC236}">
                <ns2:creationId id="{1CE2C136-3076-4ED5-AEC4-0CC2721B50A6}"/>
              </a:ext>
            </a:extLst>
          </p:cNvPr>
          <p:cNvSpPr>
            <a:spLocks noGrp="1"/>
          </p:cNvSpPr>
          <p:nvPr/>
        </p:nvSpPr>
        <p:spPr>
          <a:xfrm>
            <a:off x="4591050" y="29527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val="205050163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67FACB4B-CAD6-44AC-8965-3C54AECF1C49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每次处理都保留参数和输出证据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DE397E-4F21-434B-A0BB-028B1841297F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rPr>
              <a:t>30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CA4830-9DE6-4CA4-9317-C04C831D920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rPr>
              <a:t>实验可复现记录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1058031-1440-4474-A1CF-85D2B9CE5C48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D7BC422-2D6C-4A59-98EC-4E79296452D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647700"/>
          </a:xfrm>
          <a:prstGeom prst="roundRect">
            <a:avLst>
              <a:gd name="adj" fmla="val 17647"/>
            </a:avLst>
          </a:prstGeom>
          <a:solidFill>
            <a:srgbClr val="203F3A"/>
          </a:solidFill>
          <a:ln w="9525">
            <a:solidFill>
              <a:srgbClr val="3154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549B26-0B48-4545-9E9E-E27252C8ABE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14300" cy="647700"/>
          </a:xfrm>
          <a:prstGeom prst="rect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C66EE2-EFB2-4B19-AE49-2A23A8D84FE7}"/>
              </a:ext>
            </a:extLst>
          </p:cNvPr>
          <p:cNvSpPr>
            <a:spLocks noGrp="1"/>
          </p:cNvSpPr>
          <p:nvPr/>
        </p:nvSpPr>
        <p:spPr>
          <a:xfrm>
            <a:off x="1066800" y="195262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experiment_config.json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B8D96D-7B13-42F7-974A-31C16BDECEFC}"/>
              </a:ext>
            </a:extLst>
          </p:cNvPr>
          <p:cNvSpPr>
            <a:spLocks noGrp="1"/>
          </p:cNvSpPr>
          <p:nvPr/>
        </p:nvSpPr>
        <p:spPr>
          <a:xfrm>
            <a:off x="4191000" y="1971675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处理参数、随机种子、数据集信息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FAF0F32-4DA3-42C3-86FF-BEB66F380193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10820400" cy="647700"/>
          </a:xfrm>
          <a:prstGeom prst="roundRect">
            <a:avLst>
              <a:gd name="adj" fmla="val 17647"/>
            </a:avLst>
          </a:prstGeom>
          <a:solidFill>
            <a:srgbClr val="203F3A"/>
          </a:solidFill>
          <a:ln w="9525">
            <a:solidFill>
              <a:srgbClr val="3154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3A77C8-2B2E-4115-AA07-547EF2949E81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114300" cy="647700"/>
          </a:xfrm>
          <a:prstGeom prst="rect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34206B-D3AE-46C4-9C6E-5FB6B0B6D00B}"/>
              </a:ext>
            </a:extLst>
          </p:cNvPr>
          <p:cNvSpPr>
            <a:spLocks noGrp="1"/>
          </p:cNvSpPr>
          <p:nvPr/>
        </p:nvSpPr>
        <p:spPr>
          <a:xfrm>
            <a:off x="1066800" y="282892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reproducibility.json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7FB949-85D5-4E17-A887-615E4C4C7CF6}"/>
              </a:ext>
            </a:extLst>
          </p:cNvPr>
          <p:cNvSpPr>
            <a:spLocks noGrp="1"/>
          </p:cNvSpPr>
          <p:nvPr/>
        </p:nvSpPr>
        <p:spPr>
          <a:xfrm>
            <a:off x="4191000" y="2847975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程序版本、运行时间、数据版本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B6D7DB3-2428-4554-A86A-47AA098B0C58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0820400" cy="647700"/>
          </a:xfrm>
          <a:prstGeom prst="roundRect">
            <a:avLst>
              <a:gd name="adj" fmla="val 17647"/>
            </a:avLst>
          </a:prstGeom>
          <a:solidFill>
            <a:srgbClr val="203F3A"/>
          </a:solidFill>
          <a:ln w="9525">
            <a:solidFill>
              <a:srgbClr val="3154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8CD9B5-166B-4897-9F08-895631A46F35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14300" cy="647700"/>
          </a:xfrm>
          <a:prstGeom prst="rect">
            <a:avLst/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B877A9-009D-465E-AC25-C39DD6B1A09C}"/>
              </a:ext>
            </a:extLst>
          </p:cNvPr>
          <p:cNvSpPr>
            <a:spLocks noGrp="1"/>
          </p:cNvSpPr>
          <p:nvPr/>
        </p:nvSpPr>
        <p:spPr>
          <a:xfrm>
            <a:off x="1066800" y="370522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output_hashes.csv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4E8265-78A4-4B4A-A715-3478FBC27802}"/>
              </a:ext>
            </a:extLst>
          </p:cNvPr>
          <p:cNvSpPr>
            <a:spLocks noGrp="1"/>
          </p:cNvSpPr>
          <p:nvPr/>
        </p:nvSpPr>
        <p:spPr>
          <a:xfrm>
            <a:off x="4191000" y="3724275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输出文件哈希，验证文件是否变化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BF454-EB4D-4A90-8F64-BEF94769A2F4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0820400" cy="647700"/>
          </a:xfrm>
          <a:prstGeom prst="roundRect">
            <a:avLst>
              <a:gd name="adj" fmla="val 17647"/>
            </a:avLst>
          </a:prstGeom>
          <a:solidFill>
            <a:srgbClr val="203F3A"/>
          </a:solidFill>
          <a:ln w="9525">
            <a:solidFill>
              <a:srgbClr val="3154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1A696A-ABCC-44D8-88F4-A202185D5072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14300" cy="647700"/>
          </a:xfrm>
          <a:prstGeom prst="rect">
            <a:avLst/>
          </a:prstGeom>
          <a:solidFill>
            <a:srgbClr val="D7AA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3772B87-B372-4CC1-8CE3-6B2B810C606F}"/>
              </a:ext>
            </a:extLst>
          </p:cNvPr>
          <p:cNvSpPr>
            <a:spLocks noGrp="1"/>
          </p:cNvSpPr>
          <p:nvPr/>
        </p:nvSpPr>
        <p:spPr>
          <a:xfrm>
            <a:off x="1066800" y="458152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checkpoint.json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C42984-9A9F-4740-A4D6-BDA075E6589B}"/>
              </a:ext>
            </a:extLst>
          </p:cNvPr>
          <p:cNvSpPr>
            <a:spLocks noGrp="1"/>
          </p:cNvSpPr>
          <p:nvPr/>
        </p:nvSpPr>
        <p:spPr>
          <a:xfrm>
            <a:off x="4191000" y="4600575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断点续跑和已完成记录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C996C1-24B6-4248-B095-C4D81DAB8B5B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这样可以回答：这张图片如何得到、参数是什么、结果是否能够复现。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325E6B2B-6E72-4382-900D-65A68769121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02DF6B-486B-44DB-B042-461164A28079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实验管理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9679079-47A6-4775-8546-4218C3B90551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315819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202F6FCE-E45D-4FF0-807A-33DF2980F6E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用一个样本完成一次完整实验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271F0B-E4CA-49AE-AB7C-C69821B8BD73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31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2EA422-8A26-4F70-B686-E58CBDA62403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程序演示路线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A898DDC-8DA4-4549-BBED-31174E209B61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E8D3849-8E19-4F5F-82D7-591EC301C793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876300" cy="876300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DE44AC-D7AD-4FC0-918E-13BA25CF8983}"/>
              </a:ext>
            </a:extLst>
          </p:cNvPr>
          <p:cNvSpPr>
            <a:spLocks noGrp="1"/>
          </p:cNvSpPr>
          <p:nvPr/>
        </p:nvSpPr>
        <p:spPr>
          <a:xfrm>
            <a:off x="1162050" y="23431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23D659-43B2-4A1F-B0A2-AB38AFC8ADA2}"/>
              </a:ext>
            </a:extLst>
          </p:cNvPr>
          <p:cNvSpPr>
            <a:spLocks noGrp="1"/>
          </p:cNvSpPr>
          <p:nvPr/>
        </p:nvSpPr>
        <p:spPr>
          <a:xfrm>
            <a:off x="400050" y="3219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选择数据集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4F7D2E75-4620-4F05-977D-135200D6C58B}"/>
              </a:ext>
            </a:extLst>
          </p:cNvPr>
          <p:cNvSpPr>
            <a:spLocks noGrp="1"/>
          </p:cNvSpPr>
          <p:nvPr/>
        </p:nvSpPr>
        <p:spPr>
          <a:xfrm>
            <a:off x="1828800" y="2514600"/>
            <a:ext cx="10287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E18606A-D4B1-4250-9792-BBC8A9379FA1}"/>
              </a:ext>
            </a:extLst>
          </p:cNvPr>
          <p:cNvSpPr>
            <a:spLocks noGrp="1"/>
          </p:cNvSpPr>
          <p:nvPr/>
        </p:nvSpPr>
        <p:spPr>
          <a:xfrm>
            <a:off x="2971800" y="2076450"/>
            <a:ext cx="876300" cy="876300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046CCB-3545-4BC1-85CF-4F0F5725A072}"/>
              </a:ext>
            </a:extLst>
          </p:cNvPr>
          <p:cNvSpPr>
            <a:spLocks noGrp="1"/>
          </p:cNvSpPr>
          <p:nvPr/>
        </p:nvSpPr>
        <p:spPr>
          <a:xfrm>
            <a:off x="3257550" y="23431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79DD97-5F13-4047-8D2A-20D48A79D456}"/>
              </a:ext>
            </a:extLst>
          </p:cNvPr>
          <p:cNvSpPr>
            <a:spLocks noGrp="1"/>
          </p:cNvSpPr>
          <p:nvPr/>
        </p:nvSpPr>
        <p:spPr>
          <a:xfrm>
            <a:off x="2495550" y="3219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选择图片或视频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889495CB-53C0-4735-A2AC-569A94FC0779}"/>
              </a:ext>
            </a:extLst>
          </p:cNvPr>
          <p:cNvSpPr>
            <a:spLocks noGrp="1"/>
          </p:cNvSpPr>
          <p:nvPr/>
        </p:nvSpPr>
        <p:spPr>
          <a:xfrm>
            <a:off x="3924300" y="2514600"/>
            <a:ext cx="10287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33A82-343E-4BC6-A134-747F3FCEBD1F}"/>
              </a:ext>
            </a:extLst>
          </p:cNvPr>
          <p:cNvSpPr>
            <a:spLocks noGrp="1"/>
          </p:cNvSpPr>
          <p:nvPr/>
        </p:nvSpPr>
        <p:spPr>
          <a:xfrm>
            <a:off x="5067300" y="2076450"/>
            <a:ext cx="876300" cy="876300"/>
          </a:xfrm>
          <a:prstGeom prst="ellipse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BAA0E6-9057-429A-ABCA-C64177754CED}"/>
              </a:ext>
            </a:extLst>
          </p:cNvPr>
          <p:cNvSpPr>
            <a:spLocks noGrp="1"/>
          </p:cNvSpPr>
          <p:nvPr/>
        </p:nvSpPr>
        <p:spPr>
          <a:xfrm>
            <a:off x="5353050" y="23431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AF09DD-3569-403C-B70A-BEB2BAD9C748}"/>
              </a:ext>
            </a:extLst>
          </p:cNvPr>
          <p:cNvSpPr>
            <a:spLocks noGrp="1"/>
          </p:cNvSpPr>
          <p:nvPr/>
        </p:nvSpPr>
        <p:spPr>
          <a:xfrm>
            <a:off x="4591050" y="3219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设置缩放比例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0CD5CB39-EA8A-47F2-A356-23849B2FACFE}"/>
              </a:ext>
            </a:extLst>
          </p:cNvPr>
          <p:cNvSpPr>
            <a:spLocks noGrp="1"/>
          </p:cNvSpPr>
          <p:nvPr/>
        </p:nvSpPr>
        <p:spPr>
          <a:xfrm>
            <a:off x="6019800" y="2514600"/>
            <a:ext cx="10287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5B500FB-B237-4166-B03F-6AD37ABBF9D2}"/>
              </a:ext>
            </a:extLst>
          </p:cNvPr>
          <p:cNvSpPr>
            <a:spLocks noGrp="1"/>
          </p:cNvSpPr>
          <p:nvPr/>
        </p:nvSpPr>
        <p:spPr>
          <a:xfrm>
            <a:off x="7162800" y="2076450"/>
            <a:ext cx="876300" cy="876300"/>
          </a:xfrm>
          <a:prstGeom prst="ellipse">
            <a:avLst/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7DE26D-E372-424F-8299-34F4EB2448D8}"/>
              </a:ext>
            </a:extLst>
          </p:cNvPr>
          <p:cNvSpPr>
            <a:spLocks noGrp="1"/>
          </p:cNvSpPr>
          <p:nvPr/>
        </p:nvSpPr>
        <p:spPr>
          <a:xfrm>
            <a:off x="7448550" y="23431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600E5CA-9CC4-44A3-B90A-408A06B1194E}"/>
              </a:ext>
            </a:extLst>
          </p:cNvPr>
          <p:cNvSpPr>
            <a:spLocks noGrp="1"/>
          </p:cNvSpPr>
          <p:nvPr/>
        </p:nvSpPr>
        <p:spPr>
          <a:xfrm>
            <a:off x="6686550" y="3219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设置遮挡方式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422E273D-244D-48AC-8609-509E66120721}"/>
              </a:ext>
            </a:extLst>
          </p:cNvPr>
          <p:cNvSpPr>
            <a:spLocks noGrp="1"/>
          </p:cNvSpPr>
          <p:nvPr/>
        </p:nvSpPr>
        <p:spPr>
          <a:xfrm>
            <a:off x="8115300" y="2514600"/>
            <a:ext cx="10287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5C64C85-E873-47FE-B97F-71355BC4DB6F}"/>
              </a:ext>
            </a:extLst>
          </p:cNvPr>
          <p:cNvSpPr>
            <a:spLocks noGrp="1"/>
          </p:cNvSpPr>
          <p:nvPr/>
        </p:nvSpPr>
        <p:spPr>
          <a:xfrm>
            <a:off x="9258300" y="2076450"/>
            <a:ext cx="876300" cy="876300"/>
          </a:xfrm>
          <a:prstGeom prst="ellipse">
            <a:avLst/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3DA73B-787A-44E7-BF63-EAAFCC259E14}"/>
              </a:ext>
            </a:extLst>
          </p:cNvPr>
          <p:cNvSpPr>
            <a:spLocks noGrp="1"/>
          </p:cNvSpPr>
          <p:nvPr/>
        </p:nvSpPr>
        <p:spPr>
          <a:xfrm>
            <a:off x="9544050" y="23431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142A809-CE9C-4F2F-9D05-260458A6989F}"/>
              </a:ext>
            </a:extLst>
          </p:cNvPr>
          <p:cNvSpPr>
            <a:spLocks noGrp="1"/>
          </p:cNvSpPr>
          <p:nvPr/>
        </p:nvSpPr>
        <p:spPr>
          <a:xfrm>
            <a:off x="8782050" y="3219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聚焦人物并导出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85798D8-E5A4-4FF4-B125-E4A0AAE70DB8}"/>
              </a:ext>
            </a:extLst>
          </p:cNvPr>
          <p:cNvSpPr>
            <a:spLocks noGrp="1"/>
          </p:cNvSpPr>
          <p:nvPr/>
        </p:nvSpPr>
        <p:spPr>
          <a:xfrm>
            <a:off x="1104900" y="4267200"/>
            <a:ext cx="9982200" cy="857250"/>
          </a:xfrm>
          <a:prstGeom prst="roundRect">
            <a:avLst>
              <a:gd name="adj" fmla="val 17778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2A8B0DA-CA85-4D3E-97CF-2295B517B1A9}"/>
              </a:ext>
            </a:extLst>
          </p:cNvPr>
          <p:cNvSpPr>
            <a:spLocks noGrp="1"/>
          </p:cNvSpPr>
          <p:nvPr/>
        </p:nvSpPr>
        <p:spPr>
          <a:xfrm>
            <a:off x="1390650" y="44577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现场展示重点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8AF7E8-23A4-4452-851E-A30A92D00184}"/>
              </a:ext>
            </a:extLst>
          </p:cNvPr>
          <p:cNvSpPr>
            <a:spLocks noGrp="1"/>
          </p:cNvSpPr>
          <p:nvPr/>
        </p:nvSpPr>
        <p:spPr>
          <a:xfrm>
            <a:off x="3143250" y="44386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同一人物、同一视频帧、只改变一个处理条件，然后查看前后图像和结果表。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7CE73B0-649A-446E-9DF0-B1AB3DE22482}"/>
              </a:ext>
            </a:extLst>
          </p:cNvPr>
          <p:cNvSpPr>
            <a:spLocks noGrp="1"/>
          </p:cNvSpPr>
          <p:nvPr/>
        </p:nvSpPr>
        <p:spPr>
          <a:xfrm>
            <a:off x="1104900" y="563880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建议演示时提前准备小样本，避免现场扫描整套数据产生等待。</a:t>
            </a:r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A91C2084-C6B1-47FD-990E-CDD0AC73631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CD940B-2481-490B-B865-3A4B4F3CDCE4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CDD9042-C3FF-4D7A-AD1E-A832B735ADBB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380167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9D02172F-4AFB-400A-9F80-DBBD4AD4650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每个条件都可以从配置文件复现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7D5B43-F4E0-4E06-8315-6EA328FB6B7A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32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092792-DAC2-40C6-8EDF-1065AAEF871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实验参数附录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EEDCAA81-4572-4154-8EE9-1E5A5F78CAF3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2E1313-A16C-4C79-AA01-9072A92B8AA1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247650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A99F39-4284-44E1-8B24-DE83AFF2DF63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参数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C4C0CC-97C1-4B59-A1A1-12A3C15AAA36}"/>
              </a:ext>
            </a:extLst>
          </p:cNvPr>
          <p:cNvSpPr>
            <a:spLocks noGrp="1"/>
          </p:cNvSpPr>
          <p:nvPr/>
        </p:nvSpPr>
        <p:spPr>
          <a:xfrm>
            <a:off x="3162300" y="1752600"/>
            <a:ext cx="2381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A886C1-891D-4FF3-8252-9E732C95606A}"/>
              </a:ext>
            </a:extLst>
          </p:cNvPr>
          <p:cNvSpPr>
            <a:spLocks noGrp="1"/>
          </p:cNvSpPr>
          <p:nvPr/>
        </p:nvSpPr>
        <p:spPr>
          <a:xfrm>
            <a:off x="3276600" y="18669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示例值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B10209-9430-47F9-93C4-77542F0BB93C}"/>
              </a:ext>
            </a:extLst>
          </p:cNvPr>
          <p:cNvSpPr>
            <a:spLocks noGrp="1"/>
          </p:cNvSpPr>
          <p:nvPr/>
        </p:nvSpPr>
        <p:spPr>
          <a:xfrm>
            <a:off x="5543550" y="1752600"/>
            <a:ext cx="3143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02BFA0-5717-409F-BC94-39A8FF4883F0}"/>
              </a:ext>
            </a:extLst>
          </p:cNvPr>
          <p:cNvSpPr>
            <a:spLocks noGrp="1"/>
          </p:cNvSpPr>
          <p:nvPr/>
        </p:nvSpPr>
        <p:spPr>
          <a:xfrm>
            <a:off x="5657850" y="18669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作用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FE9F3C-3AE2-4CE1-AAB8-17C9D1BBFFB5}"/>
              </a:ext>
            </a:extLst>
          </p:cNvPr>
          <p:cNvSpPr>
            <a:spLocks noGrp="1"/>
          </p:cNvSpPr>
          <p:nvPr/>
        </p:nvSpPr>
        <p:spPr>
          <a:xfrm>
            <a:off x="8686800" y="1752600"/>
            <a:ext cx="281940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8367AF-A1E1-4A96-BF9C-49CB04AB3D09}"/>
              </a:ext>
            </a:extLst>
          </p:cNvPr>
          <p:cNvSpPr>
            <a:spLocks noGrp="1"/>
          </p:cNvSpPr>
          <p:nvPr/>
        </p:nvSpPr>
        <p:spPr>
          <a:xfrm>
            <a:off x="8801100" y="18669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记录位置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F6B0D7-FA24-4617-830B-4295C46F637C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24765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843BFC-5BD5-4EB8-9338-BD486431E85E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resolution_scale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95FBBF-C209-415B-8617-43D776B4D6A0}"/>
              </a:ext>
            </a:extLst>
          </p:cNvPr>
          <p:cNvSpPr>
            <a:spLocks noGrp="1"/>
          </p:cNvSpPr>
          <p:nvPr/>
        </p:nvSpPr>
        <p:spPr>
          <a:xfrm>
            <a:off x="3162300" y="2247900"/>
            <a:ext cx="2381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5B65B4-74A2-4563-8DFF-9BA3791BF566}"/>
              </a:ext>
            </a:extLst>
          </p:cNvPr>
          <p:cNvSpPr>
            <a:spLocks noGrp="1"/>
          </p:cNvSpPr>
          <p:nvPr/>
        </p:nvSpPr>
        <p:spPr>
          <a:xfrm>
            <a:off x="3276600" y="23622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1.0 / 0.5 / 0.25 / 0.125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F1C610-0AD0-4D43-BF93-53BCBE990374}"/>
              </a:ext>
            </a:extLst>
          </p:cNvPr>
          <p:cNvSpPr>
            <a:spLocks noGrp="1"/>
          </p:cNvSpPr>
          <p:nvPr/>
        </p:nvSpPr>
        <p:spPr>
          <a:xfrm>
            <a:off x="5543550" y="2247900"/>
            <a:ext cx="3143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C59CED-7242-494A-84D3-F2E16B194A53}"/>
              </a:ext>
            </a:extLst>
          </p:cNvPr>
          <p:cNvSpPr>
            <a:spLocks noGrp="1"/>
          </p:cNvSpPr>
          <p:nvPr/>
        </p:nvSpPr>
        <p:spPr>
          <a:xfrm>
            <a:off x="5657850" y="23622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控制远距离视觉信息量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CA951E-A517-4C26-863C-3DE2B4E469CE}"/>
              </a:ext>
            </a:extLst>
          </p:cNvPr>
          <p:cNvSpPr>
            <a:spLocks noGrp="1"/>
          </p:cNvSpPr>
          <p:nvPr/>
        </p:nvSpPr>
        <p:spPr>
          <a:xfrm>
            <a:off x="8686800" y="2247900"/>
            <a:ext cx="28194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02DEA34-59FB-4E47-9959-139F9D92363A}"/>
              </a:ext>
            </a:extLst>
          </p:cNvPr>
          <p:cNvSpPr>
            <a:spLocks noGrp="1"/>
          </p:cNvSpPr>
          <p:nvPr/>
        </p:nvSpPr>
        <p:spPr>
          <a:xfrm>
            <a:off x="8801100" y="23622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experiment_config.json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1C802C-DAA9-4290-A95F-DB61B178C7A4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247650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F52A7C-D2B3-4CF0-851C-117D6360C9B2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occlusion_type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6879605-DF61-4E16-B6B1-4502EBB575E6}"/>
              </a:ext>
            </a:extLst>
          </p:cNvPr>
          <p:cNvSpPr>
            <a:spLocks noGrp="1"/>
          </p:cNvSpPr>
          <p:nvPr/>
        </p:nvSpPr>
        <p:spPr>
          <a:xfrm>
            <a:off x="3162300" y="2743200"/>
            <a:ext cx="2381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EF9D55-F41B-49A7-B6AD-C6793C8E41ED}"/>
              </a:ext>
            </a:extLst>
          </p:cNvPr>
          <p:cNvSpPr>
            <a:spLocks noGrp="1"/>
          </p:cNvSpPr>
          <p:nvPr/>
        </p:nvSpPr>
        <p:spPr>
          <a:xfrm>
            <a:off x="3276600" y="28575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pixel / rectangle / keypoint / foreground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0A4C1DD-A4B8-447A-BEE8-463D0567A6DD}"/>
              </a:ext>
            </a:extLst>
          </p:cNvPr>
          <p:cNvSpPr>
            <a:spLocks noGrp="1"/>
          </p:cNvSpPr>
          <p:nvPr/>
        </p:nvSpPr>
        <p:spPr>
          <a:xfrm>
            <a:off x="5543550" y="2743200"/>
            <a:ext cx="3143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88EB57-0DC2-490C-B354-23D9E7D7336C}"/>
              </a:ext>
            </a:extLst>
          </p:cNvPr>
          <p:cNvSpPr>
            <a:spLocks noGrp="1"/>
          </p:cNvSpPr>
          <p:nvPr/>
        </p:nvSpPr>
        <p:spPr>
          <a:xfrm>
            <a:off x="5657850" y="28575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区分遮挡来源和结构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D6084CD-CE41-43F9-A17D-D6F4283AF303}"/>
              </a:ext>
            </a:extLst>
          </p:cNvPr>
          <p:cNvSpPr>
            <a:spLocks noGrp="1"/>
          </p:cNvSpPr>
          <p:nvPr/>
        </p:nvSpPr>
        <p:spPr>
          <a:xfrm>
            <a:off x="8686800" y="2743200"/>
            <a:ext cx="281940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D33C88-3AF9-451A-AFD2-9BBFEE432C02}"/>
              </a:ext>
            </a:extLst>
          </p:cNvPr>
          <p:cNvSpPr>
            <a:spLocks noGrp="1"/>
          </p:cNvSpPr>
          <p:nvPr/>
        </p:nvSpPr>
        <p:spPr>
          <a:xfrm>
            <a:off x="8801100" y="28575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experiment_config.json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19F070-9967-4FA9-A02E-3F33FE022428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24765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E22467-22CA-4C8D-9F95-4942965F16B2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occlusion_area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DF0D39D-C692-4232-BA72-4E9F5700C2C0}"/>
              </a:ext>
            </a:extLst>
          </p:cNvPr>
          <p:cNvSpPr>
            <a:spLocks noGrp="1"/>
          </p:cNvSpPr>
          <p:nvPr/>
        </p:nvSpPr>
        <p:spPr>
          <a:xfrm>
            <a:off x="3162300" y="3238500"/>
            <a:ext cx="2381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C0CF4F3-77C6-4581-8EA3-1D258AE70642}"/>
              </a:ext>
            </a:extLst>
          </p:cNvPr>
          <p:cNvSpPr>
            <a:spLocks noGrp="1"/>
          </p:cNvSpPr>
          <p:nvPr/>
        </p:nvSpPr>
        <p:spPr>
          <a:xfrm>
            <a:off x="3276600" y="33528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2% / 5% / 8%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B03B407-3C7E-41C2-BA30-2AFECDEA6FB5}"/>
              </a:ext>
            </a:extLst>
          </p:cNvPr>
          <p:cNvSpPr>
            <a:spLocks noGrp="1"/>
          </p:cNvSpPr>
          <p:nvPr/>
        </p:nvSpPr>
        <p:spPr>
          <a:xfrm>
            <a:off x="5543550" y="3238500"/>
            <a:ext cx="3143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AB5EAE-C6D7-4A08-B3BB-B45E42A97DB1}"/>
              </a:ext>
            </a:extLst>
          </p:cNvPr>
          <p:cNvSpPr>
            <a:spLocks noGrp="1"/>
          </p:cNvSpPr>
          <p:nvPr/>
        </p:nvSpPr>
        <p:spPr>
          <a:xfrm>
            <a:off x="5657850" y="33528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控制遮挡强度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13D5415-9721-4A9E-BD05-DA20408F477D}"/>
              </a:ext>
            </a:extLst>
          </p:cNvPr>
          <p:cNvSpPr>
            <a:spLocks noGrp="1"/>
          </p:cNvSpPr>
          <p:nvPr/>
        </p:nvSpPr>
        <p:spPr>
          <a:xfrm>
            <a:off x="8686800" y="3238500"/>
            <a:ext cx="28194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27B75A3-58B8-4CE6-8AF7-1540132CFE3E}"/>
              </a:ext>
            </a:extLst>
          </p:cNvPr>
          <p:cNvSpPr>
            <a:spLocks noGrp="1"/>
          </p:cNvSpPr>
          <p:nvPr/>
        </p:nvSpPr>
        <p:spPr>
          <a:xfrm>
            <a:off x="8801100" y="33528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experiment_config.json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4EFCFEB-30FF-4096-A29B-1FBCE5651EF0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47650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C579890-4CBC-4D95-99FF-404DAAE2FB06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temporal_consistency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9755A42-406E-4288-88FB-1C99E023DACF}"/>
              </a:ext>
            </a:extLst>
          </p:cNvPr>
          <p:cNvSpPr>
            <a:spLocks noGrp="1"/>
          </p:cNvSpPr>
          <p:nvPr/>
        </p:nvSpPr>
        <p:spPr>
          <a:xfrm>
            <a:off x="3162300" y="3733800"/>
            <a:ext cx="2381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1253D88-31EA-438F-8A50-E30024F0FED9}"/>
              </a:ext>
            </a:extLst>
          </p:cNvPr>
          <p:cNvSpPr>
            <a:spLocks noGrp="1"/>
          </p:cNvSpPr>
          <p:nvPr/>
        </p:nvSpPr>
        <p:spPr>
          <a:xfrm>
            <a:off x="3276600" y="38481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on / off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2255426-A43F-4B82-8927-4B7BB0C9C16B}"/>
              </a:ext>
            </a:extLst>
          </p:cNvPr>
          <p:cNvSpPr>
            <a:spLocks noGrp="1"/>
          </p:cNvSpPr>
          <p:nvPr/>
        </p:nvSpPr>
        <p:spPr>
          <a:xfrm>
            <a:off x="5543550" y="3733800"/>
            <a:ext cx="3143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AA4C418-6D0B-4BD8-94C8-79F4A1265A21}"/>
              </a:ext>
            </a:extLst>
          </p:cNvPr>
          <p:cNvSpPr>
            <a:spLocks noGrp="1"/>
          </p:cNvSpPr>
          <p:nvPr/>
        </p:nvSpPr>
        <p:spPr>
          <a:xfrm>
            <a:off x="5657850" y="38481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视频中保持遮挡位置连续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F50A1D5-9402-4C76-8BF4-261C99F7CC69}"/>
              </a:ext>
            </a:extLst>
          </p:cNvPr>
          <p:cNvSpPr>
            <a:spLocks noGrp="1"/>
          </p:cNvSpPr>
          <p:nvPr/>
        </p:nvSpPr>
        <p:spPr>
          <a:xfrm>
            <a:off x="8686800" y="3733800"/>
            <a:ext cx="281940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43EEF2F-C2DE-4DB3-B95D-0D95953006D3}"/>
              </a:ext>
            </a:extLst>
          </p:cNvPr>
          <p:cNvSpPr>
            <a:spLocks noGrp="1"/>
          </p:cNvSpPr>
          <p:nvPr/>
        </p:nvSpPr>
        <p:spPr>
          <a:xfrm>
            <a:off x="8801100" y="38481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reproducibility.json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F23B321-04B4-4BD8-89AE-F02D62BCF942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24765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D672E3E-6C69-4E06-BA0A-6C8DB15E23BF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random_seed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9DDDBCC-76D0-4A65-BC89-E0D69D40B685}"/>
              </a:ext>
            </a:extLst>
          </p:cNvPr>
          <p:cNvSpPr>
            <a:spLocks noGrp="1"/>
          </p:cNvSpPr>
          <p:nvPr/>
        </p:nvSpPr>
        <p:spPr>
          <a:xfrm>
            <a:off x="3162300" y="4229100"/>
            <a:ext cx="2381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2A1F185-BD65-45F6-9DF3-109580434C7C}"/>
              </a:ext>
            </a:extLst>
          </p:cNvPr>
          <p:cNvSpPr>
            <a:spLocks noGrp="1"/>
          </p:cNvSpPr>
          <p:nvPr/>
        </p:nvSpPr>
        <p:spPr>
          <a:xfrm>
            <a:off x="3276600" y="43434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固定整数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BB8D7E4-15A4-40BA-B167-37F086CDD880}"/>
              </a:ext>
            </a:extLst>
          </p:cNvPr>
          <p:cNvSpPr>
            <a:spLocks noGrp="1"/>
          </p:cNvSpPr>
          <p:nvPr/>
        </p:nvSpPr>
        <p:spPr>
          <a:xfrm>
            <a:off x="5543550" y="4229100"/>
            <a:ext cx="3143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025002C-B656-4D79-9C2C-31D8B94AC65F}"/>
              </a:ext>
            </a:extLst>
          </p:cNvPr>
          <p:cNvSpPr>
            <a:spLocks noGrp="1"/>
          </p:cNvSpPr>
          <p:nvPr/>
        </p:nvSpPr>
        <p:spPr>
          <a:xfrm>
            <a:off x="5657850" y="43434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保证随机抽样和遮挡可复现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2A5D50E-9CEC-4BD6-9240-81EF99C0C27B}"/>
              </a:ext>
            </a:extLst>
          </p:cNvPr>
          <p:cNvSpPr>
            <a:spLocks noGrp="1"/>
          </p:cNvSpPr>
          <p:nvPr/>
        </p:nvSpPr>
        <p:spPr>
          <a:xfrm>
            <a:off x="8686800" y="4229100"/>
            <a:ext cx="28194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E95CC56-3363-488D-BA50-7F3361713A24}"/>
              </a:ext>
            </a:extLst>
          </p:cNvPr>
          <p:cNvSpPr>
            <a:spLocks noGrp="1"/>
          </p:cNvSpPr>
          <p:nvPr/>
        </p:nvSpPr>
        <p:spPr>
          <a:xfrm>
            <a:off x="8801100" y="43434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reproducibility.json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1FAC325F-F18D-44F8-8974-67ED8910D7F5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61817CA-C216-4212-8A84-1A0CC29F9748}"/>
              </a:ext>
            </a:extLst>
          </p:cNvPr>
          <p:cNvSpPr>
            <a:spLocks noGrp="1"/>
          </p:cNvSpPr>
          <p:nvPr/>
        </p:nvSpPr>
        <p:spPr>
          <a:xfrm>
            <a:off x="914400" y="53625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参数表与输出哈希一起保存，便于复现实验和解释差异。</a:t>
            </a:r>
          </a:p>
        </p:txBody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F3AD4F26-6B5D-4288-828F-2457A7391BC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30B7C4D-9C8F-431E-9F35-89A808CDCAE8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附录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27B00D5-2FBA-42B1-8EAB-AA411F81D705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978842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DA922EE4-F2F2-440A-9BBE-B6A17DBD2D5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把复杂课堂场景转成可量化的实验条件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09F32B-867A-4119-A26B-A913B5E854CE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33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EFEDD1-FAA1-4E8F-A62C-5370ADFC75D8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结论与下一步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46A3AF8-454B-48A6-AD68-659BA861F4F1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AB36FDE-E601-48AF-8FA6-2EACBAEB729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762500" cy="266700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03F645D-2B9A-4C1D-9E5E-FE9E55A026E5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4762500" cy="266700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264DC9-C511-4C3C-872F-B92A654CA6A7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已经形成的能力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5341C1-8807-4002-92E7-B6402FB613F7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数据集扫描与索引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图片/视频分开处理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分辨率缩放与恢复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多种遮挡和隐私处理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单人物 ROI 与多人跟踪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结果、配置和哈希导出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1455B023-8126-4B2B-B899-A620FA5F6DFF}"/>
              </a:ext>
            </a:extLst>
          </p:cNvPr>
          <p:cNvSpPr>
            <a:spLocks noGrp="1"/>
          </p:cNvSpPr>
          <p:nvPr/>
        </p:nvSpPr>
        <p:spPr>
          <a:xfrm>
            <a:off x="5829300" y="17716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CDB29C-23A0-45A6-92D9-4D06899FC765}"/>
              </a:ext>
            </a:extLst>
          </p:cNvPr>
          <p:cNvSpPr>
            <a:spLocks noGrp="1"/>
          </p:cNvSpPr>
          <p:nvPr/>
        </p:nvSpPr>
        <p:spPr>
          <a:xfrm>
            <a:off x="6705600" y="18478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下一步需要回答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8C9929-537E-499E-81D9-D1D0B91FD5EA}"/>
              </a:ext>
            </a:extLst>
          </p:cNvPr>
          <p:cNvSpPr>
            <a:spLocks noGrp="1"/>
          </p:cNvSpPr>
          <p:nvPr/>
        </p:nvSpPr>
        <p:spPr>
          <a:xfrm>
            <a:off x="6705600" y="226695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分辨率下降首先影响哪个任务？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遮挡对面部、姿态和行为的影响是否不同？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恢复分辨率能否改善真实模型性能？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96FAE18-5B4F-40D6-9BF7-D847CA0C2572}"/>
              </a:ext>
            </a:extLst>
          </p:cNvPr>
          <p:cNvSpPr>
            <a:spLocks noGrp="1"/>
          </p:cNvSpPr>
          <p:nvPr/>
        </p:nvSpPr>
        <p:spPr>
          <a:xfrm>
            <a:off x="6477000" y="4343400"/>
            <a:ext cx="4286250" cy="876300"/>
          </a:xfrm>
          <a:prstGeom prst="roundRect">
            <a:avLst>
              <a:gd name="adj" fmla="val 17391"/>
            </a:avLst>
          </a:prstGeom>
          <a:solidFill>
            <a:srgbClr val="173C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6F597C-5AEF-472D-B429-C55EB42CDD99}"/>
              </a:ext>
            </a:extLst>
          </p:cNvPr>
          <p:cNvSpPr>
            <a:spLocks noGrp="1"/>
          </p:cNvSpPr>
          <p:nvPr/>
        </p:nvSpPr>
        <p:spPr>
          <a:xfrm>
            <a:off x="6724650" y="45720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接入真实模型预测结果，完成性能曲线和显著性比较。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A48A386E-1FD0-431E-9E44-F34E876C6B9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086512-14CA-4234-8376-09DF1E330729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结束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9A9C58-19C2-4FC9-91DF-F9AAFED2EB32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027270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015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34A · 最终总结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最后记住三句话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12" name="summary-do"/>
          <p:cNvGrpSpPr/>
          <p:nvPr/>
        </p:nvGrpSpPr>
        <p:grpSpPr>
          <a:xfrm>
            <a:off x="685800" y="1676400"/>
            <a:ext cx="3333750" cy="3429000"/>
            <a:chOff x="685800" y="1676400"/>
            <a:chExt cx="3333750" cy="34290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3333750" cy="3429000"/>
            </a:xfrm>
            <a:prstGeom prst="roundRect">
              <a:avLst>
                <a:gd name="adj" fmla="val 4571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1456" y="1917700"/>
              <a:ext cx="15224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 xml:space="preserve">1  我做了什么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3742" y="24257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整理课堂行为、投入度、微表情数据</a:t>
              </a:r>
            </a:p>
          </p:txBody>
        </p:sp>
        <p:sp>
          <p:nvSpPr>
            <p:cNvPr id="30" name="TextBox 9"/>
            <p:cNvSpPr txBox="1"/>
            <p:nvPr/>
          </p:nvSpPr>
          <p:spPr>
            <a:xfrm>
              <a:off x="983742" y="2825750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同一张图生成 4 种处理条件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3742" y="32258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接入检测、姿态、投入度参考模型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742" y="39306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先把复杂课堂场景变成可控实验。</a:t>
              </a:r>
            </a:p>
          </p:txBody>
        </p:sp>
      </p:grpSp>
      <p:grpSp>
        <p:nvGrpSpPr>
          <p:cNvPr id="19" name="summary-see"/>
          <p:cNvGrpSpPr/>
          <p:nvPr/>
        </p:nvGrpSpPr>
        <p:grpSpPr>
          <a:xfrm>
            <a:off x="4429125" y="1676400"/>
            <a:ext cx="3333750" cy="3429000"/>
            <a:chOff x="4429125" y="1676400"/>
            <a:chExt cx="3333750" cy="3429000"/>
          </a:xfrm>
        </p:grpSpPr>
        <p:sp>
          <p:nvSpPr>
            <p:cNvPr id="13" name="Rectangle 13"/>
            <p:cNvSpPr/>
            <p:nvPr/>
          </p:nvSpPr>
          <p:spPr>
            <a:xfrm>
              <a:off x="4429125" y="1676400"/>
              <a:ext cx="3333750" cy="3429000"/>
            </a:xfrm>
            <a:prstGeom prst="roundRect">
              <a:avLst>
                <a:gd name="adj" fmla="val 4571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24781" y="1917700"/>
              <a:ext cx="1764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 xml:space="preserve">2  目前看到什么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27067" y="2425700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姿态关键点：10.83 → 6.67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27067" y="2825750"/>
              <a:ext cx="23826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RT-DETR 框：63.67 → 45.83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27067" y="3225800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投入度：原图30%，组合0%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27067" y="39306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低分辨率对姿态影响最明显。</a:t>
              </a:r>
            </a:p>
          </p:txBody>
        </p:sp>
      </p:grpSp>
      <p:grpSp>
        <p:nvGrpSpPr>
          <p:cNvPr id="26" name="summary-next"/>
          <p:cNvGrpSpPr/>
          <p:nvPr/>
        </p:nvGrpSpPr>
        <p:grpSpPr>
          <a:xfrm>
            <a:off x="8172450" y="1676400"/>
            <a:ext cx="3333750" cy="3429000"/>
            <a:chOff x="8172450" y="1676400"/>
            <a:chExt cx="3333750" cy="3429000"/>
          </a:xfrm>
        </p:grpSpPr>
        <p:sp>
          <p:nvSpPr>
            <p:cNvPr id="20" name="Rectangle 20"/>
            <p:cNvSpPr/>
            <p:nvPr/>
          </p:nvSpPr>
          <p:spPr>
            <a:xfrm>
              <a:off x="8172450" y="1676400"/>
              <a:ext cx="3333750" cy="3429000"/>
            </a:xfrm>
            <a:prstGeom prst="roundRect">
              <a:avLst>
                <a:gd name="adj" fmla="val 4571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68106" y="1917700"/>
              <a:ext cx="1764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 xml:space="preserve">3  边界与下一步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70392" y="2425700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当前结果是“先跑通”的参考起点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70392" y="2825750"/>
              <a:ext cx="2600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框数量不能直接叫准确率或 mAP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70392" y="3225800"/>
              <a:ext cx="2908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补真实标注，再算 mAP、PCK、MAE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70392" y="39306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正式结论必须用真实答案验证。</a:t>
              </a:r>
            </a:p>
          </p:txBody>
        </p:sp>
      </p:grpSp>
      <p:grpSp>
        <p:nvGrpSpPr>
          <p:cNvPr id="29" name="summary-foot"/>
          <p:cNvGrpSpPr/>
          <p:nvPr/>
        </p:nvGrpSpPr>
        <p:grpSpPr>
          <a:xfrm>
            <a:off x="685800" y="5505450"/>
            <a:ext cx="10820400" cy="571500"/>
            <a:chOff x="685800" y="5505450"/>
            <a:chExt cx="10820400" cy="571500"/>
          </a:xfrm>
        </p:grpSpPr>
        <p:sp>
          <p:nvSpPr>
            <p:cNvPr id="27" name="Rectangle 27"/>
            <p:cNvSpPr/>
            <p:nvPr/>
          </p:nvSpPr>
          <p:spPr>
            <a:xfrm>
              <a:off x="685800" y="5505450"/>
              <a:ext cx="10820400" cy="571500"/>
            </a:xfrm>
            <a:prstGeom prst="roundRect">
              <a:avLst>
                <a:gd name="adj" fmla="val 26667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82599" y="5667375"/>
              <a:ext cx="597159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一句话：实验流程已经可复现，模型性能还要靠真实标注说话。</a:t>
              </a:r>
            </a:p>
          </p:txBody>
        </p:sp>
      </p:grpSp>
      <p:sp>
        <p:nvSpPr>
          <p:cNvPr id="9" name="直接连接符 8">
            <a:extLst>
              <a:ext uri="{FF2B5EF4-FFF2-40B4-BE49-F238E27FC236}">
                <ns2:creationId id="{1455B023-8126-4B2B-B899-A620FA5F6DFF}"/>
              </a:ext>
            </a:extLst>
          </p:cNvPr>
          <p:cNvSpPr>
            <a:spLocks noGrp="1"/>
          </p:cNvSpPr>
          <p:nvPr/>
        </p:nvSpPr>
        <p:spPr>
          <a:xfrm>
            <a:off x="5829300" y="17716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val="1027270452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015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35A · 现场提示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28433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上台按这 6 句话讲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10" name="talk-1"/>
          <p:cNvGrpSpPr/>
          <p:nvPr/>
        </p:nvGrpSpPr>
        <p:grpSpPr>
          <a:xfrm>
            <a:off x="685800" y="1676400"/>
            <a:ext cx="5314950" cy="1066800"/>
            <a:chOff x="685800" y="1676400"/>
            <a:chExt cx="5314950" cy="10668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5314950" cy="1066800"/>
            </a:xfrm>
            <a:prstGeom prst="roundRect">
              <a:avLst>
                <a:gd name="adj" fmla="val 14286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356" y="18224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83030" y="18415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问题</a:t>
              </a:r>
            </a:p>
          </p:txBody>
        </p:sp>
        <p:sp>
          <p:nvSpPr>
            <p:cNvPr id="39" name="TextBox 9"/>
            <p:cNvSpPr txBox="1"/>
            <p:nvPr/>
          </p:nvSpPr>
          <p:spPr>
            <a:xfrm>
              <a:off x="1384173" y="2247900"/>
              <a:ext cx="41484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真实课堂里，人离镜头远、图像小、前后排互相遮挡。</a:t>
              </a:r>
            </a:p>
          </p:txBody>
        </p:sp>
      </p:grpSp>
      <p:grpSp>
        <p:nvGrpSpPr>
          <p:cNvPr id="15" name="talk-2"/>
          <p:cNvGrpSpPr/>
          <p:nvPr/>
        </p:nvGrpSpPr>
        <p:grpSpPr>
          <a:xfrm>
            <a:off x="6191250" y="1676400"/>
            <a:ext cx="5314950" cy="1066800"/>
            <a:chOff x="6191250" y="1676400"/>
            <a:chExt cx="5314950" cy="1066800"/>
          </a:xfrm>
        </p:grpSpPr>
        <p:sp>
          <p:nvSpPr>
            <p:cNvPr id="11" name="Rectangle 11"/>
            <p:cNvSpPr/>
            <p:nvPr/>
          </p:nvSpPr>
          <p:spPr>
            <a:xfrm>
              <a:off x="6191250" y="1676400"/>
              <a:ext cx="5314950" cy="1066800"/>
            </a:xfrm>
            <a:prstGeom prst="roundRect">
              <a:avLst>
                <a:gd name="adj" fmla="val 14286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48806" y="18224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88480" y="18415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数据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89623" y="2247900"/>
              <a:ext cx="29422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整理课堂行为、投入度、微表情数据。</a:t>
              </a:r>
            </a:p>
          </p:txBody>
        </p:sp>
      </p:grpSp>
      <p:grpSp>
        <p:nvGrpSpPr>
          <p:cNvPr id="20" name="talk-3"/>
          <p:cNvGrpSpPr/>
          <p:nvPr/>
        </p:nvGrpSpPr>
        <p:grpSpPr>
          <a:xfrm>
            <a:off x="685800" y="3048000"/>
            <a:ext cx="5314950" cy="1066800"/>
            <a:chOff x="685800" y="3048000"/>
            <a:chExt cx="5314950" cy="1066800"/>
          </a:xfrm>
        </p:grpSpPr>
        <p:sp>
          <p:nvSpPr>
            <p:cNvPr id="16" name="Rectangle 16"/>
            <p:cNvSpPr/>
            <p:nvPr/>
          </p:nvSpPr>
          <p:spPr>
            <a:xfrm>
              <a:off x="685800" y="3048000"/>
              <a:ext cx="5314950" cy="1066800"/>
            </a:xfrm>
            <a:prstGeom prst="roundRect">
              <a:avLst>
                <a:gd name="adj" fmla="val 14286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3356" y="31940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030" y="32131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程序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4173" y="3619500"/>
              <a:ext cx="425186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选择数据 → 抽样 → 缩放和遮挡 → 框选人物 → 导出结果。</a:t>
              </a:r>
            </a:p>
          </p:txBody>
        </p:sp>
      </p:grpSp>
      <p:grpSp>
        <p:nvGrpSpPr>
          <p:cNvPr id="25" name="talk-4"/>
          <p:cNvGrpSpPr/>
          <p:nvPr/>
        </p:nvGrpSpPr>
        <p:grpSpPr>
          <a:xfrm>
            <a:off x="6191250" y="3048000"/>
            <a:ext cx="5314950" cy="1066800"/>
            <a:chOff x="6191250" y="3048000"/>
            <a:chExt cx="5314950" cy="1066800"/>
          </a:xfrm>
        </p:grpSpPr>
        <p:sp>
          <p:nvSpPr>
            <p:cNvPr id="21" name="Rectangle 21"/>
            <p:cNvSpPr/>
            <p:nvPr/>
          </p:nvSpPr>
          <p:spPr>
            <a:xfrm>
              <a:off x="6191250" y="3048000"/>
              <a:ext cx="5314950" cy="1066800"/>
            </a:xfrm>
            <a:prstGeom prst="roundRect">
              <a:avLst>
                <a:gd name="adj" fmla="val 14286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48806" y="31940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88480" y="32131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实验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89623" y="3619500"/>
              <a:ext cx="35539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同一图只改一个条件，看模型是否少找人/点。</a:t>
              </a:r>
            </a:p>
          </p:txBody>
        </p:sp>
      </p:grpSp>
      <p:grpSp>
        <p:nvGrpSpPr>
          <p:cNvPr id="30" name="talk-5"/>
          <p:cNvGrpSpPr/>
          <p:nvPr/>
        </p:nvGrpSpPr>
        <p:grpSpPr>
          <a:xfrm>
            <a:off x="685800" y="4419600"/>
            <a:ext cx="5314950" cy="1066800"/>
            <a:chOff x="685800" y="4419600"/>
            <a:chExt cx="5314950" cy="1066800"/>
          </a:xfrm>
        </p:grpSpPr>
        <p:sp>
          <p:nvSpPr>
            <p:cNvPr id="26" name="Rectangle 26"/>
            <p:cNvSpPr/>
            <p:nvPr/>
          </p:nvSpPr>
          <p:spPr>
            <a:xfrm>
              <a:off x="685800" y="4419600"/>
              <a:ext cx="5314950" cy="1066800"/>
            </a:xfrm>
            <a:prstGeom prst="roundRect">
              <a:avLst>
                <a:gd name="adj" fmla="val 14286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3356" y="45656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3030" y="45847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84173" y="4991100"/>
              <a:ext cx="3459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低分辨率让姿态点减少；投入度模型会失配。</a:t>
              </a:r>
            </a:p>
          </p:txBody>
        </p:sp>
      </p:grpSp>
      <p:grpSp>
        <p:nvGrpSpPr>
          <p:cNvPr id="35" name="talk-6"/>
          <p:cNvGrpSpPr/>
          <p:nvPr/>
        </p:nvGrpSpPr>
        <p:grpSpPr>
          <a:xfrm>
            <a:off x="6191250" y="4419600"/>
            <a:ext cx="5314950" cy="1066800"/>
            <a:chOff x="6191250" y="4419600"/>
            <a:chExt cx="5314950" cy="1066800"/>
          </a:xfrm>
        </p:grpSpPr>
        <p:sp>
          <p:nvSpPr>
            <p:cNvPr id="31" name="Rectangle 31"/>
            <p:cNvSpPr/>
            <p:nvPr/>
          </p:nvSpPr>
          <p:spPr>
            <a:xfrm>
              <a:off x="6191250" y="4419600"/>
              <a:ext cx="5314950" cy="1066800"/>
            </a:xfrm>
            <a:prstGeom prst="roundRect">
              <a:avLst>
                <a:gd name="adj" fmla="val 14286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48806" y="45656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88480" y="45847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结论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89623" y="4991100"/>
              <a:ext cx="432079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流程已经可复现，正式性能还要用真实标注训练和评价。</a:t>
              </a:r>
            </a:p>
          </p:txBody>
        </p:sp>
      </p:grpSp>
      <p:grpSp>
        <p:nvGrpSpPr>
          <p:cNvPr id="38" name="talk-foot"/>
          <p:cNvGrpSpPr/>
          <p:nvPr/>
        </p:nvGrpSpPr>
        <p:grpSpPr>
          <a:xfrm>
            <a:off x="685800" y="5715000"/>
            <a:ext cx="10820400" cy="457200"/>
            <a:chOff x="685800" y="5715000"/>
            <a:chExt cx="10820400" cy="457200"/>
          </a:xfrm>
        </p:grpSpPr>
        <p:sp>
          <p:nvSpPr>
            <p:cNvPr id="36" name="Rectangle 36"/>
            <p:cNvSpPr/>
            <p:nvPr/>
          </p:nvSpPr>
          <p:spPr>
            <a:xfrm>
              <a:off x="685800" y="5715000"/>
              <a:ext cx="10820400" cy="45720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3361" y="5832475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遇到英文指标：先说中文含义，再补括号里的英文名称。</a:t>
              </a:r>
            </a:p>
          </p:txBody>
        </p:sp>
      </p:grpSp>
      <p:sp>
        <p:nvSpPr>
          <p:cNvPr id="9" name="直接连接符 8">
            <a:extLst>
              <a:ext uri="{FF2B5EF4-FFF2-40B4-BE49-F238E27FC236}">
                <ns2:creationId id="{1455B023-8126-4B2B-B899-A620FA5F6DFF}"/>
              </a:ext>
            </a:extLst>
          </p:cNvPr>
          <p:cNvSpPr>
            <a:spLocks noGrp="1"/>
          </p:cNvSpPr>
          <p:nvPr/>
        </p:nvSpPr>
        <p:spPr>
          <a:xfrm>
            <a:off x="5829300" y="17716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val="1027270452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SC"/>
        <a:ea typeface=""/>
        <a:cs typeface=""/>
      </a:majorFont>
      <a:minorFont>
        <a:latin typeface="Noto Sans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SC"/>
        <a:ea typeface=""/>
        <a:cs typeface=""/>
      </a:majorFont>
      <a:minorFont>
        <a:latin typeface="Noto Sans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3496</ns0:Words>
  <ns0:Application>Microsoft Office PowerPoint</ns0:Application>
  <ns0:DocSecurity>0</ns0:DocSecurity>
  <ns0:PresentationFormat>宽屏</ns0:PresentationFormat>
  <ns0:Paragraphs>782</ns0:Paragraphs>
  <ns0:Slides>41</ns0:Slides>
  <ns0:Notes>33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2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33</ns1:i4>
      </ns1:variant>
    </ns1:vector>
  </ns0:HeadingPairs>
  <ns0:TitlesOfParts>
    <ns1:vector size="36" baseType="lpstr">
      <ns1:lpstr>Noto Sans SC</ns1:lpstr>
      <ns1:lpstr>Noto Serif SC</ns1:lpstr>
      <ns1:lpstr>ChatGPT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Windows</cp:lastModifiedBy>
  <cp:revision>1</cp:revision>
  <dcterms:created xsi:type="dcterms:W3CDTF">2026-10-28T01:15:09Z</dcterms:created>
  <dcterms:modified xsi:type="dcterms:W3CDTF">2026-10-28T01:23:06Z</dcterms:modified>
</cp:coreProperties>
</file>