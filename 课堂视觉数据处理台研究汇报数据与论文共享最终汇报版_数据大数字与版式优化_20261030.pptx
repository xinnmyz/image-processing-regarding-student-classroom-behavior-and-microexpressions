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Slides/notesSlide1_tf1_tf1_tf1.xml" ContentType="application/vnd.openxmlformats-officedocument.presentationml.notesSlide+xml"/>
  <Override PartName="/ppt/notesSlides/notesSlide2_tf1_tf1_tf1.xml" ContentType="application/vnd.openxmlformats-officedocument.presentationml.notesSlide+xml"/>
  <Override PartName="/ppt/notesSlides/notesSlide3_tf1_tf1_tf1.xml" ContentType="application/vnd.openxmlformats-officedocument.presentationml.notesSlide+xml"/>
  <Override PartName="/ppt/notesSlides/notesSlide4_tf1_tf1_tf1.xml" ContentType="application/vnd.openxmlformats-officedocument.presentationml.notesSlide+xml"/>
  <Override PartName="/ppt/notesSlides/notesSlide5_tf1_tf1_tf1.xml" ContentType="application/vnd.openxmlformats-officedocument.presentationml.notesSlide+xml"/>
  <Override PartName="/ppt/notesSlides/notesSlide5_tf1_tf1_tf2.xml" ContentType="application/vnd.openxmlformats-officedocument.presentationml.notesSlide+xml"/>
  <Override PartName="/ppt/notesSlides/notesSlide6_tf1_tf1_tf1.xml" ContentType="application/vnd.openxmlformats-officedocument.presentationml.notesSlide+xml"/>
  <Override PartName="/ppt/notesSlides/notesSlide6_tf1_tf1_tf2.xml" ContentType="application/vnd.openxmlformats-officedocument.presentationml.notesSlide+xml"/>
  <Override PartName="/ppt/notesSlides/notesSlide7_tf1_tf1_tf1.xml" ContentType="application/vnd.openxmlformats-officedocument.presentationml.notesSlide+xml"/>
  <Override PartName="/ppt/notesSlides/notesSlide5_tf1_tf2_tf1.xml" ContentType="application/vnd.openxmlformats-officedocument.presentationml.notesSlide+xml"/>
  <Override PartName="/ppt/notesSlides/notesSlide5_tf1_tf3_tf1.xml" ContentType="application/vnd.openxmlformats-officedocument.presentationml.notesSlide+xml"/>
  <Override PartName="/ppt/notesSlides/notesSlide5_tf1_tf4_tf1.xml" ContentType="application/vnd.openxmlformats-officedocument.presentationml.notesSlide+xml"/>
  <Override PartName="/ppt/notesSlides/notesSlide5_tf1_tf5_tf1.xml" ContentType="application/vnd.openxmlformats-officedocument.presentationml.notesSlide+xml"/>
  <Override PartName="/ppt/notesSlides/notesSlide5_tf1_tf6_tf1.xml" ContentType="application/vnd.openxmlformats-officedocument.presentationml.notesSlide+xml"/>
  <Override PartName="/ppt/notesSlides/notesSlide5_tf1_tf7_tf1.xml" ContentType="application/vnd.openxmlformats-officedocument.presentationml.notesSlide+xml"/>
  <Override PartName="/ppt/notesSlides/notesSlide5_tf1_tf8_tf1.xml" ContentType="application/vnd.openxmlformats-officedocument.presentationml.notesSlide+xml"/>
  <Override PartName="/ppt/notesSlides/notesSlide8_tf1_tf1_tf1.xml" ContentType="application/vnd.openxmlformats-officedocument.presentationml.notesSlide+xml"/>
  <Override PartName="/ppt/notesSlides/notesSlide9_tf1_tf1_tf1.xml" ContentType="application/vnd.openxmlformats-officedocument.presentationml.notesSlide+xml"/>
  <Override PartName="/ppt/notesSlides/notesSlide10_tf1_tf1_tf1.xml" ContentType="application/vnd.openxmlformats-officedocument.presentationml.notesSlide+xml"/>
  <Override PartName="/ppt/notesSlides/notesSlide11_tf1_tf1_tf1.xml" ContentType="application/vnd.openxmlformats-officedocument.presentationml.notesSlide+xml"/>
  <Override PartName="/ppt/notesSlides/notesSlide12_tf1_tf1_tf1.xml" ContentType="application/vnd.openxmlformats-officedocument.presentationml.notesSlide+xml"/>
  <Override PartName="/ppt/notesSlides/notesSlide13_tf1_tf1_tf1.xml" ContentType="application/vnd.openxmlformats-officedocument.presentationml.notesSlide+xml"/>
  <Override PartName="/ppt/notesSlides/notesSlide14_tf1_tf1_tf1.xml" ContentType="application/vnd.openxmlformats-officedocument.presentationml.notesSlide+xml"/>
  <Override PartName="/ppt/notesSlides/notesSlide14_tf2_tf1_tf1.xml" ContentType="application/vnd.openxmlformats-officedocument.presentationml.notesSlide+xml"/>
  <Override PartName="/ppt/notesSlides/notesSlide14_tf3_tf1_tf1.xml" ContentType="application/vnd.openxmlformats-officedocument.presentationml.notesSlide+xml"/>
  <Override PartName="/ppt/notesSlides/notesSlide15_tf1_tf1_tf1.xml" ContentType="application/vnd.openxmlformats-officedocument.presentationml.notesSlide+xml"/>
  <Override PartName="/ppt/notesSlides/notesSlide16_tf1_tf1_tf1.xml" ContentType="application/vnd.openxmlformats-officedocument.presentationml.notesSlide+xml"/>
  <Override PartName="/ppt/notesSlides/notesSlide17_tf1_tf1_tf1.xml" ContentType="application/vnd.openxmlformats-officedocument.presentationml.notesSlide+xml"/>
  <Override PartName="/ppt/notesSlides/notesSlide18_tf1_tf1_tf1.xml" ContentType="application/vnd.openxmlformats-officedocument.presentationml.notesSlide+xml"/>
  <Override PartName="/ppt/notesSlides/notesSlide19_tf1_tf1_tf1.xml" ContentType="application/vnd.openxmlformats-officedocument.presentationml.notesSlide+xml"/>
  <Override PartName="/ppt/notesSlides/notesSlide20_tf1_tf1_tf1.xml" ContentType="application/vnd.openxmlformats-officedocument.presentationml.notesSlide+xml"/>
  <Override PartName="/ppt/notesSlides/notesSlide21_tf1_tf1_tf1.xml" ContentType="application/vnd.openxmlformats-officedocument.presentationml.notesSlide+xml"/>
  <Override PartName="/ppt/notesSlides/notesSlide22_tf1_tf1_tf1.xml" ContentType="application/vnd.openxmlformats-officedocument.presentationml.notesSlide+xml"/>
  <Override PartName="/ppt/notesSlides/notesSlide23_tf1_tf1_tf1.xml" ContentType="application/vnd.openxmlformats-officedocument.presentationml.notesSlide+xml"/>
  <Override PartName="/ppt/notesSlides/notesSlide24_tf1_tf1_tf1.xml" ContentType="application/vnd.openxmlformats-officedocument.presentationml.notesSlide+xml"/>
  <Override PartName="/ppt/notesSlides/notesSlide25_tf1_tf1_tf1.xml" ContentType="application/vnd.openxmlformats-officedocument.presentationml.notesSlide+xml"/>
  <Override PartName="/ppt/notesSlides/notesSlide25_tf2_tf1_tf1.xml" ContentType="application/vnd.openxmlformats-officedocument.presentationml.notesSlide+xml"/>
  <Override PartName="/ppt/notesSlides/notesSlide25_tf3_tf1_tf1.xml" ContentType="application/vnd.openxmlformats-officedocument.presentationml.notesSlide+xml"/>
  <Override PartName="/ppt/notesSlides/notesSlide25_tf4_tf1_tf1.xml" ContentType="application/vnd.openxmlformats-officedocument.presentationml.notesSlide+xml"/>
  <Override PartName="/ppt/notesSlides/notesSlide25_tf5_tf1_tf1.xml" ContentType="application/vnd.openxmlformats-officedocument.presentationml.notesSlide+xml"/>
  <Override PartName="/ppt/notesSlides/notesSlide26_tf1_tf1_tf1.xml" ContentType="application/vnd.openxmlformats-officedocument.presentationml.notesSlide+xml"/>
  <Override PartName="/ppt/notesSlides/notesSlide27_tf1_tf1_tf1.xml" ContentType="application/vnd.openxmlformats-officedocument.presentationml.notesSlide+xml"/>
  <Override PartName="/ppt/notesSlides/notesSlide28_tf1_tf1_tf1.xml" ContentType="application/vnd.openxmlformats-officedocument.presentationml.notesSlide+xml"/>
  <Override PartName="/ppt/notesSlides/notesSlide29_tf1_tf1_tf1.xml" ContentType="application/vnd.openxmlformats-officedocument.presentationml.notesSlide+xml"/>
  <Override PartName="/ppt/notesSlides/notesSlide30_tf1_tf1_tf1.xml" ContentType="application/vnd.openxmlformats-officedocument.presentationml.notesSlide+xml"/>
  <Override PartName="/ppt/notesSlides/notesSlide31_tf1_tf1_tf1.xml" ContentType="application/vnd.openxmlformats-officedocument.presentationml.notesSlide+xml"/>
  <Override PartName="/ppt/notesSlides/notesSlide32_tf1_tf1_tf1.xml" ContentType="application/vnd.openxmlformats-officedocument.presentationml.notesSlide+xml"/>
  <Override PartName="/ppt/notesSlides/notesSlide33_tf1_tf1_tf1.xml" ContentType="application/vnd.openxmlformats-officedocument.presentationml.notesSlide+xml"/>
  <Override PartName="/ppt/notesSlides/notesSlide33_tf2_tf1_tf1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33_tf3_tf1_tf1.xml" ContentType="application/vnd.openxmlformats-officedocument.presentationml.notesSlide+xml"/>
  <Override PartName="/ppt/slides/slide5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35"/>
  </p:notesMasterIdLst>
  <p:sldIdLst>
    <p:sldId id="256" r:id="rId40"/>
    <p:sldId id="257" r:id="rId41"/>
    <p:sldId id="258" r:id="rId42"/>
    <p:sldId id="259" r:id="rId43"/>
    <p:sldId id="260" r:id="rId44"/>
    <p:sldId id="261" r:id="rId45"/>
    <p:sldId id="262" r:id="rId46"/>
    <p:sldId id="263" r:id="rId47"/>
    <p:sldId id="264" r:id="rId48"/>
    <p:sldId id="265" r:id="rId49"/>
    <p:sldId id="266" r:id="rId50"/>
    <p:sldId id="267" r:id="rId51"/>
    <p:sldId id="268" r:id="rId52"/>
    <p:sldId id="269" r:id="rId53"/>
    <p:sldId id="270" r:id="rId54"/>
    <p:sldId id="271" r:id="rId55"/>
    <p:sldId id="272" r:id="rId56"/>
    <p:sldId id="273" r:id="rId57"/>
    <p:sldId id="274" r:id="rId58"/>
    <p:sldId id="275" r:id="rId59"/>
    <p:sldId id="276" r:id="rId60"/>
    <p:sldId id="277" r:id="rId61"/>
    <p:sldId id="278" r:id="rId62"/>
    <p:sldId id="279" r:id="rId63"/>
    <p:sldId id="280" r:id="rId64"/>
    <p:sldId id="281" r:id="rId65"/>
    <p:sldId id="282" r:id="rId66"/>
    <p:sldId id="283" r:id="rId67"/>
    <p:sldId id="284" r:id="rId68"/>
    <p:sldId id="285" r:id="rId69"/>
    <p:sldId id="286" r:id="rId70"/>
    <p:sldId id="287" r:id="rId71"/>
    <p:sldId id="288" r:id="rId72"/>
    <p:sldId id="289" r:id="rId73"/>
    <p:sldId id="290" r:id="rId74"/>
    <p:sldId id="291" r:id="rId75"/>
    <p:sldId id="292" r:id="rId76"/>
    <p:sldId id="293" r:id="rId77"/>
    <p:sldId id="294" r:id="rId78"/>
    <p:sldId id="295" r:id="rId79"/>
    <p:sldId id="296" r:id="rId80"/>
    <p:sldId id="297" r:id="rId81"/>
    <p:sldId id="298" r:id="rId82"/>
    <p:sldId id="299" r:id="rId83"/>
    <p:sldId id="300" r:id="rId84"/>
    <p:sldId id="301" r:id="rId85"/>
    <p:sldId id="302" r:id="rId86"/>
    <p:sldId id="303" r:id="rId87"/>
    <p:sldId id="304" r:id="rId88"/>
    <p:sldId id="305" r:id="rId8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39" Type="http://schemas.openxmlformats.org/officeDocument/2006/relationships/tableStyles" Target="tableStyles.xml" /><Relationship Id="rId38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37" Type="http://schemas.openxmlformats.org/officeDocument/2006/relationships/viewProps" Target="viewProps.xml" /><Relationship Id="rId36" Type="http://schemas.openxmlformats.org/officeDocument/2006/relationships/presProps" Target="presProps.xml" /><Relationship Id="rId35" Type="http://schemas.openxmlformats.org/officeDocument/2006/relationships/notesMaster" Target="notesMasters/notesMaster1.xml" /><Relationship Id="rId40" Type="http://schemas.openxmlformats.org/officeDocument/2006/relationships/slide" Target="slides/slide1.xml" /><Relationship Id="rId41" Type="http://schemas.openxmlformats.org/officeDocument/2006/relationships/slide" Target="slides/slide2.xml" /><Relationship Id="rId42" Type="http://schemas.openxmlformats.org/officeDocument/2006/relationships/slide" Target="slides/slide3.xml" /><Relationship Id="rId43" Type="http://schemas.openxmlformats.org/officeDocument/2006/relationships/slide" Target="slides/slide4.xml" /><Relationship Id="rId44" Type="http://schemas.openxmlformats.org/officeDocument/2006/relationships/slide" Target="slides/slide5.xml" /><Relationship Id="rId45" Type="http://schemas.openxmlformats.org/officeDocument/2006/relationships/slide" Target="slides/slide6.xml" /><Relationship Id="rId46" Type="http://schemas.openxmlformats.org/officeDocument/2006/relationships/slide" Target="slides/slide7.xml" /><Relationship Id="rId47" Type="http://schemas.openxmlformats.org/officeDocument/2006/relationships/slide" Target="slides/slide8.xml" /><Relationship Id="rId48" Type="http://schemas.openxmlformats.org/officeDocument/2006/relationships/slide" Target="slides/slide9.xml" /><Relationship Id="rId49" Type="http://schemas.openxmlformats.org/officeDocument/2006/relationships/slide" Target="slides/slide10.xml" /><Relationship Id="rId50" Type="http://schemas.openxmlformats.org/officeDocument/2006/relationships/slide" Target="slides/slide11.xml" /><Relationship Id="rId51" Type="http://schemas.openxmlformats.org/officeDocument/2006/relationships/slide" Target="slides/slide12.xml" /><Relationship Id="rId52" Type="http://schemas.openxmlformats.org/officeDocument/2006/relationships/slide" Target="slides/slide13.xml" /><Relationship Id="rId53" Type="http://schemas.openxmlformats.org/officeDocument/2006/relationships/slide" Target="slides/slide14.xml" /><Relationship Id="rId54" Type="http://schemas.openxmlformats.org/officeDocument/2006/relationships/slide" Target="slides/slide15.xml" /><Relationship Id="rId55" Type="http://schemas.openxmlformats.org/officeDocument/2006/relationships/slide" Target="slides/slide16.xml" /><Relationship Id="rId56" Type="http://schemas.openxmlformats.org/officeDocument/2006/relationships/slide" Target="slides/slide17.xml" /><Relationship Id="rId57" Type="http://schemas.openxmlformats.org/officeDocument/2006/relationships/slide" Target="slides/slide18.xml" /><Relationship Id="rId58" Type="http://schemas.openxmlformats.org/officeDocument/2006/relationships/slide" Target="slides/slide19.xml" /><Relationship Id="rId59" Type="http://schemas.openxmlformats.org/officeDocument/2006/relationships/slide" Target="slides/slide20.xml" /><Relationship Id="rId60" Type="http://schemas.openxmlformats.org/officeDocument/2006/relationships/slide" Target="slides/slide21.xml" /><Relationship Id="rId61" Type="http://schemas.openxmlformats.org/officeDocument/2006/relationships/slide" Target="slides/slide22.xml" /><Relationship Id="rId62" Type="http://schemas.openxmlformats.org/officeDocument/2006/relationships/slide" Target="slides/slide23.xml" /><Relationship Id="rId63" Type="http://schemas.openxmlformats.org/officeDocument/2006/relationships/slide" Target="slides/slide24.xml" /><Relationship Id="rId64" Type="http://schemas.openxmlformats.org/officeDocument/2006/relationships/slide" Target="slides/slide25.xml" /><Relationship Id="rId65" Type="http://schemas.openxmlformats.org/officeDocument/2006/relationships/slide" Target="slides/slide26.xml" /><Relationship Id="rId66" Type="http://schemas.openxmlformats.org/officeDocument/2006/relationships/slide" Target="slides/slide27.xml" /><Relationship Id="rId67" Type="http://schemas.openxmlformats.org/officeDocument/2006/relationships/slide" Target="slides/slide28.xml" /><Relationship Id="rId68" Type="http://schemas.openxmlformats.org/officeDocument/2006/relationships/slide" Target="slides/slide29.xml" /><Relationship Id="rId69" Type="http://schemas.openxmlformats.org/officeDocument/2006/relationships/slide" Target="slides/slide30.xml" /><Relationship Id="rId70" Type="http://schemas.openxmlformats.org/officeDocument/2006/relationships/slide" Target="slides/slide31.xml" /><Relationship Id="rId71" Type="http://schemas.openxmlformats.org/officeDocument/2006/relationships/slide" Target="slides/slide32.xml" /><Relationship Id="rId72" Type="http://schemas.openxmlformats.org/officeDocument/2006/relationships/slide" Target="slides/slide33.xml" /><Relationship Id="rId73" Type="http://schemas.openxmlformats.org/officeDocument/2006/relationships/slide" Target="slides/slide34.xml" /><Relationship Id="rId74" Type="http://schemas.openxmlformats.org/officeDocument/2006/relationships/slide" Target="slides/slide35.xml" /><Relationship Id="rId75" Type="http://schemas.openxmlformats.org/officeDocument/2006/relationships/slide" Target="slides/slide36.xml" /><Relationship Id="rId76" Type="http://schemas.openxmlformats.org/officeDocument/2006/relationships/slide" Target="slides/slide37.xml" /><Relationship Id="rId77" Type="http://schemas.openxmlformats.org/officeDocument/2006/relationships/slide" Target="slides/slide38.xml" /><Relationship Id="rId78" Type="http://schemas.openxmlformats.org/officeDocument/2006/relationships/slide" Target="slides/slide39.xml" /><Relationship Id="rId79" Type="http://schemas.openxmlformats.org/officeDocument/2006/relationships/slide" Target="slides/slide40.xml" /><Relationship Id="rId80" Type="http://schemas.openxmlformats.org/officeDocument/2006/relationships/slide" Target="slides/slide41.xml" /><Relationship Id="rId81" Type="http://schemas.openxmlformats.org/officeDocument/2006/relationships/slide" Target="slides/slide42.xml" /><Relationship Id="rId82" Type="http://schemas.openxmlformats.org/officeDocument/2006/relationships/slide" Target="slides/slide43.xml" /><Relationship Id="rId83" Type="http://schemas.openxmlformats.org/officeDocument/2006/relationships/slide" Target="slides/slide44.xml" /><Relationship Id="rId84" Type="http://schemas.openxmlformats.org/officeDocument/2006/relationships/slide" Target="slides/slide45.xml" /><Relationship Id="rId85" Type="http://schemas.openxmlformats.org/officeDocument/2006/relationships/slide" Target="slides/slide46.xml" /><Relationship Id="rId86" Type="http://schemas.openxmlformats.org/officeDocument/2006/relationships/slide" Target="slides/slide47.xml" /><Relationship Id="rId87" Type="http://schemas.openxmlformats.org/officeDocument/2006/relationships/slide" Target="slides/slide48.xml" /><Relationship Id="rId88" Type="http://schemas.openxmlformats.org/officeDocument/2006/relationships/slide" Target="slides/slide49.xml" /><Relationship Id="rId89" Type="http://schemas.openxmlformats.org/officeDocument/2006/relationships/slide" Target="slides/slide50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_tf1_tf1_tf1.xml.rels><?xml version='1.0' encoding='utf-8'?>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_tf1_tf1_tf1.xml.rels><?xml version='1.0' encoding='utf-8'?>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_tf1_tf1_tf1.xml.rels><?xml version='1.0' encoding='utf-8'?>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_tf1_tf1_tf1.xml.rels><?xml version='1.0' encoding='utf-8'?>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_tf1_tf1_tf1.xml.rels><?xml version='1.0' encoding='utf-8'?>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_tf1_tf1_tf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5_tf1_tf2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0.xml" />
</Relationships>
</file>

<file path=ppt/notesSlides/_rels/notesSlide5_tf1_tf3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1.xml" />
</Relationships>
</file>

<file path=ppt/notesSlides/_rels/notesSlide5_tf1_tf4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2.xml" />
</Relationships>
</file>

<file path=ppt/notesSlides/_rels/notesSlide5_tf1_tf5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3.xml" />
</Relationships>
</file>

<file path=ppt/notesSlides/_rels/notesSlide5_tf1_tf6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4.xml" />
</Relationships>
</file>

<file path=ppt/notesSlides/_rels/notesSlide5_tf1_tf7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5.xml" />
</Relationships>
</file>

<file path=ppt/notesSlides/_rels/notesSlide5_tf1_tf8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6.xml" />
</Relationships>
</file>

<file path=ppt/notesSlides/_rels/notesSlide6_tf1_tf1_tf1.xml.rels><?xml version='1.0' encoding='utf-8'?>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6_tf1_tf1_tf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7_tf1_tf1_tf1.xml.rels><?xml version='1.0' encoding='utf-8'?>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8_tf1_tf1_tf1.xml.rels><?xml version='1.0' encoding='utf-8'?>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9_tf1_tf1_tf1.xml.rels><?xml version='1.0' encoding='utf-8'?>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0_tf1_tf1_tf1.xml.rels><?xml version='1.0' encoding='utf-8'?>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1_tf1_tf1_tf1.xml.rels><?xml version='1.0' encoding='utf-8'?>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2_tf1_tf1_tf1.xml.rels><?xml version='1.0' encoding='utf-8'?>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13_tf1_tf1_tf1.xml.rels><?xml version='1.0' encoding='utf-8'?>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14_tf1_tf1_tf1.xml.rels><?xml version='1.0' encoding='utf-8'?>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14_tf2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4.xml" />
</Relationships>
</file>

<file path=ppt/notesSlides/_rels/notesSlide14_tf3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5.xml" />
</Relationships>
</file>

<file path=ppt/notesSlides/_rels/notesSlide15_tf1_tf1_tf1.xml.rels><?xml version='1.0' encoding='utf-8'?>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16_tf1_tf1_tf1.xml.rels><?xml version='1.0' encoding='utf-8'?>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17_tf1_tf1_tf1.xml.rels><?xml version='1.0' encoding='utf-8'?>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18_tf1_tf1_tf1.xml.rels><?xml version='1.0' encoding='utf-8'?>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19_tf1_tf1_tf1.xml.rels><?xml version='1.0' encoding='utf-8'?>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20_tf1_tf1_tf1.xml.rels><?xml version='1.0' encoding='utf-8'?>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21_tf1_tf1_tf1.xml.rels><?xml version='1.0' encoding='utf-8'?>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22_tf1_tf1_tf1.xml.rels><?xml version='1.0' encoding='utf-8'?>
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23_tf1_tf1_tf1.xml.rels><?xml version='1.0' encoding='utf-8'?>
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24_tf1_tf1_tf1.xml.rels><?xml version='1.0' encoding='utf-8'?>
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25_tf1_tf1_tf1.xml.rels><?xml version='1.0' encoding='utf-8'?>
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25_tf2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7.xml" />
</Relationships>
</file>

<file path=ppt/notesSlides/_rels/notesSlide25_tf3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8.xml" />
</Relationships>
</file>

<file path=ppt/notesSlides/_rels/notesSlide25_tf4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9.xml" />
</Relationships>
</file>

<file path=ppt/notesSlides/_rels/notesSlide25_tf5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0.xml" />
</Relationships>
</file>

<file path=ppt/notesSlides/_rels/notesSlide26_tf1_tf1_tf1.xml.rels><?xml version='1.0' encoding='utf-8'?>
<Relationships xmlns="http://schemas.openxmlformats.org/package/2006/relationships"><Relationship Id="rId2" Type="http://schemas.openxmlformats.org/officeDocument/2006/relationships/slide" Target="../slides/slide41.xml" /><Relationship Id="rId1" Type="http://schemas.openxmlformats.org/officeDocument/2006/relationships/notesMaster" Target="../notesMasters/notesMaster1.xml" /></Relationships>
</file>

<file path=ppt/notesSlides/_rels/notesSlide27_tf1_tf1_tf1.xml.rels><?xml version='1.0' encoding='utf-8'?>
<Relationships xmlns="http://schemas.openxmlformats.org/package/2006/relationships"><Relationship Id="rId2" Type="http://schemas.openxmlformats.org/officeDocument/2006/relationships/slide" Target="../slides/slide42.xml" /><Relationship Id="rId1" Type="http://schemas.openxmlformats.org/officeDocument/2006/relationships/notesMaster" Target="../notesMasters/notesMaster1.xml" /></Relationships>
</file>

<file path=ppt/notesSlides/_rels/notesSlide28_tf1_tf1_tf1.xml.rels><?xml version='1.0' encoding='utf-8'?>
<Relationships xmlns="http://schemas.openxmlformats.org/package/2006/relationships"><Relationship Id="rId2" Type="http://schemas.openxmlformats.org/officeDocument/2006/relationships/slide" Target="../slides/slide43.xml" /><Relationship Id="rId1" Type="http://schemas.openxmlformats.org/officeDocument/2006/relationships/notesMaster" Target="../notesMasters/notesMaster1.xml" /></Relationships>
</file>

<file path=ppt/notesSlides/_rels/notesSlide29_tf1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4.xml" />
</Relationships>
</file>

<file path=ppt/notesSlides/_rels/notesSlide30_tf1_tf1_tf1.xml.rels><?xml version='1.0' encoding='utf-8'?>
<Relationships xmlns="http://schemas.openxmlformats.org/package/2006/relationships"><Relationship Id="rId2" Type="http://schemas.openxmlformats.org/officeDocument/2006/relationships/slide" Target="../slides/slide45.xml" /><Relationship Id="rId1" Type="http://schemas.openxmlformats.org/officeDocument/2006/relationships/notesMaster" Target="../notesMasters/notesMaster1.xml" /></Relationships>
</file>

<file path=ppt/notesSlides/_rels/notesSlide31_tf1_tf1_tf1.xml.rels><?xml version='1.0' encoding='utf-8'?>
<Relationships xmlns="http://schemas.openxmlformats.org/package/2006/relationships"><Relationship Id="rId2" Type="http://schemas.openxmlformats.org/officeDocument/2006/relationships/slide" Target="../slides/slide46.xml" /><Relationship Id="rId1" Type="http://schemas.openxmlformats.org/officeDocument/2006/relationships/notesMaster" Target="../notesMasters/notesMaster1.xml" /></Relationships>
</file>

<file path=ppt/notesSlides/_rels/notesSlide32_tf1_tf1_tf1.xml.rels><?xml version='1.0' encoding='utf-8'?>
<Relationships xmlns="http://schemas.openxmlformats.org/package/2006/relationships"><Relationship Id="rId2" Type="http://schemas.openxmlformats.org/officeDocument/2006/relationships/slide" Target="../slides/slide47.xml" /><Relationship Id="rId1" Type="http://schemas.openxmlformats.org/officeDocument/2006/relationships/notesMaster" Target="../notesMasters/notesMaster1.xml" /></Relationships>
</file>

<file path=ppt/notesSlides/_rels/notesSlide33_tf1_tf1_tf1.xml.rels><?xml version='1.0' encoding='utf-8'?>
<Relationships xmlns="http://schemas.openxmlformats.org/package/2006/relationships"><Relationship Id="rId2" Type="http://schemas.openxmlformats.org/officeDocument/2006/relationships/slide" Target="../slides/slide48.xml" /><Relationship Id="rId1" Type="http://schemas.openxmlformats.org/officeDocument/2006/relationships/notesMaster" Target="../notesMasters/notesMaster1.xml" /></Relationships>
</file>

<file path=ppt/notesSlides/_rels/notesSlide33_tf2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9.xml" />
</Relationships>
</file>

<file path=ppt/notesSlides/_rels/notesSlide33_tf3_tf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50.xml" />
</Relationships>
</file>

<file path=ppt/notesSlides/notesSlide1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：本汇报介绍一套面向课堂视觉分析的数据处理程序。核心问题是，在远距离、低分辨率和多人遮挡条件下，学生行为、面部表情、投入度和姿态分析会受到怎样的影响。标题页只说明研究对象和方法，不先展示尚未完成的模型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这一页回答研究动机。程序不是为了单纯改变图片，而是把课堂中的复杂因素参数化，从而可以重复地比较原图、退化图像和恢复后的图像。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该页支撑研究背景中的微表情任务定义、数据集差异和评价协议选择。</a:t>
            </a:r>
          </a:p>
          <a:p>
            <a:r>
              <a:t>来源 PDF：D:\数据处理1\论文1\微表情评价指标Q1\Deep_Learning_for_Micro-Expression_Recognition_A_Survey.pdf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数据来源：</a:t>
            </a:r>
          </a:p>
          <a:p>
            <a:r>
              <a:t>DAiSEE：https://people.iith.ac.in/vineethnb/resources/daisee/index.html</a:t>
            </a:r>
          </a:p>
          <a:p>
            <a:r>
              <a:t>Tianchi：https://tianchi.aliyun.com/dataset/201537</a:t>
            </a:r>
          </a:p>
          <a:p>
            <a:r>
              <a:t>SCB：https://github.com/Whiffe/SCB-dataset</a:t>
            </a:r>
          </a:p>
          <a:p>
            <a:r>
              <a:t>数据统计来自本地 Excel 索引，未把不同数据集的标签直接强行合并。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数据资源来自 D:\数据处理1\学生行为数据集1。当前目录实际是三类来源、九个可独立说明的数据包：DAiSEE 视频、Tianchi/Roboflow 图片、SCB 图像标注包与五个视角视频包。表格中的占用空间是当前解压目录中文件大小的合计，按 1 GiB = 1024^3 字节计算；因为原 ZIP/7z 文件已不在当前目录，所以没有估算压缩包大小。讲解时强调 DAiSEE 记录的是学习投入度/状态，不直接当作微表情标签；SCB 的图片和视频保留不同标注格式与视角。</a:t>
            </a:r>
          </a:p>
          <a:p>
            <a:r>
              <a:t>数据源：DAiSEE https://people.iith.ac.in/vineethnb/resources/daisee/index.html；Tianchi https://tianchi.aliyun.com/dataset/201537；SCB https://github.com/Whiffe/SCB-dataset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_tf1_tf1_tf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这页是第5页的续表，新增数据集从第10行开始。每行沿用原表字段，包含规模、任务、标签、分辨率和处理状态。</a:t>
            </a:r>
          </a:p>
        </p:txBody>
      </p:sp>
    </p:spTree>
  </p:cSld>
  <p:clrMapOvr>
    <a:masterClrMapping/>
  </p:clrMapOvr>
</p:notes>
</file>

<file path=ppt/notesSlides/notesSlide5_tf1_tf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这批新数据分成学生行为检测、教师行为与课堂元素、中文多模态分类和开源模型四部分。它们把课堂行为标签和可控视觉条件连接起来，为后续退化实验提供专用模型。</a:t>
            </a:r>
          </a:p>
        </p:txBody>
      </p:sp>
    </p:spTree>
  </p:cSld>
  <p:clrMapOvr>
    <a:masterClrMapping/>
  </p:clrMapOvr>
</p:notes>
</file>

<file path=ppt/notesSlides/notesSlide5_tf1_tf3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学生行为检测数据包含举手、阅读、写字、讨论、低头和转头等子集。不同权重只负责对应标签，不能把单类模型当成通用课堂行为模型。</a:t>
            </a:r>
          </a:p>
        </p:txBody>
      </p:sp>
    </p:spTree>
  </p:cSld>
  <p:clrMapOvr>
    <a:masterClrMapping/>
  </p:clrMapOvr>
</p:notes>
</file>

<file path=ppt/notesSlides/notesSlide5_tf1_tf4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教师行为数据包含指导、应答、台上互动、教师板书以及黑板和屏幕等课堂元素。它的任务边界和学生行为、投入度需要分开报告。</a:t>
            </a:r>
          </a:p>
        </p:txBody>
      </p:sp>
    </p:spTree>
  </p:cSld>
  <p:clrMapOvr>
    <a:masterClrMapping/>
  </p:clrMapOvr>
</p:notes>
</file>

<file path=ppt/notesSlides/notesSlide5_tf1_tf5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SCB_LLM 使用中文提示词和唯一类别答案完成多模态课堂行为分类。现有 Qwen 指标可以作为方法参考，但完整模型权重缺失，暂时不能直接离线运行。</a:t>
            </a:r>
          </a:p>
        </p:txBody>
      </p:sp>
    </p:spTree>
  </p:cSld>
  <p:clrMapOvr>
    <a:masterClrMapping/>
  </p:clrMapOvr>
</p:notes>
</file>

<file path=ppt/notesSlides/notesSlide5_tf1_tf6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四组自训 YOLOv7 权重可以直接加载对应图片或视频，输出检测框、类别和置信度。使用时必须匹配训练标签和模型版本。</a:t>
            </a:r>
          </a:p>
        </p:txBody>
      </p:sp>
    </p:spTree>
  </p:cSld>
  <p:clrMapOvr>
    <a:masterClrMapping/>
  </p:clrMapOvr>
</p:notes>
</file>

<file path=ppt/notesSlides/notesSlide5_tf1_tf7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专用模型在对应课堂标签上比通用基线更有针对性，而处理台负责制造条件、管理 ROI、跟踪和对齐结果。两者应该组合使用。</a:t>
            </a:r>
          </a:p>
        </p:txBody>
      </p:sp>
    </p:spTree>
  </p:cSld>
  <p:clrMapOvr>
    <a:masterClrMapping/>
  </p:clrMapOvr>
</p:notes>
</file>

<file path=ppt/notesSlides/notesSlide5_tf1_tf8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最后一轮训练指标不能代替统一测试集评价。只有在真实标注下，才能正式计算不同分辨率和遮挡条件的 mAP、Precision 和 Recall。</a:t>
            </a:r>
          </a:p>
        </p:txBody>
      </p:sp>
    </p:spTree>
  </p:cSld>
  <p:clrMapOvr>
    <a:masterClrMapping/>
  </p:clrMapOvr>
</p:notes>
</file>

<file path=ppt/notesSlides/notesSlide6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这页把九个数据包和 Excel 里的具体来源对应起来。A 是 DAiSEE 官方来源，B 是 Tianchi 官方页及 Roboflow 详情页，C 是 SCB-Dataset GitHub 及其补充仓库。SCB 的图像、VOC 和五个视角视频来自同一类 GitHub 来源，因此表格列出九个文件组织单元，但仍说明公开来源只有三类。Tianchi 在 Excel 中没有对应论文链接，汇报时不要补写不存在的论文。</a:t>
            </a:r>
          </a:p>
          <a:p>
            <a:r>
              <a:t>Excel workbook：D:\数据处理1\学生行为数据集1\学生行为数据集1_跨设备媒体索引_实际路径修正版.xlsx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_tf1_tf1_tf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这页是第6页的来源续表，新增版本全部来自同一个SCB GitHub仓库。源码、权重和训练结果已经分开登记，避免把同源版本重复计算。</a:t>
            </a:r>
          </a:p>
        </p:txBody>
      </p:sp>
    </p:spTree>
  </p:cSld>
  <p:clrMapOvr>
    <a:masterClrMapping/>
  </p:clrMapOvr>
</p:notes>
</file>

<file path=ppt/notesSlides/notesSlide7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Excel 文件是数据资源的总索引。00_索引说明记录根目录、解压规则和跨设备打开要求；三个数据表分别记录 DAiSEE、Tianchi/Roboflow 和 SCB。每条媒体记录同时保留 source_url、paper_url、archive_file、archive_member_path、relative_path_after_unzip、resolution、scaled_or_resized 等字段。跨设备使用时，先把压缩包下载并解压成与原目录一致的同名文件夹，Excel 中的相对路径才可以继续定位媒体。</a:t>
            </a:r>
          </a:p>
          <a:p>
            <a:r>
              <a:t>Excel 路径：D:\数据处理1\学生行为数据集1\学生行为数据集1_跨设备媒体索引_实际路径修正版.xlsx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资料共享说明：</a:t>
            </a:r>
          </a:p>
          <a:p>
            <a:r>
              <a:t>数据与论文资料：百度网盘“数据处理1”，链接 https://pan.baidu.com/s/1YOpMGQYRBx7yJW5j_Xs9xQ?pwd=u7cs，提取码 u7cs。内容包括 D:\数据处理1\学生行为数据集1、八篇论文原件和论文分析文档。</a:t>
            </a:r>
          </a:p>
          <a:p>
            <a:r>
              <a:t>预处理软件：GitHub 仓库 xinnmyz / Classroom Visual Processing Console（https://github.com/xinnmyz/Classroom-Visual-Processing-Console）；百度网盘“课堂视觉数据处理台_EXE_发行包_20261026”，链接 https://pan.baidu.com/s/1VsI0mF-KZfnL5kbHK-6HWQ?pwd=34rw，提取码 34rw。内容包括 EXE 发行包、运行依赖和使用说明。</a:t>
            </a:r>
          </a:p>
          <a:p>
            <a:r>
              <a:t>提醒听众：跨设备使用时，应先把压缩包下载并解压为同名文件夹，Excel 中的媒体路径才有可能正确打开。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该页支撑数据集概览、投入度任务定义和视频时间建模。</a:t>
            </a:r>
          </a:p>
          <a:p>
            <a:r>
              <a:t>来源 PDF：D:\数据处理1\论文1\学习投入度\1804.00858v4.pdf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该页支撑数据特点、微表情时间标注和个体差异处理。</a:t>
            </a:r>
          </a:p>
          <a:p>
            <a:r>
              <a:t>来源 PDF：D:\数据处理1\论文1\高帧率视频面部个体差异.Q1\taffc.2016.2573832.pdf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该页支撑课堂行为数据集、检测任务、帧切分和数据泄漏风险。</a:t>
            </a:r>
          </a:p>
          <a:p>
            <a:r>
              <a:t>来源 PDF：D:\数据处理1\论文1\课堂学生行为\2310.02522v2.pdf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这张图来自 SCB 数据集，展示课堂中多人和前后排关系。讲解时强调：数据集之间的标签不能直接混为一谈，程序通过 label_mapping 保留 source label、canonical label 和 namespace。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这一页用于避免概念混淆。DAiSEE 记录的是学习投入度和相关状态，微表情数据集需要独立的面部表情标签和时间片段。程序中的 label_mapping 保留了来源标签和任务命名空间。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这组图来自同一张 SCB 课堂图片。分辨率处理采用比例缩放，恢复图像尺寸采用插值放大。黑色矩形遮挡面积约为整幅图的 5.2%，这里只展示视觉变化，不把视觉变化直接当作模型性能结论。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_tf2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这一页展示的是处理台真正生成的输入。6 张 Tianchi 图片生成了 4 种条件，共 24 张模型输入，所有样本都保留 sample_id、condition 和输出路径。</a:t>
            </a:r>
          </a:p>
        </p:txBody>
      </p:sp>
    </p:spTree>
  </p:cSld>
  <p:clrMapOvr>
    <a:masterClrMapping/>
  </p:clrMapOvr>
</p:notes>
</file>

<file path=ppt/notesSlides/notesSlide14_tf3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SCB 更适合课堂行为和多人遮挡研究，Tianchi 是本次实测来源，DAiSEE 用来说明投入度标签和跨域问题。实验固定随机种子，便于复现。</a:t>
            </a:r>
          </a:p>
        </p:txBody>
      </p:sp>
    </p:spTree>
  </p:cSld>
  <p:clrMapOvr>
    <a:masterClrMapping/>
  </p:clrMapOvr>
</p:notes>
</file>

<file path=ppt/notesSlides/notesSlide15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这一页说明程序对实验数据做了哪些基础检查。统一标注只统一字段结构，不会把不同数据集的语义标签强行合并。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按这个顺序介绍程序。扫描和标签整理保证数据可追溯；分辨率和遮挡处理制造实验条件；人物聚焦和跟踪保证比较的是同一人物；最后把结果和配置一起导出。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分辨率实验应保持同一张图、同一人物和同一标签，只改变缩放比例。恢复分辨率用于评估图像增强后的性能变化，不能把它解释成真实信息完全恢复。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该页支撑分辨率退化实验的尺度选择和恢复分辨率的解释边界。</a:t>
            </a:r>
          </a:p>
          <a:p>
            <a:r>
              <a:t>来源 PDF：D:\数据处理1\论文1\低分辨率对表情识别的影响与超分辨率的恢复作用\arxiv收录另一篇相关\2004.02234v1.pdf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该页支撑多尺度输入、跨数据集验证和恢复分辨率的结果解释。</a:t>
            </a:r>
          </a:p>
          <a:p>
            <a:r>
              <a:t>来源 PDF：D:\数据处理1\论文1\低分辨率对表情识别的影响与超分辨率的恢复作用\Q1\main.pdf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遮挡实验分为合成遮挡和真实遮挡。黑色像素、矩形和关键点遮挡适合做可控实验；前景学生遮挡用于接近课堂中的遮挡层级。隐私处理包括人脸模糊、马赛克和黑色遮挡。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该页支撑遮挡模拟、关键点可见性标签和姿态评价设计。</a:t>
            </a:r>
          </a:p>
          <a:p>
            <a:r>
              <a:t>来源 PDF：D:\数据处理1\论文1\区分可见关键点和被遮挡关键点\2208.00090v1.pdf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这一页用于讲程序本身。可以在现场演示时按照左到右的顺序操作，先选择数据，再设置处理参数，最后在报告页查看结果。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图中的人物框和 ID 是功能示意，用于说明程序如何聚焦同一个人物。正式实验应由检测器和跟踪器输出真实框、真实 person_id 以及对应的跟踪指标。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该页支撑多人跟踪、track ID、ignore regions 和姿态/跟踪联合评价。</a:t>
            </a:r>
          </a:p>
          <a:p>
            <a:r>
              <a:t>来源 PDF：D:\数据处理1\论文1\视频追踪 遮挡 多人姿态估计\Andriluka_PoseTrack_A_Benchmark_CVPR_2018_paper.pdf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程序已经提供指标导入和统计框架。真实模型评估需要上传模型预测结果或接入模型插件，PPT中的指标名称对应程序中支持的评估模块。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_tf2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四个模型都在处理台输出上实际运行。YOLO 和 RT-DETR 输出检测框，Pose 输出关键点，DAiSEE 输出投入度基线。没有真实标注对齐时，不把这些输出说成 Accuracy 或 mAP。</a:t>
            </a:r>
          </a:p>
        </p:txBody>
      </p:sp>
    </p:spTree>
  </p:cSld>
  <p:clrMapOvr>
    <a:masterClrMapping/>
  </p:clrMapOvr>
</p:notes>
</file>

<file path=ppt/notesSlides/notesSlide25_tf3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Pose 对 1/4 低分辨率最敏感，RT-DETR 的检测框数量也下降。输出框数量只能用来观察退化现象，正式检测性能仍需要真实框标注。</a:t>
            </a:r>
          </a:p>
        </p:txBody>
      </p:sp>
    </p:spTree>
  </p:cSld>
  <p:clrMapOvr>
    <a:masterClrMapping/>
  </p:clrMapOvr>
</p:notes>
</file>

<file path=ppt/notesSlides/notesSlide25_tf4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DAiSEE ValidationLabels 前 20 个视频各抽取中间帧，公开视觉 baseline 在原图上得到 Accuracy 0.30、MAE 1.20；加入 1% 遮挡后 Accuracy 0.05、MAE 1.85，1/4 低分辨率为 0.10、1.85，组合条件为 0.00、2.15。这个结果说明复杂条件会进一步削弱视觉基线，但它仍不是时序微调模型的正式效果。</a:t>
            </a:r>
          </a:p>
        </p:txBody>
      </p:sp>
    </p:spTree>
  </p:cSld>
  <p:clrMapOvr>
    <a:masterClrMapping/>
  </p:clrMapOvr>
</p:notes>
</file>

<file path=ppt/notesSlides/notesSlide25_tf5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这一页是现场口头解释用的术语翻译。先用中文说清楚指标在问什么，再在括号里指出论文里的英文名称。</a:t>
            </a:r>
          </a:p>
        </p:txBody>
      </p:sp>
    </p:spTree>
  </p:cSld>
  <p:clrMapOvr>
    <a:masterClrMapping/>
  </p:clrMapOvr>
</p:notes>
</file>

<file path=ppt/notesSlides/notesSlide26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这一页解释数据集和训练协议中的常见术语。LOSO 和 subject-independent 的共同目标是检验跨被试泛化能力。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这一页解释分类和目标检测指标。mAP@50 较宽松，mAP@50:95 更严格，二者不能混用。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这一页解释姿态、跟踪和遮挡术语。姿态 AP 或 PCK 不能替代 IDF1、MOTA、HOTA，单帧和视频级指标要分开报告。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这一页替换原来的结果模板。实际跑出的模型输出可以说明退化现象，但没有课堂行为真实框、姿态关键点和投入度标签对齐时，不能把框数量直接称为 mAP，也不能把公开基线当作最终模型。DAiSEE 验证集前 20 个视频得到 ACC 0.30、MAE 1.20，只作为探索性基线。</a:t>
            </a:r>
          </a:p>
        </p:txBody>
      </p:sp>
    </p:spTree>
  </p:cSld>
  <p:clrMapOvr>
    <a:masterClrMapping/>
  </p:clrMapOvr>
</p:notes>
</file>

<file path=ppt/notesSlides/notesSlide30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可复现记录是研究型程序的重要部分。它把数据处理从一次性操作变成带有配置和证据的实验。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现场演示控制在 3 到 5 分钟。优先展示一个人物的原图、低分辨率、遮挡和恢复结果，再打开导出的结果表。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这一页可以作为答辩追问时的参数依据。正式实验时把实际使用的参数值从程序导出的 JSON 中复制到这里。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_tf1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结尾回到研究问题。程序已经解决数据整理和复杂条件构造，下一步是接入真实行为、微表情、投入度、姿态和跟踪模型，得到可报告的性能变化。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_tf2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结尾只讲三件事：做了什么、看到了什么、为什么还需要真实标注。</a:t>
            </a:r>
          </a:p>
        </p:txBody>
      </p:sp>
    </p:spTree>
  </p:cSld>
  <p:clrMapOvr>
    <a:masterClrMapping/>
  </p:clrMapOvr>
</p:notes>
</file>

<file path=ppt/notesSlides/notesSlide33_tf3_tf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这页是现场提示，按六句话讲即可；英文先翻译成中文，再补英文缩写。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10750DC-CAB3-41B5-8EE5-292BAFE78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9FAD7F9F-FE22-498B-87D4-EE151AB2AC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ED05146-6E27-454C-92C0-D8B09977B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A0A89A8-21FE-4F4D-90B4-A9B4B0DEE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EB5B512-CF2C-4D6D-9B8B-B590E4897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5AAA82A-D65D-4FF3-BF04-AD68568C7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F22B874-39E2-4E92-AB63-F04371795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E7AE119-503D-4600-A03C-5637186AF9B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F01338F-AC03-4981-B335-1C208BF2F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9A068FC-9187-43AD-BAFE-51DB974F6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2" Type="http://schemas.openxmlformats.org/officeDocument/2006/relationships/notesSlide" Target="../notesSlides/notesSlide1_tf1_tf1_tf1.xml" /><Relationship Id="rId1" Type="http://schemas.openxmlformats.org/officeDocument/2006/relationships/slideLayout" Target="../slideLayouts/slideLayout6.xml" /></Relationships>
</file>

<file path=ppt/slides/_rels/slide2.xml.rels><?xml version='1.0' encoding='utf-8'?>
<Relationships xmlns="http://schemas.openxmlformats.org/package/2006/relationships"><Relationship Id="rId2" Type="http://schemas.openxmlformats.org/officeDocument/2006/relationships/notesSlide" Target="../notesSlides/notesSlide2_tf1_tf1_tf1.xml" /><Relationship Id="rId1" Type="http://schemas.openxmlformats.org/officeDocument/2006/relationships/slideLayout" Target="../slideLayouts/slideLayout6.xml" /></Relationships>
</file>

<file path=ppt/slides/_rels/slide3.xml.rels><?xml version='1.0' encoding='utf-8'?>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3_tf1_tf1_tf1.xml" /><Relationship Id="rId1" Type="http://schemas.openxmlformats.org/officeDocument/2006/relationships/slideLayout" Target="../slideLayouts/slideLayout6.xml" /></Relationships>
</file>

<file path=ppt/slides/_rels/slide4.xml.rels><?xml version='1.0' encoding='utf-8'?>
<Relationships xmlns="http://schemas.openxmlformats.org/package/2006/relationships"><Relationship Id="rId2" Type="http://schemas.openxmlformats.org/officeDocument/2006/relationships/notesSlide" Target="../notesSlides/notesSlide4_tf1_tf1_tf1.xml" /><Relationship Id="rId1" Type="http://schemas.openxmlformats.org/officeDocument/2006/relationships/slideLayout" Target="../slideLayouts/slideLayout6.xml" /></Relationships>
</file>

<file path=ppt/slides/_rels/slide5.xml.rels><?xml version='1.0' encoding='utf-8'?>
<Relationships xmlns="http://schemas.openxmlformats.org/package/2006/relationships"><Relationship Id="rId2" Type="http://schemas.openxmlformats.org/officeDocument/2006/relationships/notesSlide" Target="../notesSlides/notesSlide5_tf1_tf1_tf1.xml" /><Relationship Id="rId1" Type="http://schemas.openxmlformats.org/officeDocument/2006/relationships/slideLayout" Target="../slideLayouts/slideLayout6.xml" /></Relationships>
</file>

<file path=ppt/slides/_rels/slide6.xml.rels><?xml version='1.0' encoding='utf-8'?>
<Relationships xmlns="http://schemas.openxmlformats.org/package/2006/relationships"><Relationship Id="rId1" Type="http://schemas.openxmlformats.org/officeDocument/2006/relationships/slideLayout" Target="../slideLayouts/slideLayout6.xml" />  <Relationship Id="rId2" Type="http://schemas.openxmlformats.org/officeDocument/2006/relationships/notesSlide" Target="../notesSlides/notesSlide5_tf1_tf1_tf2.xml"/>
</Relationships>
</file>

<file path=ppt/slides/_rels/slide7.xml.rels><?xml version='1.0' encoding='utf-8'?>
<Relationships xmlns="http://schemas.openxmlformats.org/package/2006/relationships"><Relationship Id="rId2" Type="http://schemas.openxmlformats.org/officeDocument/2006/relationships/notesSlide" Target="../notesSlides/notesSlide6_tf1_tf1_tf1.xml" /><Relationship Id="rId1" Type="http://schemas.openxmlformats.org/officeDocument/2006/relationships/slideLayout" Target="../slideLayouts/slideLayout6.xml" /></Relationships>
</file>

<file path=ppt/slides/_rels/slide8.xml.rels><?xml version='1.0' encoding='utf-8'?>
<Relationships xmlns="http://schemas.openxmlformats.org/package/2006/relationships"><Relationship Id="rId1" Type="http://schemas.openxmlformats.org/officeDocument/2006/relationships/slideLayout" Target="../slideLayouts/slideLayout6.xml" />  <Relationship Id="rId2" Type="http://schemas.openxmlformats.org/officeDocument/2006/relationships/notesSlide" Target="../notesSlides/notesSlide6_tf1_tf1_tf2.xml"/>
</Relationships>
</file>

<file path=ppt/slides/_rels/slide9.xml.rels><?xml version='1.0' encoding='utf-8'?>
<Relationships xmlns="http://schemas.openxmlformats.org/package/2006/relationships"><Relationship Id="rId2" Type="http://schemas.openxmlformats.org/officeDocument/2006/relationships/notesSlide" Target="../notesSlides/notesSlide7_tf1_tf1_tf1.xml" /><Relationship Id="rId1" Type="http://schemas.openxmlformats.org/officeDocument/2006/relationships/slideLayout" Target="../slideLayouts/slideLayout6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  <Relationship Id="rId2" Type="http://schemas.openxmlformats.org/officeDocument/2006/relationships/notesSlide" Target="../notesSlides/notesSlide5_tf1_tf2_tf1.xml" />
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  <Relationship Id="rId2" Type="http://schemas.openxmlformats.org/officeDocument/2006/relationships/notesSlide" Target="../notesSlides/notesSlide5_tf1_tf3_tf1.xml" />
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  <Relationship Id="rId2" Type="http://schemas.openxmlformats.org/officeDocument/2006/relationships/notesSlide" Target="../notesSlides/notesSlide5_tf1_tf4_tf1.xml" />
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  <Relationship Id="rId2" Type="http://schemas.openxmlformats.org/officeDocument/2006/relationships/notesSlide" Target="../notesSlides/notesSlide5_tf1_tf5_tf1.xml" />
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  <Relationship Id="rId2" Type="http://schemas.openxmlformats.org/officeDocument/2006/relationships/notesSlide" Target="../notesSlides/notesSlide5_tf1_tf6_tf1.xml" />
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  <Relationship Id="rId2" Type="http://schemas.openxmlformats.org/officeDocument/2006/relationships/notesSlide" Target="../notesSlides/notesSlide5_tf1_tf7_tf1.xml" />
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  <Relationship Id="rId2" Type="http://schemas.openxmlformats.org/officeDocument/2006/relationships/notesSlide" Target="../notesSlides/notesSlide5_tf1_tf8_tf1.xml" />
</Relationships>
</file>

<file path=ppt/slides/_rels/slide17.xml.rels><?xml version='1.0' encoding='utf-8'?>
<Relationships xmlns="http://schemas.openxmlformats.org/package/2006/relationships"><Relationship Id="rId2" Type="http://schemas.openxmlformats.org/officeDocument/2006/relationships/notesSlide" Target="../notesSlides/notesSlide8_tf1_tf1_tf1.xml" /><Relationship Id="rId1" Type="http://schemas.openxmlformats.org/officeDocument/2006/relationships/slideLayout" Target="../slideLayouts/slideLayout6.xml" /></Relationships>
</file>

<file path=ppt/slides/_rels/slide18.xml.rels><?xml version='1.0' encoding='utf-8'?>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9_tf1_tf1_tf1.xml" /><Relationship Id="rId1" Type="http://schemas.openxmlformats.org/officeDocument/2006/relationships/slideLayout" Target="../slideLayouts/slideLayout6.xml" /></Relationships>
</file>

<file path=ppt/slides/_rels/slide19.xml.rels><?xml version='1.0' encoding='utf-8'?>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10_tf1_tf1_tf1.xml" /><Relationship Id="rId1" Type="http://schemas.openxmlformats.org/officeDocument/2006/relationships/slideLayout" Target="../slideLayouts/slideLayout6.xml" /></Relationships>
</file>

<file path=ppt/slides/_rels/slide20.xml.rels><?xml version='1.0' encoding='utf-8'?>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notesSlide" Target="../notesSlides/notesSlide11_tf1_tf1_tf1.xml" /><Relationship Id="rId1" Type="http://schemas.openxmlformats.org/officeDocument/2006/relationships/slideLayout" Target="../slideLayouts/slideLayout6.xml" /></Relationships>
</file>

<file path=ppt/slides/_rels/slide21.xml.rels><?xml version='1.0' encoding='utf-8'?>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notesSlide" Target="../notesSlides/notesSlide12_tf1_tf1_tf1.xml" /><Relationship Id="rId1" Type="http://schemas.openxmlformats.org/officeDocument/2006/relationships/slideLayout" Target="../slideLayouts/slideLayout6.xml" /></Relationships>
</file>

<file path=ppt/slides/_rels/slide22.xml.rels><?xml version='1.0' encoding='utf-8'?>
<Relationships xmlns="http://schemas.openxmlformats.org/package/2006/relationships"><Relationship Id="rId2" Type="http://schemas.openxmlformats.org/officeDocument/2006/relationships/notesSlide" Target="../notesSlides/notesSlide13_tf1_tf1_tf1.xml" /><Relationship Id="rId1" Type="http://schemas.openxmlformats.org/officeDocument/2006/relationships/slideLayout" Target="../slideLayouts/slideLayout6.xml" /></Relationships>
</file>

<file path=ppt/slides/_rels/slide23.xml.rels><?xml version='1.0' encoding='utf-8'?>
<Relationships xmlns="http://schemas.openxmlformats.org/package/2006/relationships"><Relationship Id="rId8" Type="http://schemas.openxmlformats.org/officeDocument/2006/relationships/image" Target="../media/image11.jpeg" /><Relationship Id="rId3" Type="http://schemas.openxmlformats.org/officeDocument/2006/relationships/image" Target="../media/image6.jpeg" /><Relationship Id="rId7" Type="http://schemas.openxmlformats.org/officeDocument/2006/relationships/image" Target="../media/image10.jpeg" /><Relationship Id="rId2" Type="http://schemas.openxmlformats.org/officeDocument/2006/relationships/notesSlide" Target="../notesSlides/notesSlide14_tf1_tf1_tf1.xml" /><Relationship Id="rId1" Type="http://schemas.openxmlformats.org/officeDocument/2006/relationships/slideLayout" Target="../slideLayouts/slideLayout6.xml" /><Relationship Id="rId6" Type="http://schemas.openxmlformats.org/officeDocument/2006/relationships/image" Target="../media/image9.jpeg" /><Relationship Id="rId5" Type="http://schemas.openxmlformats.org/officeDocument/2006/relationships/image" Target="../media/image8.jpeg" /><Relationship Id="rId4" Type="http://schemas.openxmlformats.org/officeDocument/2006/relationships/image" Target="../media/image7.jpeg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rId9" Type="http://schemas.openxmlformats.org/officeDocument/2006/relationships/image" Target="../media/image_a900e99d43c73459.jpg" /><Relationship Id="rId10" Type="http://schemas.openxmlformats.org/officeDocument/2006/relationships/image" Target="../media/image_e79ddd91cf7e6698.jpg" /><Relationship Id="rId11" Type="http://schemas.openxmlformats.org/officeDocument/2006/relationships/image" Target="../media/image_0ec4c15795956490.jpg" /><Relationship Id="rId12" Type="http://schemas.openxmlformats.org/officeDocument/2006/relationships/image" Target="../media/image_3f7c7a4c9008f4de.jpg" />  <Relationship Id="rId13" Type="http://schemas.openxmlformats.org/officeDocument/2006/relationships/notesSlide" Target="../notesSlides/notesSlide14_tf2_tf1_tf1.xml" />
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rId9" Type="http://schemas.openxmlformats.org/officeDocument/2006/relationships/notesSlide" Target="../notesSlides/notesSlide14_tf3_tf1_tf1.xml" />
</Relationships>
</file>

<file path=ppt/slides/_rels/slide26.xml.rels><?xml version='1.0' encoding='utf-8'?>
<Relationships xmlns="http://schemas.openxmlformats.org/package/2006/relationships"><Relationship Id="rId2" Type="http://schemas.openxmlformats.org/officeDocument/2006/relationships/notesSlide" Target="../notesSlides/notesSlide15_tf1_tf1_tf1.xml" /><Relationship Id="rId1" Type="http://schemas.openxmlformats.org/officeDocument/2006/relationships/slideLayout" Target="../slideLayouts/slideLayout6.xml" /></Relationships>
</file>

<file path=ppt/slides/_rels/slide27.xml.rels><?xml version='1.0' encoding='utf-8'?>
<Relationships xmlns="http://schemas.openxmlformats.org/package/2006/relationships"><Relationship Id="rId2" Type="http://schemas.openxmlformats.org/officeDocument/2006/relationships/notesSlide" Target="../notesSlides/notesSlide16_tf1_tf1_tf1.xml" /><Relationship Id="rId1" Type="http://schemas.openxmlformats.org/officeDocument/2006/relationships/slideLayout" Target="../slideLayouts/slideLayout6.xml" /></Relationships>
</file>

<file path=ppt/slides/_rels/slide28.xml.rels><?xml version='1.0' encoding='utf-8'?>
<Relationships xmlns="http://schemas.openxmlformats.org/package/2006/relationships"><Relationship Id="rId2" Type="http://schemas.openxmlformats.org/officeDocument/2006/relationships/notesSlide" Target="../notesSlides/notesSlide17_tf1_tf1_tf1.xml" /><Relationship Id="rId1" Type="http://schemas.openxmlformats.org/officeDocument/2006/relationships/slideLayout" Target="../slideLayouts/slideLayout6.xml" /></Relationships>
</file>

<file path=ppt/slides/_rels/slide29.xml.rels><?xml version='1.0' encoding='utf-8'?>
<Relationships xmlns="http://schemas.openxmlformats.org/package/2006/relationships"><Relationship Id="rId3" Type="http://schemas.openxmlformats.org/officeDocument/2006/relationships/image" Target="../media/image12.jpeg" /><Relationship Id="rId2" Type="http://schemas.openxmlformats.org/officeDocument/2006/relationships/notesSlide" Target="../notesSlides/notesSlide18_tf1_tf1_tf1.xml" /><Relationship Id="rId1" Type="http://schemas.openxmlformats.org/officeDocument/2006/relationships/slideLayout" Target="../slideLayouts/slideLayout6.xml" /></Relationships>
</file>

<file path=ppt/slides/_rels/slide30.xml.rels><?xml version='1.0' encoding='utf-8'?>
<Relationships xmlns="http://schemas.openxmlformats.org/package/2006/relationships"><Relationship Id="rId3" Type="http://schemas.openxmlformats.org/officeDocument/2006/relationships/image" Target="../media/image13.jpeg" /><Relationship Id="rId2" Type="http://schemas.openxmlformats.org/officeDocument/2006/relationships/notesSlide" Target="../notesSlides/notesSlide19_tf1_tf1_tf1.xml" /><Relationship Id="rId1" Type="http://schemas.openxmlformats.org/officeDocument/2006/relationships/slideLayout" Target="../slideLayouts/slideLayout6.xml" /></Relationships>
</file>

<file path=ppt/slides/_rels/slide31.xml.rels><?xml version='1.0' encoding='utf-8'?>
<Relationships xmlns="http://schemas.openxmlformats.org/package/2006/relationships"><Relationship Id="rId3" Type="http://schemas.openxmlformats.org/officeDocument/2006/relationships/image" Target="../media/image14.jpeg" /><Relationship Id="rId2" Type="http://schemas.openxmlformats.org/officeDocument/2006/relationships/notesSlide" Target="../notesSlides/notesSlide20_tf1_tf1_tf1.xml" /><Relationship Id="rId1" Type="http://schemas.openxmlformats.org/officeDocument/2006/relationships/slideLayout" Target="../slideLayouts/slideLayout6.xml" /></Relationships>
</file>

<file path=ppt/slides/_rels/slide32.xml.rels><?xml version='1.0' encoding='utf-8'?>
<Relationships xmlns="http://schemas.openxmlformats.org/package/2006/relationships"><Relationship Id="rId3" Type="http://schemas.openxmlformats.org/officeDocument/2006/relationships/image" Target="../media/image15.jpeg" /><Relationship Id="rId2" Type="http://schemas.openxmlformats.org/officeDocument/2006/relationships/notesSlide" Target="../notesSlides/notesSlide21_tf1_tf1_tf1.xml" /><Relationship Id="rId1" Type="http://schemas.openxmlformats.org/officeDocument/2006/relationships/slideLayout" Target="../slideLayouts/slideLayout6.xml" /></Relationships>
</file>

<file path=ppt/slides/_rels/slide33.xml.rels><?xml version='1.0' encoding='utf-8'?>
<Relationships xmlns="http://schemas.openxmlformats.org/package/2006/relationships"><Relationship Id="rId2" Type="http://schemas.openxmlformats.org/officeDocument/2006/relationships/notesSlide" Target="../notesSlides/notesSlide22_tf1_tf1_tf1.xml" /><Relationship Id="rId1" Type="http://schemas.openxmlformats.org/officeDocument/2006/relationships/slideLayout" Target="../slideLayouts/slideLayout6.xml" /></Relationships>
</file>

<file path=ppt/slides/_rels/slide34.xml.rels><?xml version='1.0' encoding='utf-8'?>
<Relationships xmlns="http://schemas.openxmlformats.org/package/2006/relationships"><Relationship Id="rId3" Type="http://schemas.openxmlformats.org/officeDocument/2006/relationships/image" Target="../media/image14.jpeg" /><Relationship Id="rId2" Type="http://schemas.openxmlformats.org/officeDocument/2006/relationships/notesSlide" Target="../notesSlides/notesSlide23_tf1_tf1_tf1.xml" /><Relationship Id="rId1" Type="http://schemas.openxmlformats.org/officeDocument/2006/relationships/slideLayout" Target="../slideLayouts/slideLayout6.xml" /></Relationships>
</file>

<file path=ppt/slides/_rels/slide35.xml.rels><?xml version='1.0' encoding='utf-8'?>
<Relationships xmlns="http://schemas.openxmlformats.org/package/2006/relationships"><Relationship Id="rId3" Type="http://schemas.openxmlformats.org/officeDocument/2006/relationships/image" Target="../media/image16.jpeg" /><Relationship Id="rId2" Type="http://schemas.openxmlformats.org/officeDocument/2006/relationships/notesSlide" Target="../notesSlides/notesSlide24_tf1_tf1_tf1.xml" /><Relationship Id="rId1" Type="http://schemas.openxmlformats.org/officeDocument/2006/relationships/slideLayout" Target="../slideLayouts/slideLayout6.xml" /></Relationships>
</file>

<file path=ppt/slides/_rels/slide36.xml.rels><?xml version='1.0' encoding='utf-8'?>
<Relationships xmlns="http://schemas.openxmlformats.org/package/2006/relationships"><Relationship Id="rId2" Type="http://schemas.openxmlformats.org/officeDocument/2006/relationships/notesSlide" Target="../notesSlides/notesSlide25_tf1_tf1_tf1.xml" /><Relationship Id="rId1" Type="http://schemas.openxmlformats.org/officeDocument/2006/relationships/slideLayout" Target="../slideLayouts/slideLayout6.xml" /></Relationships>
</file>

<file path=ppt/slides/_rels/slide3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  <Relationship Id="rId2" Type="http://schemas.openxmlformats.org/officeDocument/2006/relationships/notesSlide" Target="../notesSlides/notesSlide25_tf2_tf1_tf1.xml" />
</Relationships>
</file>

<file path=ppt/slides/_rels/slide3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rId3" Type="http://schemas.openxmlformats.org/officeDocument/2006/relationships/image" Target="../media/image_f4757eb4844db942.png" />  <Relationship Id="rId4" Type="http://schemas.openxmlformats.org/officeDocument/2006/relationships/notesSlide" Target="../notesSlides/notesSlide25_tf3_tf1_tf1.xml" />
</Relationships>
</file>

<file path=ppt/slides/_rels/slide3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rId3" Type="http://schemas.openxmlformats.org/officeDocument/2006/relationships/image" Target="../media/image_1fc9bc4ec6aa66ce.png" />  <Relationship Id="rId4" Type="http://schemas.openxmlformats.org/officeDocument/2006/relationships/notesSlide" Target="../notesSlides/notesSlide25_tf4_tf1_tf1.xml" />
</Relationships>
</file>

<file path=ppt/slides/_rels/slide4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  <Relationship Id="rId2" Type="http://schemas.openxmlformats.org/officeDocument/2006/relationships/notesSlide" Target="../notesSlides/notesSlide25_tf5_tf1_tf1.xml" />
</Relationships>
</file>

<file path=ppt/slides/_rels/slide41.xml.rels><?xml version='1.0' encoding='utf-8'?>
<Relationships xmlns="http://schemas.openxmlformats.org/package/2006/relationships"><Relationship Id="rId2" Type="http://schemas.openxmlformats.org/officeDocument/2006/relationships/notesSlide" Target="../notesSlides/notesSlide26_tf1_tf1_tf1.xml" /><Relationship Id="rId1" Type="http://schemas.openxmlformats.org/officeDocument/2006/relationships/slideLayout" Target="../slideLayouts/slideLayout6.xml" /></Relationships>
</file>

<file path=ppt/slides/_rels/slide42.xml.rels><?xml version='1.0' encoding='utf-8'?>
<Relationships xmlns="http://schemas.openxmlformats.org/package/2006/relationships"><Relationship Id="rId2" Type="http://schemas.openxmlformats.org/officeDocument/2006/relationships/notesSlide" Target="../notesSlides/notesSlide27_tf1_tf1_tf1.xml" /><Relationship Id="rId1" Type="http://schemas.openxmlformats.org/officeDocument/2006/relationships/slideLayout" Target="../slideLayouts/slideLayout6.xml" /></Relationships>
</file>

<file path=ppt/slides/_rels/slide43.xml.rels><?xml version='1.0' encoding='utf-8'?>
<Relationships xmlns="http://schemas.openxmlformats.org/package/2006/relationships"><Relationship Id="rId2" Type="http://schemas.openxmlformats.org/officeDocument/2006/relationships/notesSlide" Target="../notesSlides/notesSlide28_tf1_tf1_tf1.xml" /><Relationship Id="rId1" Type="http://schemas.openxmlformats.org/officeDocument/2006/relationships/slideLayout" Target="../slideLayouts/slideLayout6.xml" /></Relationships>
</file>

<file path=ppt/slides/_rels/slide4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  <Relationship Id="rId2" Type="http://schemas.openxmlformats.org/officeDocument/2006/relationships/notesSlide" Target="../notesSlides/notesSlide29_tf1_tf1_tf1.xml" />
</Relationships>
</file>

<file path=ppt/slides/_rels/slide45.xml.rels><?xml version='1.0' encoding='utf-8'?>
<Relationships xmlns="http://schemas.openxmlformats.org/package/2006/relationships"><Relationship Id="rId2" Type="http://schemas.openxmlformats.org/officeDocument/2006/relationships/notesSlide" Target="../notesSlides/notesSlide30_tf1_tf1_tf1.xml" /><Relationship Id="rId1" Type="http://schemas.openxmlformats.org/officeDocument/2006/relationships/slideLayout" Target="../slideLayouts/slideLayout6.xml" /></Relationships>
</file>

<file path=ppt/slides/_rels/slide46.xml.rels><?xml version='1.0' encoding='utf-8'?>
<Relationships xmlns="http://schemas.openxmlformats.org/package/2006/relationships"><Relationship Id="rId2" Type="http://schemas.openxmlformats.org/officeDocument/2006/relationships/notesSlide" Target="../notesSlides/notesSlide31_tf1_tf1_tf1.xml" /><Relationship Id="rId1" Type="http://schemas.openxmlformats.org/officeDocument/2006/relationships/slideLayout" Target="../slideLayouts/slideLayout6.xml" /></Relationships>
</file>

<file path=ppt/slides/_rels/slide47.xml.rels><?xml version='1.0' encoding='utf-8'?>
<Relationships xmlns="http://schemas.openxmlformats.org/package/2006/relationships"><Relationship Id="rId2" Type="http://schemas.openxmlformats.org/officeDocument/2006/relationships/notesSlide" Target="../notesSlides/notesSlide32_tf1_tf1_tf1.xml" /><Relationship Id="rId1" Type="http://schemas.openxmlformats.org/officeDocument/2006/relationships/slideLayout" Target="../slideLayouts/slideLayout6.xml" /></Relationships>
</file>

<file path=ppt/slides/_rels/slide48.xml.rels><?xml version='1.0' encoding='utf-8'?>
<Relationships xmlns="http://schemas.openxmlformats.org/package/2006/relationships"><Relationship Id="rId2" Type="http://schemas.openxmlformats.org/officeDocument/2006/relationships/notesSlide" Target="../notesSlides/notesSlide33_tf1_tf1_tf1.xml" /><Relationship Id="rId1" Type="http://schemas.openxmlformats.org/officeDocument/2006/relationships/slideLayout" Target="../slideLayouts/slideLayout6.xml" /></Relationships>
</file>

<file path=ppt/slides/_rels/slide4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  <Relationship Id="rId2" Type="http://schemas.openxmlformats.org/officeDocument/2006/relationships/notesSlide" Target="../notesSlides/notesSlide33_tf2_tf1_tf1.xml" />
</Relationships>
</file>

<file path=ppt/slides/_rels/slide5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  <Relationship Id="rId2" Type="http://schemas.openxmlformats.org/officeDocument/2006/relationships/notesSlide" Target="../notesSlides/notesSlide33_tf3_tf1_tf1.xml" 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>
            <a:extLst>
              <a:ext uri="{FF2B5EF4-FFF2-40B4-BE49-F238E27FC236}">
                <a16:creationId xmlns:a16="http://schemas.microsoft.com/office/drawing/2014/main" id="{4E951D8E-0628-4CDA-926C-735D063B312B}"/>
              </a:ext>
            </a:extLst>
          </p:cNvPr>
          <p:cNvSpPr>
            <a:spLocks noGrp="1"/>
          </p:cNvSpPr>
          <p:nvPr/>
        </p:nvSpPr>
        <p:spPr>
          <a:xfrm>
            <a:off x="8572500" y="666750"/>
            <a:ext cx="2667000" cy="2667000"/>
          </a:xfrm>
          <a:prstGeom prst="ellipse">
            <a:avLst/>
          </a:prstGeom>
          <a:solidFill>
            <a:srgbClr val="DDEAE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DD318011-3F66-4B98-B6C4-4B12C8118899}"/>
              </a:ext>
            </a:extLst>
          </p:cNvPr>
          <p:cNvSpPr>
            <a:spLocks noGrp="1"/>
          </p:cNvSpPr>
          <p:nvPr/>
        </p:nvSpPr>
        <p:spPr>
          <a:xfrm>
            <a:off x="9620250" y="2095500"/>
            <a:ext cx="1809750" cy="1809750"/>
          </a:xfrm>
          <a:prstGeom prst="ellipse">
            <a:avLst/>
          </a:prstGeom>
          <a:solidFill>
            <a:srgbClr val="D27A5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46F1D31-14FF-4E2F-B989-0ED7FF6B43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D27A5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2B9FD88-4CDC-4CE0-9E5A-F98CC7BE3F65}"/>
              </a:ext>
            </a:extLst>
          </p:cNvPr>
          <p:cNvSpPr>
            <a:spLocks noGrp="1"/>
          </p:cNvSpPr>
          <p:nvPr/>
        </p:nvSpPr>
        <p:spPr>
          <a:xfrm>
            <a:off x="723900" y="7429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研究汇报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DFF972B-FE25-407D-9B7A-65A78F5C317B}"/>
              </a:ext>
            </a:extLst>
          </p:cNvPr>
          <p:cNvSpPr>
            <a:spLocks noGrp="1"/>
          </p:cNvSpPr>
          <p:nvPr/>
        </p:nvSpPr>
        <p:spPr>
          <a:xfrm>
            <a:off x="723900" y="1409700"/>
            <a:ext cx="7810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40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40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40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40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40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40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40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40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40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40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40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pPr>
            <a:r>
              <a:rPr sz="40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rPr>
              <a:t>课堂视觉数据处理台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FEEB68-C56E-4250-95E7-5353BCA64686}"/>
              </a:ext>
            </a:extLst>
          </p:cNvPr>
          <p:cNvSpPr>
            <a:spLocks noGrp="1"/>
          </p:cNvSpPr>
          <p:nvPr/>
        </p:nvSpPr>
        <p:spPr>
          <a:xfrm>
            <a:off x="762000" y="2476500"/>
            <a:ext cx="723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00" b="0">
                <a:solidFill>
                  <a:srgbClr val="D7E4D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0">
                <a:solidFill>
                  <a:srgbClr val="D7E4D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0">
                <a:solidFill>
                  <a:srgbClr val="D7E4D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0">
                <a:solidFill>
                  <a:srgbClr val="D7E4D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0">
                <a:solidFill>
                  <a:srgbClr val="D7E4D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0">
                <a:solidFill>
                  <a:srgbClr val="D7E4D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0">
                <a:solidFill>
                  <a:srgbClr val="D7E4D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0">
                <a:solidFill>
                  <a:srgbClr val="D7E4D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0">
                <a:solidFill>
                  <a:srgbClr val="D7E4D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0">
                <a:solidFill>
                  <a:srgbClr val="D7E4D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0">
                <a:solidFill>
                  <a:srgbClr val="D7E4DF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D7E4DF"/>
                </a:solidFill>
                <a:latin typeface="Noto Sans SC"/>
                <a:ea typeface="Noto Sans SC"/>
                <a:cs typeface="Noto Sans SC"/>
              </a:rPr>
              <a:t>学生行为数据整理、复杂场景预处理与人物分析评估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A2197BF4-8C96-4EB3-9247-D06690AA2650}"/>
              </a:ext>
            </a:extLst>
          </p:cNvPr>
          <p:cNvSpPr>
            <a:spLocks noGrp="1"/>
          </p:cNvSpPr>
          <p:nvPr/>
        </p:nvSpPr>
        <p:spPr>
          <a:xfrm>
            <a:off x="762000" y="3390900"/>
            <a:ext cx="4953000" cy="0"/>
          </a:xfrm>
          <a:prstGeom prst="line">
            <a:avLst/>
          </a:prstGeom>
          <a:noFill/>
          <a:ln w="19050">
            <a:solidFill>
              <a:srgbClr val="4E6A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BE12A52-E575-42A2-AB83-C879AA9E5826}"/>
              </a:ext>
            </a:extLst>
          </p:cNvPr>
          <p:cNvSpPr>
            <a:spLocks noGrp="1"/>
          </p:cNvSpPr>
          <p:nvPr/>
        </p:nvSpPr>
        <p:spPr>
          <a:xfrm>
            <a:off x="762000" y="361950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rPr>
              <a:t>数据集特征  ·  分辨率退化  ·  遮挡模拟  ·  多人跟踪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E4E5BA9-CD25-4DAB-B8C8-BC200A36F533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B7C8C0"/>
                </a:solidFill>
                <a:latin typeface="Noto Sans SC"/>
                <a:ea typeface="Noto Sans SC"/>
                <a:cs typeface="Noto Sans SC"/>
              </a:rPr>
              <a:t>课堂视觉数据处理台 | 2026</a:t>
            </a:r>
          </a:p>
        </p:txBody>
      </p:sp>
    </p:spTree>
    <p:extLst>
      <p:ext uri="{BB962C8B-B14F-4D97-AF65-F5344CB8AC3E}">
        <p14:creationId xmlns:p14="http://schemas.microsoft.com/office/powerpoint/2010/main" val="14101076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24AA5158-8395-4AC4-A889-AD04F363CED2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为什么需要构造复杂课堂场景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A06FBA-14EA-4824-B859-148C5B7C54CC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EEEDB5-002C-4A8E-AB5B-FEB872893B62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研究问题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5F3988D0-7976-414A-9057-0DDE7DA445B9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97BD21-97BF-4FFE-9417-4E3B7FD229CC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5429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7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7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真实课堂图像同时受到距离、分辨率和遮挡影响。程序把这些因素转成可控实验条件，用同一批样本比较人物分析性能。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37029D0C-46D6-47DD-B344-BC3CF8F1D2F9}"/>
              </a:ext>
            </a:extLst>
          </p:cNvPr>
          <p:cNvSpPr>
            <a:spLocks noGrp="1"/>
          </p:cNvSpPr>
          <p:nvPr/>
        </p:nvSpPr>
        <p:spPr>
          <a:xfrm>
            <a:off x="7239000" y="1790700"/>
            <a:ext cx="1123950" cy="1123950"/>
          </a:xfrm>
          <a:prstGeom prst="ellipse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B267CCA-D3B7-4374-9F36-ED25C62EF084}"/>
              </a:ext>
            </a:extLst>
          </p:cNvPr>
          <p:cNvSpPr>
            <a:spLocks noGrp="1"/>
          </p:cNvSpPr>
          <p:nvPr/>
        </p:nvSpPr>
        <p:spPr>
          <a:xfrm>
            <a:off x="7658100" y="20383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8342A5A-9803-4200-954A-53B99149871C}"/>
              </a:ext>
            </a:extLst>
          </p:cNvPr>
          <p:cNvSpPr>
            <a:spLocks noGrp="1"/>
          </p:cNvSpPr>
          <p:nvPr/>
        </p:nvSpPr>
        <p:spPr>
          <a:xfrm>
            <a:off x="7067550" y="3086100"/>
            <a:ext cx="1466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远距离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8D9D47-44CE-4712-9CA4-D1A9486DE04D}"/>
              </a:ext>
            </a:extLst>
          </p:cNvPr>
          <p:cNvSpPr>
            <a:spLocks noGrp="1"/>
          </p:cNvSpPr>
          <p:nvPr/>
        </p:nvSpPr>
        <p:spPr>
          <a:xfrm>
            <a:off x="6810375" y="3371850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人物目标变小</a:t>
            </a: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CBC245E9-8F65-4ECE-9DA2-E618B0EE54C5}"/>
              </a:ext>
            </a:extLst>
          </p:cNvPr>
          <p:cNvSpPr>
            <a:spLocks noGrp="1"/>
          </p:cNvSpPr>
          <p:nvPr/>
        </p:nvSpPr>
        <p:spPr>
          <a:xfrm>
            <a:off x="8420100" y="2352675"/>
            <a:ext cx="571500" cy="0"/>
          </a:xfrm>
          <a:prstGeom prst="line">
            <a:avLst/>
          </a:prstGeom>
          <a:noFill/>
          <a:ln w="1905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7F7E386-4406-4976-8B74-A201C5EEE354}"/>
              </a:ext>
            </a:extLst>
          </p:cNvPr>
          <p:cNvSpPr>
            <a:spLocks noGrp="1"/>
          </p:cNvSpPr>
          <p:nvPr/>
        </p:nvSpPr>
        <p:spPr>
          <a:xfrm>
            <a:off x="8934450" y="1790700"/>
            <a:ext cx="1123950" cy="1123950"/>
          </a:xfrm>
          <a:prstGeom prst="ellipse">
            <a:avLst/>
          </a:prstGeom>
          <a:solidFill>
            <a:srgbClr val="D27A5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A4D5FDD-2A3D-48AD-A01D-E67723975182}"/>
              </a:ext>
            </a:extLst>
          </p:cNvPr>
          <p:cNvSpPr>
            <a:spLocks noGrp="1"/>
          </p:cNvSpPr>
          <p:nvPr/>
        </p:nvSpPr>
        <p:spPr>
          <a:xfrm>
            <a:off x="9353550" y="20383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6CCAF9A-700F-4D38-B10A-BCED91BA1C5A}"/>
              </a:ext>
            </a:extLst>
          </p:cNvPr>
          <p:cNvSpPr>
            <a:spLocks noGrp="1"/>
          </p:cNvSpPr>
          <p:nvPr/>
        </p:nvSpPr>
        <p:spPr>
          <a:xfrm>
            <a:off x="8763000" y="3086100"/>
            <a:ext cx="1466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低分辨率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9B793FA-EAD3-422A-9036-DF8EA4852901}"/>
              </a:ext>
            </a:extLst>
          </p:cNvPr>
          <p:cNvSpPr>
            <a:spLocks noGrp="1"/>
          </p:cNvSpPr>
          <p:nvPr/>
        </p:nvSpPr>
        <p:spPr>
          <a:xfrm>
            <a:off x="8505825" y="3371850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面部和姿态细节减少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AAF2B3B7-6067-4FBB-9598-CFB10DB77B3A}"/>
              </a:ext>
            </a:extLst>
          </p:cNvPr>
          <p:cNvSpPr>
            <a:spLocks noGrp="1"/>
          </p:cNvSpPr>
          <p:nvPr/>
        </p:nvSpPr>
        <p:spPr>
          <a:xfrm>
            <a:off x="10115550" y="2352675"/>
            <a:ext cx="571500" cy="0"/>
          </a:xfrm>
          <a:prstGeom prst="line">
            <a:avLst/>
          </a:prstGeom>
          <a:noFill/>
          <a:ln w="1905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D4F247FF-C743-4BE3-9D71-E641617EABE6}"/>
              </a:ext>
            </a:extLst>
          </p:cNvPr>
          <p:cNvSpPr>
            <a:spLocks noGrp="1"/>
          </p:cNvSpPr>
          <p:nvPr/>
        </p:nvSpPr>
        <p:spPr>
          <a:xfrm>
            <a:off x="10629900" y="1790700"/>
            <a:ext cx="1123950" cy="1123950"/>
          </a:xfrm>
          <a:prstGeom prst="ellipse">
            <a:avLst/>
          </a:prstGeom>
          <a:solidFill>
            <a:srgbClr val="C86B6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3114D49-1303-4E90-B2F5-E84645A821FD}"/>
              </a:ext>
            </a:extLst>
          </p:cNvPr>
          <p:cNvSpPr>
            <a:spLocks noGrp="1"/>
          </p:cNvSpPr>
          <p:nvPr/>
        </p:nvSpPr>
        <p:spPr>
          <a:xfrm>
            <a:off x="11049000" y="20383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2DFA445-94C4-4CB7-BD20-58B416EBC131}"/>
              </a:ext>
            </a:extLst>
          </p:cNvPr>
          <p:cNvSpPr>
            <a:spLocks noGrp="1"/>
          </p:cNvSpPr>
          <p:nvPr/>
        </p:nvSpPr>
        <p:spPr>
          <a:xfrm>
            <a:off x="10458450" y="3086100"/>
            <a:ext cx="1466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多人遮挡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9EFD377-D6BA-4308-B396-8B0D1E7376BB}"/>
              </a:ext>
            </a:extLst>
          </p:cNvPr>
          <p:cNvSpPr>
            <a:spLocks noGrp="1"/>
          </p:cNvSpPr>
          <p:nvPr/>
        </p:nvSpPr>
        <p:spPr>
          <a:xfrm>
            <a:off x="10201275" y="3371850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前后排相互覆盖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20209CE-892B-4413-BA6D-2A7B52DA98EE}"/>
              </a:ext>
            </a:extLst>
          </p:cNvPr>
          <p:cNvSpPr>
            <a:spLocks noGrp="1"/>
          </p:cNvSpPr>
          <p:nvPr/>
        </p:nvSpPr>
        <p:spPr>
          <a:xfrm>
            <a:off x="7048500" y="4514850"/>
            <a:ext cx="4000500" cy="876300"/>
          </a:xfrm>
          <a:prstGeom prst="roundRect">
            <a:avLst>
              <a:gd name="adj" fmla="val 17391"/>
            </a:avLst>
          </a:prstGeom>
          <a:solidFill>
            <a:srgbClr val="173C3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756433A-614D-4A2F-88B4-51C012E7B7B8}"/>
              </a:ext>
            </a:extLst>
          </p:cNvPr>
          <p:cNvSpPr>
            <a:spLocks noGrp="1"/>
          </p:cNvSpPr>
          <p:nvPr/>
        </p:nvSpPr>
        <p:spPr>
          <a:xfrm>
            <a:off x="7334250" y="4705350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影响对象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68783C3-6AAD-40DC-AC4A-B16223E752BA}"/>
              </a:ext>
            </a:extLst>
          </p:cNvPr>
          <p:cNvSpPr>
            <a:spLocks noGrp="1"/>
          </p:cNvSpPr>
          <p:nvPr/>
        </p:nvSpPr>
        <p:spPr>
          <a:xfrm>
            <a:off x="7334250" y="50101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行为识别  ·  微表情  ·  投入度  ·  姿态  ·  跟踪</a:t>
            </a:r>
          </a:p>
        </p:txBody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1F739654-2835-4691-823E-F4B3F676798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C4D68CB-02AA-46B0-864B-AD32641F6CBE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研究汇报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09148A4-5F08-4097-8354-57BEDEF632D3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12604674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mc="http://schemas.openxmlformats.org/markup-compatibility/2006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ns2:creationId id="{434207D5-D0F5-4BF8-A993-C36E55BC972B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论文证据与原有板块结合</a:t>
            </a:r>
          </a:p>
        </p:txBody>
      </p:sp>
      <p:sp>
        <p:nvSpPr>
          <p:cNvPr id="2" name="矩形 1">
            <a:extLst>
              <a:ext uri="{FF2B5EF4-FFF2-40B4-BE49-F238E27FC236}">
                <ns2:creationId id="{5FB2EB82-8DB1-434E-9BD8-B9C1D199BE96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" name="矩形 2">
            <a:extLst>
              <a:ext uri="{FF2B5EF4-FFF2-40B4-BE49-F238E27FC236}">
                <ns2:creationId id="{0EC4B0CC-6E51-4850-AF2A-B96902FFFB4F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微表情综述：为什么要控制数据和评价协议</a:t>
            </a:r>
          </a:p>
        </p:txBody>
      </p:sp>
      <p:sp>
        <p:nvSpPr>
          <p:cNvPr id="4" name="直接连接符 3">
            <a:extLst>
              <a:ext uri="{FF2B5EF4-FFF2-40B4-BE49-F238E27FC236}">
                <ns2:creationId id="{42BF83CA-5DFE-4AE6-9C2A-E8D4EC4AB858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ns2:creationId id="{0D923C3C-897D-4451-9082-3C85B47660FF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综述指出，微表情持续时间短、动作幅度小，数据集、预处理和验证协议会显著影响结论。</a:t>
            </a:r>
          </a:p>
        </p:txBody>
      </p:sp>
      <p:sp>
        <p:nvSpPr>
          <p:cNvPr id="6" name="矩形: 圆角 5">
            <a:extLst>
              <a:ext uri="{FF2B5EF4-FFF2-40B4-BE49-F238E27FC236}">
                <ns2:creationId id="{532DB7EA-8B44-4AD4-836D-C20A88ECC901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5715000" cy="3276600"/>
          </a:xfrm>
          <a:prstGeom prst="roundRect">
            <a:avLst>
              <a:gd name="adj" fmla="val 4651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ns2:creationId id="{6E0AFAA6-2261-4163-A787-E4A7F0385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76300" y="2686675"/>
            <a:ext cx="5334000" cy="2360951"/>
          </a:xfrm>
          <a:prstGeom prst="roundRect">
            <a:avLst>
              <a:gd name="adj" fmla="val 6349"/>
            </a:avLst>
          </a:prstGeom>
        </p:spPr>
      </p:pic>
      <p:sp>
        <p:nvSpPr>
          <p:cNvPr id="8" name="矩形: 圆角 7"/>
          <p:cNvSpPr/>
          <p:nvPr/>
        </p:nvSpPr>
        <p:spPr>
          <a:xfrm>
            <a:off x="1028700" y="2381250"/>
            <a:ext cx="1552575" cy="304800"/>
          </a:xfrm>
          <a:prstGeom prst="roundRect">
            <a:avLst>
              <a:gd name="adj" fmla="val 37500"/>
            </a:avLst>
          </a:prstGeom>
          <a:solidFill>
            <a:srgbClr val="FFFDF8"/>
          </a:solidFill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98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PDF p.2 · 重点：动作幅度小</a:t>
            </a:r>
          </a:p>
        </p:txBody>
      </p:sp>
      <p:sp>
        <p:nvSpPr>
          <p:cNvPr id="9" name="矩形 8">
            <a:extLst>
              <a:ext uri="{FF2B5EF4-FFF2-40B4-BE49-F238E27FC236}">
                <ns2:creationId id="{6754175A-A2D6-4BDB-84CC-68EC4BEE7729}"/>
              </a:ext>
            </a:extLst>
          </p:cNvPr>
          <p:cNvSpPr>
            <a:spLocks noGrp="1"/>
          </p:cNvSpPr>
          <p:nvPr/>
        </p:nvSpPr>
        <p:spPr>
          <a:xfrm>
            <a:off x="895350" y="5181600"/>
            <a:ext cx="5257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Li et al., Deep Learning for Micro-Expression Recognition: A Survey, TAFFC 2022, DOI 10.1109/TAFFC.2022.3205170</a:t>
            </a:r>
          </a:p>
        </p:txBody>
      </p:sp>
      <p:sp>
        <p:nvSpPr>
          <p:cNvPr id="10" name="矩形 9">
            <a:extLst>
              <a:ext uri="{FF2B5EF4-FFF2-40B4-BE49-F238E27FC236}">
                <ns2:creationId id="{9529D7C5-A008-4B10-9E0E-D6C55BAB4E9D}"/>
              </a:ext>
            </a:extLst>
          </p:cNvPr>
          <p:cNvSpPr>
            <a:spLocks noGrp="1"/>
          </p:cNvSpPr>
          <p:nvPr/>
        </p:nvSpPr>
        <p:spPr>
          <a:xfrm>
            <a:off x="6858000" y="24574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研究对象</a:t>
            </a:r>
          </a:p>
        </p:txBody>
      </p:sp>
      <p:sp>
        <p:nvSpPr>
          <p:cNvPr id="11" name="矩形 10">
            <a:extLst>
              <a:ext uri="{FF2B5EF4-FFF2-40B4-BE49-F238E27FC236}">
                <ns2:creationId id="{213C5E87-57A2-485B-8AD6-90BC5069C157}"/>
              </a:ext>
            </a:extLst>
          </p:cNvPr>
          <p:cNvSpPr>
            <a:spLocks noGrp="1"/>
          </p:cNvSpPr>
          <p:nvPr/>
        </p:nvSpPr>
        <p:spPr>
          <a:xfrm>
            <a:off x="8001000" y="24384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短时、低幅度的面部运动与 FACS/AU</a:t>
            </a:r>
          </a:p>
        </p:txBody>
      </p:sp>
      <p:sp>
        <p:nvSpPr>
          <p:cNvPr id="12" name="矩形 11">
            <a:extLst>
              <a:ext uri="{FF2B5EF4-FFF2-40B4-BE49-F238E27FC236}">
                <ns2:creationId id="{03A9F2BF-D563-43B9-8CF9-FBDEB061F20C}"/>
              </a:ext>
            </a:extLst>
          </p:cNvPr>
          <p:cNvSpPr>
            <a:spLocks noGrp="1"/>
          </p:cNvSpPr>
          <p:nvPr/>
        </p:nvSpPr>
        <p:spPr>
          <a:xfrm>
            <a:off x="6858000" y="31432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关键问题</a:t>
            </a:r>
          </a:p>
        </p:txBody>
      </p:sp>
      <p:sp>
        <p:nvSpPr>
          <p:cNvPr id="13" name="矩形 12">
            <a:extLst>
              <a:ext uri="{FF2B5EF4-FFF2-40B4-BE49-F238E27FC236}">
                <ns2:creationId id="{0271829F-F10D-461B-BD7D-305C3C570E7B}"/>
              </a:ext>
            </a:extLst>
          </p:cNvPr>
          <p:cNvSpPr>
            <a:spLocks noGrp="1"/>
          </p:cNvSpPr>
          <p:nvPr/>
        </p:nvSpPr>
        <p:spPr>
          <a:xfrm>
            <a:off x="8001000" y="31242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样本少、类别不平衡、个体差异和头部运动干扰</a:t>
            </a:r>
          </a:p>
        </p:txBody>
      </p:sp>
      <p:sp>
        <p:nvSpPr>
          <p:cNvPr id="14" name="矩形 13">
            <a:extLst>
              <a:ext uri="{FF2B5EF4-FFF2-40B4-BE49-F238E27FC236}">
                <ns2:creationId id="{9E13DDEF-4548-418A-A250-F1FF8A20D1AD}"/>
              </a:ext>
            </a:extLst>
          </p:cNvPr>
          <p:cNvSpPr>
            <a:spLocks noGrp="1"/>
          </p:cNvSpPr>
          <p:nvPr/>
        </p:nvSpPr>
        <p:spPr>
          <a:xfrm>
            <a:off x="6858000" y="38290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推荐指标</a:t>
            </a:r>
          </a:p>
        </p:txBody>
      </p:sp>
      <p:sp>
        <p:nvSpPr>
          <p:cNvPr id="15" name="矩形 14">
            <a:extLst>
              <a:ext uri="{FF2B5EF4-FFF2-40B4-BE49-F238E27FC236}">
                <ns2:creationId id="{02A80853-AC62-4B83-8EDA-B3435A3397FC}"/>
              </a:ext>
            </a:extLst>
          </p:cNvPr>
          <p:cNvSpPr>
            <a:spLocks noGrp="1"/>
          </p:cNvSpPr>
          <p:nvPr/>
        </p:nvSpPr>
        <p:spPr>
          <a:xfrm>
            <a:off x="8001000" y="38100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F1、UF1、UAR、每类 Recall，并使用 LOSO</a:t>
            </a:r>
          </a:p>
        </p:txBody>
      </p:sp>
      <p:sp>
        <p:nvSpPr>
          <p:cNvPr id="16" name="矩形 15">
            <a:extLst>
              <a:ext uri="{FF2B5EF4-FFF2-40B4-BE49-F238E27FC236}">
                <ns2:creationId id="{6D250554-52D0-4740-B070-BBC2D8576FA9}"/>
              </a:ext>
            </a:extLst>
          </p:cNvPr>
          <p:cNvSpPr>
            <a:spLocks noGrp="1"/>
          </p:cNvSpPr>
          <p:nvPr/>
        </p:nvSpPr>
        <p:spPr>
          <a:xfrm>
            <a:off x="6858000" y="45148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论文结论</a:t>
            </a:r>
          </a:p>
        </p:txBody>
      </p:sp>
      <p:sp>
        <p:nvSpPr>
          <p:cNvPr id="17" name="矩形 16">
            <a:extLst>
              <a:ext uri="{FF2B5EF4-FFF2-40B4-BE49-F238E27FC236}">
                <ns2:creationId id="{930034D0-506E-491C-8092-09783AC2305F}"/>
              </a:ext>
            </a:extLst>
          </p:cNvPr>
          <p:cNvSpPr>
            <a:spLocks noGrp="1"/>
          </p:cNvSpPr>
          <p:nvPr/>
        </p:nvSpPr>
        <p:spPr>
          <a:xfrm>
            <a:off x="8001000" y="44958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不同数据集和划分方式下的 Accuracy 不能直接横向比较</a:t>
            </a:r>
          </a:p>
        </p:txBody>
      </p:sp>
      <p:sp>
        <p:nvSpPr>
          <p:cNvPr id="18" name="矩形: 圆角 17">
            <a:extLst>
              <a:ext uri="{FF2B5EF4-FFF2-40B4-BE49-F238E27FC236}">
                <ns2:creationId id="{49A5BD83-250C-47FD-ABF1-C033089C602D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820400" cy="533400"/>
          </a:xfrm>
          <a:prstGeom prst="roundRect">
            <a:avLst>
              <a:gd name="adj" fmla="val 21429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95350" y="5924550"/>
            <a:ext cx="16192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98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这一页只记住一句话</a:t>
            </a:r>
          </a:p>
        </p:txBody>
      </p:sp>
      <p:sp>
        <p:nvSpPr>
          <p:cNvPr id="20" name="矩形 19"/>
          <p:cNvSpPr/>
          <p:nvPr/>
        </p:nvSpPr>
        <p:spPr>
          <a:xfrm>
            <a:off x="2667000" y="59055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微表情结论很依赖数据集和划分方式，不能只看准确率。</a:t>
            </a:r>
          </a:p>
        </p:txBody>
      </p:sp>
      <p:sp>
        <p:nvSpPr>
          <p:cNvPr id="21" name="直接连接符 20">
            <a:extLst>
              <a:ext uri="{FF2B5EF4-FFF2-40B4-BE49-F238E27FC236}">
                <ns2:creationId id="{29A5765C-0CDE-4869-B963-0859E217A3F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ns2:creationId id="{DA1D15FA-7F86-4BCA-B28A-62CCE6F05A2A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论文证据 01</a:t>
            </a:r>
          </a:p>
        </p:txBody>
      </p:sp>
      <p:sp>
        <p:nvSpPr>
          <p:cNvPr id="23" name="矩形 22">
            <a:extLst>
              <a:ext uri="{FF2B5EF4-FFF2-40B4-BE49-F238E27FC236}">
                <ns2:creationId id="{FE751EC1-95B4-4ECE-9403-2FC0DDF1A369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val="1691462135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81038" y="381000"/>
            <a:ext cx="158457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B6D66"/>
                </a:solidFill>
                <a:latin typeface="Microsoft YaHei"/>
                <a:ea typeface="Microsoft YaHei"/>
                <a:cs typeface="Microsoft YaHei"/>
              </a:rPr>
              <a:t>实际整理数据的规模与分辨率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11142071" y="34290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6B756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72846" y="692150"/>
            <a:ext cx="5302445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数据集概览：原有数据 + 新增 SCB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352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7DED8"/>
            </a:solidFill>
          </a:ln>
        </p:spPr>
      </p:sp>
      <p:sp>
        <p:nvSpPr>
          <p:cNvPr id="7" name="h0"/>
          <p:cNvSpPr/>
          <p:nvPr/>
        </p:nvSpPr>
        <p:spPr>
          <a:xfrm>
            <a:off x="685800" y="1676400"/>
            <a:ext cx="1695450" cy="3429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</a:ln>
        </p:spPr>
      </p:sp>
      <p:sp>
        <p:nvSpPr>
          <p:cNvPr id="8" name="ht0"/>
          <p:cNvSpPr txBox="1"/>
          <p:nvPr/>
        </p:nvSpPr>
        <p:spPr>
          <a:xfrm>
            <a:off x="795338" y="1781175"/>
            <a:ext cx="3729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数据集</a:t>
            </a:r>
          </a:p>
        </p:txBody>
      </p:sp>
      <p:sp>
        <p:nvSpPr>
          <p:cNvPr id="9" name="h1"/>
          <p:cNvSpPr/>
          <p:nvPr/>
        </p:nvSpPr>
        <p:spPr>
          <a:xfrm>
            <a:off x="2381250" y="1676400"/>
            <a:ext cx="1714500" cy="3429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</a:ln>
        </p:spPr>
      </p:sp>
      <p:sp>
        <p:nvSpPr>
          <p:cNvPr id="10" name="ht1"/>
          <p:cNvSpPr txBox="1"/>
          <p:nvPr/>
        </p:nvSpPr>
        <p:spPr>
          <a:xfrm>
            <a:off x="3112579" y="1781175"/>
            <a:ext cx="25184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媒体</a:t>
            </a:r>
          </a:p>
        </p:txBody>
      </p:sp>
      <p:sp>
        <p:nvSpPr>
          <p:cNvPr id="11" name="h2"/>
          <p:cNvSpPr/>
          <p:nvPr/>
        </p:nvSpPr>
        <p:spPr>
          <a:xfrm>
            <a:off x="4095750" y="1676400"/>
            <a:ext cx="2095500" cy="3429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</a:ln>
        </p:spPr>
      </p:sp>
      <p:sp>
        <p:nvSpPr>
          <p:cNvPr id="12" name="ht2"/>
          <p:cNvSpPr txBox="1"/>
          <p:nvPr/>
        </p:nvSpPr>
        <p:spPr>
          <a:xfrm>
            <a:off x="4896421" y="1781175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主要任务</a:t>
            </a:r>
          </a:p>
        </p:txBody>
      </p:sp>
      <p:sp>
        <p:nvSpPr>
          <p:cNvPr id="13" name="h3"/>
          <p:cNvSpPr/>
          <p:nvPr/>
        </p:nvSpPr>
        <p:spPr>
          <a:xfrm>
            <a:off x="6191250" y="1676400"/>
            <a:ext cx="1333500" cy="3429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</a:ln>
        </p:spPr>
      </p:sp>
      <p:sp>
        <p:nvSpPr>
          <p:cNvPr id="14" name="ht3"/>
          <p:cNvSpPr txBox="1"/>
          <p:nvPr/>
        </p:nvSpPr>
        <p:spPr>
          <a:xfrm>
            <a:off x="6671500" y="1781175"/>
            <a:ext cx="3729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样本数</a:t>
            </a:r>
          </a:p>
        </p:txBody>
      </p:sp>
      <p:sp>
        <p:nvSpPr>
          <p:cNvPr id="15" name="h4"/>
          <p:cNvSpPr/>
          <p:nvPr/>
        </p:nvSpPr>
        <p:spPr>
          <a:xfrm>
            <a:off x="7524750" y="1676400"/>
            <a:ext cx="1333500" cy="3429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</a:ln>
        </p:spPr>
      </p:sp>
      <p:sp>
        <p:nvSpPr>
          <p:cNvPr id="16" name="ht4"/>
          <p:cNvSpPr txBox="1"/>
          <p:nvPr/>
        </p:nvSpPr>
        <p:spPr>
          <a:xfrm>
            <a:off x="7848858" y="1781175"/>
            <a:ext cx="6852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分辨率/输入</a:t>
            </a:r>
          </a:p>
        </p:txBody>
      </p:sp>
      <p:sp>
        <p:nvSpPr>
          <p:cNvPr id="17" name="h5"/>
          <p:cNvSpPr/>
          <p:nvPr/>
        </p:nvSpPr>
        <p:spPr>
          <a:xfrm>
            <a:off x="8858250" y="1676400"/>
            <a:ext cx="2647950" cy="3429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</a:ln>
        </p:spPr>
      </p:sp>
      <p:sp>
        <p:nvSpPr>
          <p:cNvPr id="18" name="ht5"/>
          <p:cNvSpPr txBox="1"/>
          <p:nvPr/>
        </p:nvSpPr>
        <p:spPr>
          <a:xfrm>
            <a:off x="9900162" y="1781175"/>
            <a:ext cx="56412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标签/说明</a:t>
            </a:r>
          </a:p>
        </p:txBody>
      </p:sp>
      <p:sp>
        <p:nvSpPr>
          <p:cNvPr id="19" name="row0"/>
          <p:cNvSpPr/>
          <p:nvPr/>
        </p:nvSpPr>
        <p:spPr>
          <a:xfrm>
            <a:off x="685800" y="2019300"/>
            <a:ext cx="10820400" cy="4572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</a:ln>
        </p:spPr>
      </p:sp>
      <p:sp>
        <p:nvSpPr>
          <p:cNvPr id="20" name="c0_0"/>
          <p:cNvSpPr txBox="1"/>
          <p:nvPr/>
        </p:nvSpPr>
        <p:spPr>
          <a:xfrm>
            <a:off x="776288" y="2193925"/>
            <a:ext cx="465570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1 DAiSEE</a:t>
            </a:r>
          </a:p>
        </p:txBody>
      </p:sp>
      <p:sp>
        <p:nvSpPr>
          <p:cNvPr id="21" name="c0_1"/>
          <p:cNvSpPr txBox="1"/>
          <p:nvPr/>
        </p:nvSpPr>
        <p:spPr>
          <a:xfrm>
            <a:off x="2965204" y="2193925"/>
            <a:ext cx="54659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视频 9,068</a:t>
            </a:r>
          </a:p>
        </p:txBody>
      </p:sp>
      <p:sp>
        <p:nvSpPr>
          <p:cNvPr id="22" name="c0_2"/>
          <p:cNvSpPr txBox="1"/>
          <p:nvPr/>
        </p:nvSpPr>
        <p:spPr>
          <a:xfrm>
            <a:off x="4737267" y="2193925"/>
            <a:ext cx="81246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学习投入度/状态</a:t>
            </a:r>
          </a:p>
        </p:txBody>
      </p:sp>
      <p:sp>
        <p:nvSpPr>
          <p:cNvPr id="23" name="c0_3"/>
          <p:cNvSpPr txBox="1"/>
          <p:nvPr/>
        </p:nvSpPr>
        <p:spPr>
          <a:xfrm>
            <a:off x="6707007" y="2193925"/>
            <a:ext cx="301987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9,068</a:t>
            </a:r>
          </a:p>
        </p:txBody>
      </p:sp>
      <p:sp>
        <p:nvSpPr>
          <p:cNvPr id="24" name="c0_4"/>
          <p:cNvSpPr txBox="1"/>
          <p:nvPr/>
        </p:nvSpPr>
        <p:spPr>
          <a:xfrm>
            <a:off x="7982014" y="2193925"/>
            <a:ext cx="41897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640×480</a:t>
            </a:r>
          </a:p>
        </p:txBody>
      </p:sp>
      <p:sp>
        <p:nvSpPr>
          <p:cNvPr id="25" name="c0_5"/>
          <p:cNvSpPr txBox="1"/>
          <p:nvPr/>
        </p:nvSpPr>
        <p:spPr>
          <a:xfrm>
            <a:off x="8909506" y="2193925"/>
            <a:ext cx="254543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Boredom / Engagement / Confusion / Frustration</a:t>
            </a:r>
          </a:p>
        </p:txBody>
      </p:sp>
      <p:sp>
        <p:nvSpPr>
          <p:cNvPr id="26" name="row1"/>
          <p:cNvSpPr/>
          <p:nvPr/>
        </p:nvSpPr>
        <p:spPr>
          <a:xfrm>
            <a:off x="685800" y="2476500"/>
            <a:ext cx="10820400" cy="457200"/>
          </a:xfrm>
          <a:prstGeom prst="rect">
            <a:avLst/>
          </a:prstGeom>
          <a:solidFill>
            <a:srgbClr val="EEF4EF"/>
          </a:solidFill>
          <a:ln w="9525">
            <a:solidFill>
              <a:srgbClr val="D7DED8"/>
            </a:solidFill>
          </a:ln>
        </p:spPr>
      </p:sp>
      <p:sp>
        <p:nvSpPr>
          <p:cNvPr id="27" name="c1_0"/>
          <p:cNvSpPr txBox="1"/>
          <p:nvPr/>
        </p:nvSpPr>
        <p:spPr>
          <a:xfrm>
            <a:off x="776288" y="2651125"/>
            <a:ext cx="482320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2 Tianchi</a:t>
            </a:r>
          </a:p>
        </p:txBody>
      </p:sp>
      <p:sp>
        <p:nvSpPr>
          <p:cNvPr id="28" name="c1_1"/>
          <p:cNvSpPr txBox="1"/>
          <p:nvPr/>
        </p:nvSpPr>
        <p:spPr>
          <a:xfrm>
            <a:off x="2965204" y="2651125"/>
            <a:ext cx="54659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图片 4,065</a:t>
            </a:r>
          </a:p>
        </p:txBody>
      </p:sp>
      <p:sp>
        <p:nvSpPr>
          <p:cNvPr id="29" name="c1_2"/>
          <p:cNvSpPr txBox="1"/>
          <p:nvPr/>
        </p:nvSpPr>
        <p:spPr>
          <a:xfrm>
            <a:off x="4819688" y="2651125"/>
            <a:ext cx="64762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学生行为检测</a:t>
            </a:r>
          </a:p>
        </p:txBody>
      </p:sp>
      <p:sp>
        <p:nvSpPr>
          <p:cNvPr id="30" name="c1_3"/>
          <p:cNvSpPr txBox="1"/>
          <p:nvPr/>
        </p:nvSpPr>
        <p:spPr>
          <a:xfrm>
            <a:off x="6707007" y="2651125"/>
            <a:ext cx="301987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4,065</a:t>
            </a:r>
          </a:p>
        </p:txBody>
      </p:sp>
      <p:sp>
        <p:nvSpPr>
          <p:cNvPr id="31" name="c1_4"/>
          <p:cNvSpPr txBox="1"/>
          <p:nvPr/>
        </p:nvSpPr>
        <p:spPr>
          <a:xfrm>
            <a:off x="7982014" y="2651125"/>
            <a:ext cx="41897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640×640</a:t>
            </a:r>
          </a:p>
        </p:txBody>
      </p:sp>
      <p:sp>
        <p:nvSpPr>
          <p:cNvPr id="32" name="c1_5"/>
          <p:cNvSpPr txBox="1"/>
          <p:nvPr/>
        </p:nvSpPr>
        <p:spPr>
          <a:xfrm>
            <a:off x="9623510" y="2651125"/>
            <a:ext cx="111742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7类行为，YOLOv8标注</a:t>
            </a:r>
          </a:p>
        </p:txBody>
      </p:sp>
      <p:sp>
        <p:nvSpPr>
          <p:cNvPr id="33" name="row2"/>
          <p:cNvSpPr/>
          <p:nvPr/>
        </p:nvSpPr>
        <p:spPr>
          <a:xfrm>
            <a:off x="685800" y="2933700"/>
            <a:ext cx="10820400" cy="4572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</a:ln>
        </p:spPr>
      </p:sp>
      <p:sp>
        <p:nvSpPr>
          <p:cNvPr id="34" name="c2_0"/>
          <p:cNvSpPr txBox="1"/>
          <p:nvPr/>
        </p:nvSpPr>
        <p:spPr>
          <a:xfrm>
            <a:off x="776288" y="3108325"/>
            <a:ext cx="79747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3 SCB-Dataset</a:t>
            </a:r>
          </a:p>
        </p:txBody>
      </p:sp>
      <p:sp>
        <p:nvSpPr>
          <p:cNvPr id="35" name="c2_1"/>
          <p:cNvSpPr txBox="1"/>
          <p:nvPr/>
        </p:nvSpPr>
        <p:spPr>
          <a:xfrm>
            <a:off x="2577027" y="3108325"/>
            <a:ext cx="132294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图片 26,652 + 视频 12,836</a:t>
            </a:r>
          </a:p>
        </p:txBody>
      </p:sp>
      <p:sp>
        <p:nvSpPr>
          <p:cNvPr id="36" name="c2_2"/>
          <p:cNvSpPr txBox="1"/>
          <p:nvPr/>
        </p:nvSpPr>
        <p:spPr>
          <a:xfrm>
            <a:off x="4819688" y="3108325"/>
            <a:ext cx="64762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课堂行为识别</a:t>
            </a:r>
          </a:p>
        </p:txBody>
      </p:sp>
      <p:sp>
        <p:nvSpPr>
          <p:cNvPr id="37" name="c2_3"/>
          <p:cNvSpPr txBox="1"/>
          <p:nvPr/>
        </p:nvSpPr>
        <p:spPr>
          <a:xfrm>
            <a:off x="6677760" y="3108325"/>
            <a:ext cx="36047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39,488</a:t>
            </a:r>
          </a:p>
        </p:txBody>
      </p:sp>
      <p:sp>
        <p:nvSpPr>
          <p:cNvPr id="38" name="c2_4"/>
          <p:cNvSpPr txBox="1"/>
          <p:nvPr/>
        </p:nvSpPr>
        <p:spPr>
          <a:xfrm>
            <a:off x="7982014" y="3108325"/>
            <a:ext cx="41897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800×450</a:t>
            </a:r>
          </a:p>
        </p:txBody>
      </p:sp>
      <p:sp>
        <p:nvSpPr>
          <p:cNvPr id="39" name="c2_5"/>
          <p:cNvSpPr txBox="1"/>
          <p:nvPr/>
        </p:nvSpPr>
        <p:spPr>
          <a:xfrm>
            <a:off x="9669642" y="3108325"/>
            <a:ext cx="102516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8类行为，多视角视频</a:t>
            </a:r>
          </a:p>
        </p:txBody>
      </p:sp>
      <p:sp>
        <p:nvSpPr>
          <p:cNvPr id="40" name="row3"/>
          <p:cNvSpPr/>
          <p:nvPr/>
        </p:nvSpPr>
        <p:spPr>
          <a:xfrm>
            <a:off x="685800" y="3390900"/>
            <a:ext cx="10820400" cy="457200"/>
          </a:xfrm>
          <a:prstGeom prst="rect">
            <a:avLst/>
          </a:prstGeom>
          <a:solidFill>
            <a:srgbClr val="EEF4EF"/>
          </a:solidFill>
          <a:ln w="9525">
            <a:solidFill>
              <a:srgbClr val="D7DED8"/>
            </a:solidFill>
          </a:ln>
        </p:spPr>
      </p:sp>
      <p:sp>
        <p:nvSpPr>
          <p:cNvPr id="41" name="c3_0"/>
          <p:cNvSpPr txBox="1"/>
          <p:nvPr/>
        </p:nvSpPr>
        <p:spPr>
          <a:xfrm>
            <a:off x="776288" y="3565525"/>
            <a:ext cx="51046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4 Discuss</a:t>
            </a:r>
          </a:p>
        </p:txBody>
      </p:sp>
      <p:sp>
        <p:nvSpPr>
          <p:cNvPr id="42" name="c3_1"/>
          <p:cNvSpPr txBox="1"/>
          <p:nvPr/>
        </p:nvSpPr>
        <p:spPr>
          <a:xfrm>
            <a:off x="3023697" y="3565525"/>
            <a:ext cx="429607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图片 864</a:t>
            </a:r>
          </a:p>
        </p:txBody>
      </p:sp>
      <p:sp>
        <p:nvSpPr>
          <p:cNvPr id="43" name="c3_2"/>
          <p:cNvSpPr txBox="1"/>
          <p:nvPr/>
        </p:nvSpPr>
        <p:spPr>
          <a:xfrm>
            <a:off x="4926038" y="3565525"/>
            <a:ext cx="43492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讨论检测</a:t>
            </a:r>
          </a:p>
        </p:txBody>
      </p:sp>
      <p:sp>
        <p:nvSpPr>
          <p:cNvPr id="44" name="c3_3"/>
          <p:cNvSpPr txBox="1"/>
          <p:nvPr/>
        </p:nvSpPr>
        <p:spPr>
          <a:xfrm>
            <a:off x="6765499" y="3565525"/>
            <a:ext cx="18500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864</a:t>
            </a:r>
          </a:p>
        </p:txBody>
      </p:sp>
      <p:sp>
        <p:nvSpPr>
          <p:cNvPr id="45" name="c3_4"/>
          <p:cNvSpPr txBox="1"/>
          <p:nvPr/>
        </p:nvSpPr>
        <p:spPr>
          <a:xfrm>
            <a:off x="7886299" y="3565525"/>
            <a:ext cx="61040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训练输入640</a:t>
            </a:r>
          </a:p>
        </p:txBody>
      </p:sp>
      <p:sp>
        <p:nvSpPr>
          <p:cNvPr id="46" name="c3_5"/>
          <p:cNvSpPr txBox="1"/>
          <p:nvPr/>
        </p:nvSpPr>
        <p:spPr>
          <a:xfrm>
            <a:off x="9677217" y="3565525"/>
            <a:ext cx="101001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discuss；YOLO TXT</a:t>
            </a:r>
          </a:p>
        </p:txBody>
      </p:sp>
      <p:sp>
        <p:nvSpPr>
          <p:cNvPr id="47" name="row4"/>
          <p:cNvSpPr/>
          <p:nvPr/>
        </p:nvSpPr>
        <p:spPr>
          <a:xfrm>
            <a:off x="685800" y="3848100"/>
            <a:ext cx="10820400" cy="4572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</a:ln>
        </p:spPr>
      </p:sp>
      <p:sp>
        <p:nvSpPr>
          <p:cNvPr id="48" name="c4_0"/>
          <p:cNvSpPr txBox="1"/>
          <p:nvPr/>
        </p:nvSpPr>
        <p:spPr>
          <a:xfrm>
            <a:off x="776288" y="4022725"/>
            <a:ext cx="1033315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5 Hand/Read/Write</a:t>
            </a:r>
          </a:p>
        </p:txBody>
      </p:sp>
      <p:sp>
        <p:nvSpPr>
          <p:cNvPr id="49" name="c4_1"/>
          <p:cNvSpPr txBox="1"/>
          <p:nvPr/>
        </p:nvSpPr>
        <p:spPr>
          <a:xfrm>
            <a:off x="2965204" y="4022725"/>
            <a:ext cx="54659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图片 6,864</a:t>
            </a:r>
          </a:p>
        </p:txBody>
      </p:sp>
      <p:sp>
        <p:nvSpPr>
          <p:cNvPr id="50" name="c4_2"/>
          <p:cNvSpPr txBox="1"/>
          <p:nvPr/>
        </p:nvSpPr>
        <p:spPr>
          <a:xfrm>
            <a:off x="4761196" y="4022725"/>
            <a:ext cx="76460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举手/阅读/写字</a:t>
            </a:r>
          </a:p>
        </p:txBody>
      </p:sp>
      <p:sp>
        <p:nvSpPr>
          <p:cNvPr id="51" name="c4_3"/>
          <p:cNvSpPr txBox="1"/>
          <p:nvPr/>
        </p:nvSpPr>
        <p:spPr>
          <a:xfrm>
            <a:off x="6707007" y="4022725"/>
            <a:ext cx="301987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6,864</a:t>
            </a:r>
          </a:p>
        </p:txBody>
      </p:sp>
      <p:sp>
        <p:nvSpPr>
          <p:cNvPr id="52" name="c4_4"/>
          <p:cNvSpPr txBox="1"/>
          <p:nvPr/>
        </p:nvSpPr>
        <p:spPr>
          <a:xfrm>
            <a:off x="7886299" y="4022725"/>
            <a:ext cx="61040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训练输入640</a:t>
            </a:r>
          </a:p>
        </p:txBody>
      </p:sp>
      <p:sp>
        <p:nvSpPr>
          <p:cNvPr id="53" name="c4_5"/>
          <p:cNvSpPr txBox="1"/>
          <p:nvPr/>
        </p:nvSpPr>
        <p:spPr>
          <a:xfrm>
            <a:off x="9470236" y="4022725"/>
            <a:ext cx="1423977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hand-raising / read / write</a:t>
            </a:r>
          </a:p>
        </p:txBody>
      </p:sp>
      <p:sp>
        <p:nvSpPr>
          <p:cNvPr id="54" name="row5"/>
          <p:cNvSpPr/>
          <p:nvPr/>
        </p:nvSpPr>
        <p:spPr>
          <a:xfrm>
            <a:off x="685800" y="4305300"/>
            <a:ext cx="10820400" cy="457200"/>
          </a:xfrm>
          <a:prstGeom prst="rect">
            <a:avLst/>
          </a:prstGeom>
          <a:solidFill>
            <a:srgbClr val="EEF4EF"/>
          </a:solidFill>
          <a:ln w="9525">
            <a:solidFill>
              <a:srgbClr val="D7DED8"/>
            </a:solidFill>
          </a:ln>
        </p:spPr>
      </p:sp>
      <p:sp>
        <p:nvSpPr>
          <p:cNvPr id="55" name="c5_0"/>
          <p:cNvSpPr txBox="1"/>
          <p:nvPr/>
        </p:nvSpPr>
        <p:spPr>
          <a:xfrm>
            <a:off x="776288" y="4479925"/>
            <a:ext cx="876967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6 Bow/TurnHead</a:t>
            </a:r>
          </a:p>
        </p:txBody>
      </p:sp>
      <p:sp>
        <p:nvSpPr>
          <p:cNvPr id="56" name="c5_1"/>
          <p:cNvSpPr txBox="1"/>
          <p:nvPr/>
        </p:nvSpPr>
        <p:spPr>
          <a:xfrm>
            <a:off x="2965204" y="4479925"/>
            <a:ext cx="54659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图片 2,410</a:t>
            </a:r>
          </a:p>
        </p:txBody>
      </p:sp>
      <p:sp>
        <p:nvSpPr>
          <p:cNvPr id="57" name="c5_2"/>
          <p:cNvSpPr txBox="1"/>
          <p:nvPr/>
        </p:nvSpPr>
        <p:spPr>
          <a:xfrm>
            <a:off x="4790442" y="4479925"/>
            <a:ext cx="70611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低头/转头检测</a:t>
            </a:r>
          </a:p>
        </p:txBody>
      </p:sp>
      <p:sp>
        <p:nvSpPr>
          <p:cNvPr id="58" name="c5_3"/>
          <p:cNvSpPr txBox="1"/>
          <p:nvPr/>
        </p:nvSpPr>
        <p:spPr>
          <a:xfrm>
            <a:off x="6707007" y="4479925"/>
            <a:ext cx="301987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2,410</a:t>
            </a:r>
          </a:p>
        </p:txBody>
      </p:sp>
      <p:sp>
        <p:nvSpPr>
          <p:cNvPr id="59" name="c5_4"/>
          <p:cNvSpPr txBox="1"/>
          <p:nvPr/>
        </p:nvSpPr>
        <p:spPr>
          <a:xfrm>
            <a:off x="7886299" y="4479925"/>
            <a:ext cx="61040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训练输入640</a:t>
            </a:r>
          </a:p>
        </p:txBody>
      </p:sp>
      <p:sp>
        <p:nvSpPr>
          <p:cNvPr id="60" name="c5_5"/>
          <p:cNvSpPr txBox="1"/>
          <p:nvPr/>
        </p:nvSpPr>
        <p:spPr>
          <a:xfrm>
            <a:off x="9659278" y="4479925"/>
            <a:ext cx="104589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BowHead / TurnHead</a:t>
            </a:r>
          </a:p>
        </p:txBody>
      </p:sp>
      <p:sp>
        <p:nvSpPr>
          <p:cNvPr id="61" name="row6"/>
          <p:cNvSpPr/>
          <p:nvPr/>
        </p:nvSpPr>
        <p:spPr>
          <a:xfrm>
            <a:off x="685800" y="4762500"/>
            <a:ext cx="10820400" cy="4572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</a:ln>
        </p:spPr>
      </p:sp>
      <p:sp>
        <p:nvSpPr>
          <p:cNvPr id="62" name="c6_0"/>
          <p:cNvSpPr txBox="1"/>
          <p:nvPr/>
        </p:nvSpPr>
        <p:spPr>
          <a:xfrm>
            <a:off x="776288" y="4937125"/>
            <a:ext cx="1038992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7 Teacher Behavior</a:t>
            </a:r>
          </a:p>
        </p:txBody>
      </p:sp>
      <p:sp>
        <p:nvSpPr>
          <p:cNvPr id="63" name="c6_1"/>
          <p:cNvSpPr txBox="1"/>
          <p:nvPr/>
        </p:nvSpPr>
        <p:spPr>
          <a:xfrm>
            <a:off x="2935958" y="4937125"/>
            <a:ext cx="605084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图片 12,224</a:t>
            </a:r>
          </a:p>
        </p:txBody>
      </p:sp>
      <p:sp>
        <p:nvSpPr>
          <p:cNvPr id="64" name="c6_2"/>
          <p:cNvSpPr txBox="1"/>
          <p:nvPr/>
        </p:nvSpPr>
        <p:spPr>
          <a:xfrm>
            <a:off x="4684092" y="4937125"/>
            <a:ext cx="918816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教师/课堂元素检测</a:t>
            </a:r>
          </a:p>
        </p:txBody>
      </p:sp>
      <p:sp>
        <p:nvSpPr>
          <p:cNvPr id="65" name="c6_3"/>
          <p:cNvSpPr txBox="1"/>
          <p:nvPr/>
        </p:nvSpPr>
        <p:spPr>
          <a:xfrm>
            <a:off x="6677760" y="4937125"/>
            <a:ext cx="36047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12,224</a:t>
            </a:r>
          </a:p>
        </p:txBody>
      </p:sp>
      <p:sp>
        <p:nvSpPr>
          <p:cNvPr id="66" name="c6_4"/>
          <p:cNvSpPr txBox="1"/>
          <p:nvPr/>
        </p:nvSpPr>
        <p:spPr>
          <a:xfrm>
            <a:off x="7886299" y="4937125"/>
            <a:ext cx="61040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训练输入640</a:t>
            </a:r>
          </a:p>
        </p:txBody>
      </p:sp>
      <p:sp>
        <p:nvSpPr>
          <p:cNvPr id="67" name="c6_5"/>
          <p:cNvSpPr txBox="1"/>
          <p:nvPr/>
        </p:nvSpPr>
        <p:spPr>
          <a:xfrm>
            <a:off x="9592539" y="4937125"/>
            <a:ext cx="117937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教师、黑板、屏幕、互动</a:t>
            </a:r>
          </a:p>
        </p:txBody>
      </p:sp>
      <p:sp>
        <p:nvSpPr>
          <p:cNvPr id="68" name="row7"/>
          <p:cNvSpPr/>
          <p:nvPr/>
        </p:nvSpPr>
        <p:spPr>
          <a:xfrm>
            <a:off x="685800" y="5219700"/>
            <a:ext cx="10820400" cy="457200"/>
          </a:xfrm>
          <a:prstGeom prst="rect">
            <a:avLst/>
          </a:prstGeom>
          <a:solidFill>
            <a:srgbClr val="EEF4EF"/>
          </a:solidFill>
          <a:ln w="9525">
            <a:solidFill>
              <a:srgbClr val="D7DED8"/>
            </a:solidFill>
          </a:ln>
        </p:spPr>
      </p:sp>
      <p:sp>
        <p:nvSpPr>
          <p:cNvPr id="69" name="c7_0"/>
          <p:cNvSpPr txBox="1"/>
          <p:nvPr/>
        </p:nvSpPr>
        <p:spPr>
          <a:xfrm>
            <a:off x="776288" y="5394325"/>
            <a:ext cx="587667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9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8 SCB_LLM</a:t>
            </a:r>
          </a:p>
        </p:txBody>
      </p:sp>
      <p:sp>
        <p:nvSpPr>
          <p:cNvPr id="70" name="c7_1"/>
          <p:cNvSpPr txBox="1"/>
          <p:nvPr/>
        </p:nvSpPr>
        <p:spPr>
          <a:xfrm>
            <a:off x="2716135" y="5394325"/>
            <a:ext cx="1044730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图片+JSON 约21,019</a:t>
            </a:r>
          </a:p>
        </p:txBody>
      </p:sp>
      <p:sp>
        <p:nvSpPr>
          <p:cNvPr id="71" name="c7_2"/>
          <p:cNvSpPr txBox="1"/>
          <p:nvPr/>
        </p:nvSpPr>
        <p:spPr>
          <a:xfrm>
            <a:off x="4660163" y="5394325"/>
            <a:ext cx="96667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中文多模态行为分类</a:t>
            </a:r>
          </a:p>
        </p:txBody>
      </p:sp>
      <p:sp>
        <p:nvSpPr>
          <p:cNvPr id="72" name="c7_3"/>
          <p:cNvSpPr txBox="1"/>
          <p:nvPr/>
        </p:nvSpPr>
        <p:spPr>
          <a:xfrm>
            <a:off x="6624585" y="5394325"/>
            <a:ext cx="466829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约21,019</a:t>
            </a:r>
          </a:p>
        </p:txBody>
      </p:sp>
      <p:sp>
        <p:nvSpPr>
          <p:cNvPr id="73" name="c7_4"/>
          <p:cNvSpPr txBox="1"/>
          <p:nvPr/>
        </p:nvSpPr>
        <p:spPr>
          <a:xfrm>
            <a:off x="7761338" y="5394325"/>
            <a:ext cx="860323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原始分辨率未记录</a:t>
            </a:r>
          </a:p>
        </p:txBody>
      </p:sp>
      <p:sp>
        <p:nvSpPr>
          <p:cNvPr id="74" name="c7_5"/>
          <p:cNvSpPr txBox="1"/>
          <p:nvPr/>
        </p:nvSpPr>
        <p:spPr>
          <a:xfrm>
            <a:off x="9738770" y="5394325"/>
            <a:ext cx="886911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9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学生9类 + 教师7类</a:t>
            </a:r>
          </a:p>
        </p:txBody>
      </p:sp>
      <p:grpSp>
        <p:nvGrpSpPr>
          <p:cNvPr id="156" name="newdata-kpi"/>
          <p:cNvGrpSpPr/>
          <p:nvPr/>
        </p:nvGrpSpPr>
        <p:grpSpPr>
          <a:xfrm>
            <a:off x="685800" y="5772150"/>
            <a:ext cx="10820400" cy="577342"/>
            <a:chOff x="685800" y="5772150"/>
            <a:chExt cx="10820400" cy="577342"/>
          </a:xfrm>
        </p:grpSpPr>
        <p:sp>
          <p:nvSpPr>
            <p:cNvPr id="151" name="newdata-kpi-bg"/>
            <p:cNvSpPr/>
            <p:nvPr/>
          </p:nvSpPr>
          <p:spPr>
            <a:xfrm>
              <a:off x="685800" y="5772150"/>
              <a:ext cx="10820400" cy="552450"/>
            </a:xfrm>
            <a:prstGeom prst="roundRect">
              <a:avLst>
                <a:gd name="adj" fmla="val 20690"/>
              </a:avLst>
            </a:prstGeom>
            <a:solidFill>
              <a:srgbClr val="19312E"/>
            </a:solidFill>
            <a:ln>
              <a:noFill/>
            </a:ln>
          </p:spPr>
        </p:sp>
        <p:sp>
          <p:nvSpPr>
            <p:cNvPr id="152" name="newdata-kpi-number"/>
            <p:cNvSpPr txBox="1"/>
            <p:nvPr/>
          </p:nvSpPr>
          <p:spPr>
            <a:xfrm>
              <a:off x="902208" y="5880100"/>
              <a:ext cx="11438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FFFDF8"/>
                  </a:solidFill>
                  <a:latin typeface="Microsoft YaHei"/>
                  <a:ea typeface="Microsoft YaHei"/>
                  <a:cs typeface="Microsoft YaHei"/>
                </a:rPr>
                <a:t>56,758</a:t>
              </a:r>
            </a:p>
          </p:txBody>
        </p:sp>
        <p:sp>
          <p:nvSpPr>
            <p:cNvPr id="153" name="newdata-kpi-label"/>
            <p:cNvSpPr txBox="1"/>
            <p:nvPr/>
          </p:nvSpPr>
          <p:spPr>
            <a:xfrm>
              <a:off x="2718054" y="586740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DF8"/>
                  </a:solidFill>
                  <a:latin typeface="Microsoft YaHei"/>
                  <a:ea typeface="Microsoft YaHei"/>
                  <a:cs typeface="Microsoft YaHei"/>
                </a:rPr>
                <a:t>当前索引媒体总数</a:t>
              </a:r>
            </a:p>
          </p:txBody>
        </p:sp>
        <p:sp>
          <p:nvSpPr>
            <p:cNvPr id="154" name="newdata-kpi-detail"/>
            <p:cNvSpPr txBox="1"/>
            <p:nvPr/>
          </p:nvSpPr>
          <p:spPr>
            <a:xfrm>
              <a:off x="2719388" y="6105525"/>
              <a:ext cx="328479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DDEBE5"/>
                  </a:solidFill>
                  <a:latin typeface="Microsoft YaHei"/>
                  <a:ea typeface="Microsoft YaHei"/>
                  <a:cs typeface="Microsoft YaHei"/>
                </a:rPr>
                <a:t>原有数据 52,620 + 新增 SCB 4,138；图片和视频均已计入。</a:t>
              </a:r>
            </a:p>
          </p:txBody>
        </p:sp>
        <p:sp>
          <p:nvSpPr>
            <p:cNvPr id="155" name="newdata-kpi-tag"/>
            <p:cNvSpPr txBox="1"/>
            <p:nvPr/>
          </p:nvSpPr>
          <p:spPr>
            <a:xfrm>
              <a:off x="10687787" y="6000750"/>
              <a:ext cx="53761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rgbClr val="F2C6A8"/>
                  </a:solidFill>
                  <a:latin typeface="Microsoft YaHei"/>
                  <a:ea typeface="Microsoft YaHei"/>
                  <a:cs typeface="Microsoft YaHei"/>
                </a:rPr>
                <a:t>数据规模</a:t>
              </a:r>
            </a:p>
          </p:txBody>
        </p:sp>
      </p:grpSp>
      <p:sp>
        <p:nvSpPr>
          <p:cNvPr id="77" name="Line 77"/>
          <p:cNvSpPr/>
          <p:nvPr/>
        </p:nvSpPr>
        <p:spPr>
          <a:xfrm>
            <a:off x="685800" y="6477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7DED8"/>
            </a:solidFill>
          </a:ln>
        </p:spPr>
      </p:sp>
      <p:sp>
        <p:nvSpPr>
          <p:cNvPr id="78" name="footer-left"/>
          <p:cNvSpPr txBox="1"/>
          <p:nvPr/>
        </p:nvSpPr>
        <p:spPr>
          <a:xfrm>
            <a:off x="681038" y="6616700"/>
            <a:ext cx="36442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B756F"/>
                </a:solidFill>
                <a:latin typeface="Microsoft YaHei"/>
                <a:ea typeface="Microsoft YaHei"/>
                <a:cs typeface="Microsoft YaHei"/>
              </a:rPr>
              <a:t>样本数来自原索引和新增数据集整理记录；原始分辨率未记录的项目已明确标注。</a:t>
            </a:r>
          </a:p>
        </p:txBody>
      </p:sp>
      <p:sp>
        <p:nvSpPr>
          <p:cNvPr id="79" name="footer-right"/>
          <p:cNvSpPr txBox="1"/>
          <p:nvPr/>
        </p:nvSpPr>
        <p:spPr>
          <a:xfrm>
            <a:off x="10592752" y="6616700"/>
            <a:ext cx="9182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6B756F"/>
                </a:solidFill>
                <a:latin typeface="Microsoft YaHei"/>
                <a:ea typeface="Microsoft YaHei"/>
                <a:cs typeface="Microsoft YaHei"/>
              </a:rPr>
              <a:t>课堂视觉数据处理台</a:t>
            </a:r>
          </a:p>
        </p:txBody>
      </p:sp>
    </p:spTree>
    <p:extLst>
      <p:ext uri="{BB962C8B-B14F-4D97-AF65-F5344CB8AC3E}">
        <p14:creationId val="1229636300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mc="http://schemas.openxmlformats.org/markup-compatibility/2006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>
            <a:extLst>
              <a:ext uri="{FF2B5EF4-FFF2-40B4-BE49-F238E27FC236}">
                <ns2:creationId id="{77A05B77-427E-480D-B318-76A7D194147D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数据资源整理</a:t>
            </a:r>
          </a:p>
        </p:txBody>
      </p:sp>
      <p:sp>
        <p:nvSpPr>
          <p:cNvPr id="2" name="矩形 1">
            <a:extLst>
              <a:ext uri="{FF2B5EF4-FFF2-40B4-BE49-F238E27FC236}">
                <ns2:creationId id="{A0ADFE33-7655-48FC-964B-0A07CD6A8398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3" name="矩形 2"/>
          <p:cNvSpPr/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-25400" rIns="0" bIns="0" anchor="t" anchorCtr="0">
            <a:noAutofit/>
          </a:bodyPr>
          <a:lstStyle/>
          <a:p>
            <a:pPr algn="l"/>
            <a:r>
              <a:rPr lang="zh-CN" sz="2550" b="1" dirty="0">
                <a:solidFill>
                  <a:srgbClr val="19312E"/>
                </a:solidFill>
                <a:latin typeface="SimSun"/>
                <a:ea typeface="SimSun"/>
                <a:cs typeface="SimSun"/>
              </a:rPr>
              <a:t>数据包：原有公开数据与新增 SCB 版本</a:t>
            </a:r>
          </a:p>
        </p:txBody>
      </p:sp>
      <p:sp>
        <p:nvSpPr>
          <p:cNvPr id="4" name="直接连接符 3">
            <a:extLst>
              <a:ext uri="{FF2B5EF4-FFF2-40B4-BE49-F238E27FC236}">
                <ns2:creationId id="{A439ADF0-A9C8-40D6-AF2A-FCD46806F657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85800" y="1562100"/>
            <a:ext cx="106680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80" dirty="0">
                <a:solidFill>
                  <a:srgbClr val="6B756F"/>
                </a:solidFill>
                <a:latin typeface="Microsoft YaHei"/>
                <a:ea typeface="Microsoft YaHei"/>
                <a:cs typeface="Microsoft YaHei"/>
              </a:rPr>
              <a:t>原有数据包继续保留；新增 SCB 版本来自同一 GitHub 仓库，按数据集、标签和模型结果单独记录。</a:t>
            </a:r>
          </a:p>
        </p:txBody>
      </p:sp>
      <p:sp>
        <p:nvSpPr>
          <p:cNvPr id="6" name="矩形 5">
            <a:extLst>
              <a:ext uri="{FF2B5EF4-FFF2-40B4-BE49-F238E27FC236}">
                <ns2:creationId id="{8A049A99-3A44-4BA5-8336-00AD0986F04C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2095500" cy="409575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ns2:creationId id="{5C7D2A45-6AA0-4394-9695-025E61AD7A8A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943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数据包 / 来源</a:t>
            </a:r>
          </a:p>
        </p:txBody>
      </p:sp>
      <p:sp>
        <p:nvSpPr>
          <p:cNvPr id="8" name="矩形 7">
            <a:extLst>
              <a:ext uri="{FF2B5EF4-FFF2-40B4-BE49-F238E27FC236}">
                <ns2:creationId id="{0EB8542D-7915-45E4-ABAA-A803C1CF256B}"/>
              </a:ext>
            </a:extLst>
          </p:cNvPr>
          <p:cNvSpPr>
            <a:spLocks noGrp="1"/>
          </p:cNvSpPr>
          <p:nvPr/>
        </p:nvSpPr>
        <p:spPr>
          <a:xfrm>
            <a:off x="2781300" y="1981200"/>
            <a:ext cx="1238250" cy="409575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ns2:creationId id="{A2EB6A35-C883-40E0-94BC-3210E53FE391}"/>
              </a:ext>
            </a:extLst>
          </p:cNvPr>
          <p:cNvSpPr>
            <a:spLocks noGrp="1"/>
          </p:cNvSpPr>
          <p:nvPr/>
        </p:nvSpPr>
        <p:spPr>
          <a:xfrm>
            <a:off x="2857500" y="2095500"/>
            <a:ext cx="1085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模态与规模</a:t>
            </a:r>
          </a:p>
        </p:txBody>
      </p:sp>
      <p:sp>
        <p:nvSpPr>
          <p:cNvPr id="10" name="矩形 9">
            <a:extLst>
              <a:ext uri="{FF2B5EF4-FFF2-40B4-BE49-F238E27FC236}">
                <ns2:creationId id="{815AB3A9-2655-4EB8-A8B6-C4E8BEE46F34}"/>
              </a:ext>
            </a:extLst>
          </p:cNvPr>
          <p:cNvSpPr>
            <a:spLocks noGrp="1"/>
          </p:cNvSpPr>
          <p:nvPr/>
        </p:nvSpPr>
        <p:spPr>
          <a:xfrm>
            <a:off x="4019550" y="1981200"/>
            <a:ext cx="1333500" cy="409575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ns2:creationId id="{170310CC-2E08-422F-BEF3-6AA51F3BBE4A}"/>
              </a:ext>
            </a:extLst>
          </p:cNvPr>
          <p:cNvSpPr>
            <a:spLocks noGrp="1"/>
          </p:cNvSpPr>
          <p:nvPr/>
        </p:nvSpPr>
        <p:spPr>
          <a:xfrm>
            <a:off x="4095750" y="2095500"/>
            <a:ext cx="1181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主要任务</a:t>
            </a:r>
          </a:p>
        </p:txBody>
      </p:sp>
      <p:sp>
        <p:nvSpPr>
          <p:cNvPr id="12" name="矩形 11">
            <a:extLst>
              <a:ext uri="{FF2B5EF4-FFF2-40B4-BE49-F238E27FC236}">
                <ns2:creationId id="{D7C7D570-8A86-4C37-AC18-B8727A555AB1}"/>
              </a:ext>
            </a:extLst>
          </p:cNvPr>
          <p:cNvSpPr>
            <a:spLocks noGrp="1"/>
          </p:cNvSpPr>
          <p:nvPr/>
        </p:nvSpPr>
        <p:spPr>
          <a:xfrm>
            <a:off x="5353050" y="1981200"/>
            <a:ext cx="1143000" cy="409575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ns2:creationId id="{0296AD89-1610-472A-BF73-A0E03606A56E}"/>
              </a:ext>
            </a:extLst>
          </p:cNvPr>
          <p:cNvSpPr>
            <a:spLocks noGrp="1"/>
          </p:cNvSpPr>
          <p:nvPr/>
        </p:nvSpPr>
        <p:spPr>
          <a:xfrm>
            <a:off x="5429250" y="2095500"/>
            <a:ext cx="990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解压后占用</a:t>
            </a:r>
          </a:p>
        </p:txBody>
      </p:sp>
      <p:sp>
        <p:nvSpPr>
          <p:cNvPr id="14" name="矩形 13">
            <a:extLst>
              <a:ext uri="{FF2B5EF4-FFF2-40B4-BE49-F238E27FC236}">
                <ns2:creationId id="{8559A67E-05CF-48B9-A28A-CCBA2BC4BFA3}"/>
              </a:ext>
            </a:extLst>
          </p:cNvPr>
          <p:cNvSpPr>
            <a:spLocks noGrp="1"/>
          </p:cNvSpPr>
          <p:nvPr/>
        </p:nvSpPr>
        <p:spPr>
          <a:xfrm>
            <a:off x="6496050" y="1981200"/>
            <a:ext cx="5010150" cy="409575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ns2:creationId id="{B76209C3-8BBF-4CF5-8FA8-734997309D41}"/>
              </a:ext>
            </a:extLst>
          </p:cNvPr>
          <p:cNvSpPr>
            <a:spLocks noGrp="1"/>
          </p:cNvSpPr>
          <p:nvPr/>
        </p:nvSpPr>
        <p:spPr>
          <a:xfrm>
            <a:off x="6572250" y="2095500"/>
            <a:ext cx="485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关键特点（分辨率、标注、视角与处理状态）</a:t>
            </a:r>
          </a:p>
        </p:txBody>
      </p:sp>
      <p:sp>
        <p:nvSpPr>
          <p:cNvPr id="16" name="矩形 15">
            <a:extLst>
              <a:ext uri="{FF2B5EF4-FFF2-40B4-BE49-F238E27FC236}">
                <ns2:creationId id="{B80190E0-EBF4-4EC3-8896-9D07BB4B39CB}"/>
              </a:ext>
            </a:extLst>
          </p:cNvPr>
          <p:cNvSpPr>
            <a:spLocks noGrp="1"/>
          </p:cNvSpPr>
          <p:nvPr/>
        </p:nvSpPr>
        <p:spPr>
          <a:xfrm>
            <a:off x="685800" y="2390775"/>
            <a:ext cx="209550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ns2:creationId id="{3A4643D3-8D87-4D0F-8029-80DCADE9D599}"/>
              </a:ext>
            </a:extLst>
          </p:cNvPr>
          <p:cNvSpPr>
            <a:spLocks noGrp="1"/>
          </p:cNvSpPr>
          <p:nvPr/>
        </p:nvSpPr>
        <p:spPr>
          <a:xfrm>
            <a:off x="762000" y="2457450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1  DAiSEE（用户目录：微表情）</a:t>
            </a:r>
          </a:p>
        </p:txBody>
      </p:sp>
      <p:sp>
        <p:nvSpPr>
          <p:cNvPr id="18" name="矩形 17">
            <a:extLst>
              <a:ext uri="{FF2B5EF4-FFF2-40B4-BE49-F238E27FC236}">
                <ns2:creationId id="{98838F69-C279-4D6C-9CA5-BC74453276F9}"/>
              </a:ext>
            </a:extLst>
          </p:cNvPr>
          <p:cNvSpPr>
            <a:spLocks noGrp="1"/>
          </p:cNvSpPr>
          <p:nvPr/>
        </p:nvSpPr>
        <p:spPr>
          <a:xfrm>
            <a:off x="2781300" y="2390775"/>
            <a:ext cx="123825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ns2:creationId id="{03C325F0-5539-4F0D-91E9-D645023EE4D4}"/>
              </a:ext>
            </a:extLst>
          </p:cNvPr>
          <p:cNvSpPr>
            <a:spLocks noGrp="1"/>
          </p:cNvSpPr>
          <p:nvPr/>
        </p:nvSpPr>
        <p:spPr>
          <a:xfrm>
            <a:off x="2857500" y="245745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视频｜9,068</a:t>
            </a:r>
          </a:p>
        </p:txBody>
      </p:sp>
      <p:sp>
        <p:nvSpPr>
          <p:cNvPr id="20" name="矩形 19">
            <a:extLst>
              <a:ext uri="{FF2B5EF4-FFF2-40B4-BE49-F238E27FC236}">
                <ns2:creationId id="{50C91CD3-2F6B-4799-92B5-A810DB01510D}"/>
              </a:ext>
            </a:extLst>
          </p:cNvPr>
          <p:cNvSpPr>
            <a:spLocks noGrp="1"/>
          </p:cNvSpPr>
          <p:nvPr/>
        </p:nvSpPr>
        <p:spPr>
          <a:xfrm>
            <a:off x="4019550" y="2390775"/>
            <a:ext cx="133350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ns2:creationId id="{C7A83EDB-0C69-497C-915B-0F3C154BD813}"/>
              </a:ext>
            </a:extLst>
          </p:cNvPr>
          <p:cNvSpPr>
            <a:spLocks noGrp="1"/>
          </p:cNvSpPr>
          <p:nvPr/>
        </p:nvSpPr>
        <p:spPr>
          <a:xfrm>
            <a:off x="4095750" y="2457450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投入度 / 状态</a:t>
            </a:r>
          </a:p>
        </p:txBody>
      </p:sp>
      <p:sp>
        <p:nvSpPr>
          <p:cNvPr id="22" name="矩形 21">
            <a:extLst>
              <a:ext uri="{FF2B5EF4-FFF2-40B4-BE49-F238E27FC236}">
                <ns2:creationId id="{B0059E70-EDB2-44B3-A63F-A05D58E45EF1}"/>
              </a:ext>
            </a:extLst>
          </p:cNvPr>
          <p:cNvSpPr>
            <a:spLocks noGrp="1"/>
          </p:cNvSpPr>
          <p:nvPr/>
        </p:nvSpPr>
        <p:spPr>
          <a:xfrm>
            <a:off x="5353050" y="2390775"/>
            <a:ext cx="114300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ns2:creationId id="{9CFC015E-D347-4229-9804-EC7BE9FC1E06}"/>
              </a:ext>
            </a:extLst>
          </p:cNvPr>
          <p:cNvSpPr>
            <a:spLocks noGrp="1"/>
          </p:cNvSpPr>
          <p:nvPr/>
        </p:nvSpPr>
        <p:spPr>
          <a:xfrm>
            <a:off x="5429250" y="245745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14.42 GiB</a:t>
            </a:r>
          </a:p>
        </p:txBody>
      </p:sp>
      <p:sp>
        <p:nvSpPr>
          <p:cNvPr id="24" name="矩形 23">
            <a:extLst>
              <a:ext uri="{FF2B5EF4-FFF2-40B4-BE49-F238E27FC236}">
                <ns2:creationId id="{956B8F77-55CD-4573-8587-3BE1BA3E3182}"/>
              </a:ext>
            </a:extLst>
          </p:cNvPr>
          <p:cNvSpPr>
            <a:spLocks noGrp="1"/>
          </p:cNvSpPr>
          <p:nvPr/>
        </p:nvSpPr>
        <p:spPr>
          <a:xfrm>
            <a:off x="6496050" y="2390775"/>
            <a:ext cx="501015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ns2:creationId id="{90FFB734-6E42-4333-A809-D7724BEFD7E0}"/>
              </a:ext>
            </a:extLst>
          </p:cNvPr>
          <p:cNvSpPr>
            <a:spLocks noGrp="1"/>
          </p:cNvSpPr>
          <p:nvPr/>
        </p:nvSpPr>
        <p:spPr>
          <a:xfrm>
            <a:off x="6572250" y="245745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640×480，30 fps，约 10 秒；Train/Validation/Test；Boredom、Engagement、Confusion、Frustration 为 0–3 级；原始视频未缩放</a:t>
            </a:r>
          </a:p>
        </p:txBody>
      </p:sp>
      <p:sp>
        <p:nvSpPr>
          <p:cNvPr id="26" name="矩形 25">
            <a:extLst>
              <a:ext uri="{FF2B5EF4-FFF2-40B4-BE49-F238E27FC236}">
                <ns2:creationId id="{2C52B541-C533-483B-A485-AB70427187BC}"/>
              </a:ext>
            </a:extLst>
          </p:cNvPr>
          <p:cNvSpPr>
            <a:spLocks noGrp="1"/>
          </p:cNvSpPr>
          <p:nvPr/>
        </p:nvSpPr>
        <p:spPr>
          <a:xfrm>
            <a:off x="685800" y="2800350"/>
            <a:ext cx="209550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ns2:creationId id="{9DA50E70-FD53-4115-ACD6-01438789022F}"/>
              </a:ext>
            </a:extLst>
          </p:cNvPr>
          <p:cNvSpPr>
            <a:spLocks noGrp="1"/>
          </p:cNvSpPr>
          <p:nvPr/>
        </p:nvSpPr>
        <p:spPr>
          <a:xfrm>
            <a:off x="762000" y="2867025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2  Tianchi / Roboflow</a:t>
            </a:r>
          </a:p>
        </p:txBody>
      </p:sp>
      <p:sp>
        <p:nvSpPr>
          <p:cNvPr id="28" name="矩形 27">
            <a:extLst>
              <a:ext uri="{FF2B5EF4-FFF2-40B4-BE49-F238E27FC236}">
                <ns2:creationId id="{FD527B1B-A20D-47A7-9A8E-9045696D6385}"/>
              </a:ext>
            </a:extLst>
          </p:cNvPr>
          <p:cNvSpPr>
            <a:spLocks noGrp="1"/>
          </p:cNvSpPr>
          <p:nvPr/>
        </p:nvSpPr>
        <p:spPr>
          <a:xfrm>
            <a:off x="2781300" y="2800350"/>
            <a:ext cx="123825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ns2:creationId id="{93495440-95D4-4395-85F8-B9D59DEA8FE1}"/>
              </a:ext>
            </a:extLst>
          </p:cNvPr>
          <p:cNvSpPr>
            <a:spLocks noGrp="1"/>
          </p:cNvSpPr>
          <p:nvPr/>
        </p:nvSpPr>
        <p:spPr>
          <a:xfrm>
            <a:off x="2857500" y="2867025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图片｜4,065</a:t>
            </a:r>
          </a:p>
        </p:txBody>
      </p:sp>
      <p:sp>
        <p:nvSpPr>
          <p:cNvPr id="30" name="矩形 29">
            <a:extLst>
              <a:ext uri="{FF2B5EF4-FFF2-40B4-BE49-F238E27FC236}">
                <ns2:creationId id="{8B986D7B-23B7-44FA-9E59-1D21CFC1A07C}"/>
              </a:ext>
            </a:extLst>
          </p:cNvPr>
          <p:cNvSpPr>
            <a:spLocks noGrp="1"/>
          </p:cNvSpPr>
          <p:nvPr/>
        </p:nvSpPr>
        <p:spPr>
          <a:xfrm>
            <a:off x="4019550" y="2800350"/>
            <a:ext cx="133350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ns2:creationId id="{D01C1B42-5429-476D-B7AC-5CCEC34DAB91}"/>
              </a:ext>
            </a:extLst>
          </p:cNvPr>
          <p:cNvSpPr>
            <a:spLocks noGrp="1"/>
          </p:cNvSpPr>
          <p:nvPr/>
        </p:nvSpPr>
        <p:spPr>
          <a:xfrm>
            <a:off x="4095750" y="2867025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课堂行为检测</a:t>
            </a:r>
          </a:p>
        </p:txBody>
      </p:sp>
      <p:sp>
        <p:nvSpPr>
          <p:cNvPr id="32" name="矩形 31">
            <a:extLst>
              <a:ext uri="{FF2B5EF4-FFF2-40B4-BE49-F238E27FC236}">
                <ns2:creationId id="{0F5A40C2-1E24-4D38-99DA-BD85E65BD41E}"/>
              </a:ext>
            </a:extLst>
          </p:cNvPr>
          <p:cNvSpPr>
            <a:spLocks noGrp="1"/>
          </p:cNvSpPr>
          <p:nvPr/>
        </p:nvSpPr>
        <p:spPr>
          <a:xfrm>
            <a:off x="5353050" y="2800350"/>
            <a:ext cx="114300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ns2:creationId id="{AF8A785D-B224-40EE-805B-D05855778CC4}"/>
              </a:ext>
            </a:extLst>
          </p:cNvPr>
          <p:cNvSpPr>
            <a:spLocks noGrp="1"/>
          </p:cNvSpPr>
          <p:nvPr/>
        </p:nvSpPr>
        <p:spPr>
          <a:xfrm>
            <a:off x="5429250" y="2867025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0.26 GiB</a:t>
            </a:r>
          </a:p>
        </p:txBody>
      </p:sp>
      <p:sp>
        <p:nvSpPr>
          <p:cNvPr id="34" name="矩形 33">
            <a:extLst>
              <a:ext uri="{FF2B5EF4-FFF2-40B4-BE49-F238E27FC236}">
                <ns2:creationId id="{1D1E62E5-9DA9-4361-9134-3B18906CB4BD}"/>
              </a:ext>
            </a:extLst>
          </p:cNvPr>
          <p:cNvSpPr>
            <a:spLocks noGrp="1"/>
          </p:cNvSpPr>
          <p:nvPr/>
        </p:nvSpPr>
        <p:spPr>
          <a:xfrm>
            <a:off x="6496050" y="2800350"/>
            <a:ext cx="501015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ns2:creationId id="{84B844D7-208D-456F-A115-5E038DBF43F9}"/>
              </a:ext>
            </a:extLst>
          </p:cNvPr>
          <p:cNvSpPr>
            <a:spLocks noGrp="1"/>
          </p:cNvSpPr>
          <p:nvPr/>
        </p:nvSpPr>
        <p:spPr>
          <a:xfrm>
            <a:off x="6572250" y="2867025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640×640；Roboflow Stretch；YOLOv8 TXT；Train/Valid/Test；含 upright、book、bend、raise_head 等行为标签</a:t>
            </a:r>
          </a:p>
        </p:txBody>
      </p:sp>
      <p:sp>
        <p:nvSpPr>
          <p:cNvPr id="36" name="矩形 35">
            <a:extLst>
              <a:ext uri="{FF2B5EF4-FFF2-40B4-BE49-F238E27FC236}">
                <ns2:creationId id="{1F3870AD-0DEA-4319-AE1D-D17B5CD349F6}"/>
              </a:ext>
            </a:extLst>
          </p:cNvPr>
          <p:cNvSpPr>
            <a:spLocks noGrp="1"/>
          </p:cNvSpPr>
          <p:nvPr/>
        </p:nvSpPr>
        <p:spPr>
          <a:xfrm>
            <a:off x="685800" y="3209925"/>
            <a:ext cx="209550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ns2:creationId id="{EBD83D6D-9975-402C-90B0-8F074F013F0A}"/>
              </a:ext>
            </a:extLst>
          </p:cNvPr>
          <p:cNvSpPr>
            <a:spLocks noGrp="1"/>
          </p:cNvSpPr>
          <p:nvPr/>
        </p:nvSpPr>
        <p:spPr>
          <a:xfrm>
            <a:off x="762000" y="3276600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3  SCB YOLO/XML</a:t>
            </a:r>
          </a:p>
        </p:txBody>
      </p:sp>
      <p:sp>
        <p:nvSpPr>
          <p:cNvPr id="38" name="矩形 37">
            <a:extLst>
              <a:ext uri="{FF2B5EF4-FFF2-40B4-BE49-F238E27FC236}">
                <ns2:creationId id="{C160EBB8-9FEA-4400-B5ED-21AE162711EC}"/>
              </a:ext>
            </a:extLst>
          </p:cNvPr>
          <p:cNvSpPr>
            <a:spLocks noGrp="1"/>
          </p:cNvSpPr>
          <p:nvPr/>
        </p:nvSpPr>
        <p:spPr>
          <a:xfrm>
            <a:off x="2781300" y="3209925"/>
            <a:ext cx="123825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ns2:creationId id="{AB5B48DC-602C-42D1-8A3F-4635C49408F2}"/>
              </a:ext>
            </a:extLst>
          </p:cNvPr>
          <p:cNvSpPr>
            <a:spLocks noGrp="1"/>
          </p:cNvSpPr>
          <p:nvPr/>
        </p:nvSpPr>
        <p:spPr>
          <a:xfrm>
            <a:off x="2857500" y="32766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图片｜8,884</a:t>
            </a:r>
          </a:p>
        </p:txBody>
      </p:sp>
      <p:sp>
        <p:nvSpPr>
          <p:cNvPr id="40" name="矩形 39">
            <a:extLst>
              <a:ext uri="{FF2B5EF4-FFF2-40B4-BE49-F238E27FC236}">
                <ns2:creationId id="{E4FC1B88-528C-4B92-A7C6-99B19B1CF998}"/>
              </a:ext>
            </a:extLst>
          </p:cNvPr>
          <p:cNvSpPr>
            <a:spLocks noGrp="1"/>
          </p:cNvSpPr>
          <p:nvPr/>
        </p:nvSpPr>
        <p:spPr>
          <a:xfrm>
            <a:off x="4019550" y="3209925"/>
            <a:ext cx="133350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ns2:creationId id="{D5D1150F-C173-4982-9789-2628A35F3B3B}"/>
              </a:ext>
            </a:extLst>
          </p:cNvPr>
          <p:cNvSpPr>
            <a:spLocks noGrp="1"/>
          </p:cNvSpPr>
          <p:nvPr/>
        </p:nvSpPr>
        <p:spPr>
          <a:xfrm>
            <a:off x="4095750" y="3276600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课堂行为检测</a:t>
            </a:r>
          </a:p>
        </p:txBody>
      </p:sp>
      <p:sp>
        <p:nvSpPr>
          <p:cNvPr id="42" name="矩形 41">
            <a:extLst>
              <a:ext uri="{FF2B5EF4-FFF2-40B4-BE49-F238E27FC236}">
                <ns2:creationId id="{10A3EFE9-6220-4A8C-95DC-ED1C2475B6BB}"/>
              </a:ext>
            </a:extLst>
          </p:cNvPr>
          <p:cNvSpPr>
            <a:spLocks noGrp="1"/>
          </p:cNvSpPr>
          <p:nvPr/>
        </p:nvSpPr>
        <p:spPr>
          <a:xfrm>
            <a:off x="5353050" y="3209925"/>
            <a:ext cx="114300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ns2:creationId id="{EA3D9634-AC6E-4002-863C-1988C33C2C4E}"/>
              </a:ext>
            </a:extLst>
          </p:cNvPr>
          <p:cNvSpPr>
            <a:spLocks noGrp="1"/>
          </p:cNvSpPr>
          <p:nvPr/>
        </p:nvSpPr>
        <p:spPr>
          <a:xfrm>
            <a:off x="5429250" y="327660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1.06 GiB</a:t>
            </a:r>
          </a:p>
        </p:txBody>
      </p:sp>
      <p:sp>
        <p:nvSpPr>
          <p:cNvPr id="44" name="矩形 43">
            <a:extLst>
              <a:ext uri="{FF2B5EF4-FFF2-40B4-BE49-F238E27FC236}">
                <ns2:creationId id="{C8DF8A08-3141-4B06-9D80-247309BA8D2F}"/>
              </a:ext>
            </a:extLst>
          </p:cNvPr>
          <p:cNvSpPr>
            <a:spLocks noGrp="1"/>
          </p:cNvSpPr>
          <p:nvPr/>
        </p:nvSpPr>
        <p:spPr>
          <a:xfrm>
            <a:off x="6496050" y="3209925"/>
            <a:ext cx="501015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ns2:creationId id="{351858FA-034B-42C5-BBC7-C825A9AFA0A1}"/>
              </a:ext>
            </a:extLst>
          </p:cNvPr>
          <p:cNvSpPr>
            <a:spLocks noGrp="1"/>
          </p:cNvSpPr>
          <p:nvPr/>
        </p:nvSpPr>
        <p:spPr>
          <a:xfrm>
            <a:off x="6572250" y="327660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800×450（XML size）；JPG + XML；约 8 类行为；索引未标明二次缩放；适合目标检测和遮挡鲁棒性实验</a:t>
            </a:r>
          </a:p>
        </p:txBody>
      </p:sp>
      <p:sp>
        <p:nvSpPr>
          <p:cNvPr id="46" name="矩形 45">
            <a:extLst>
              <a:ext uri="{FF2B5EF4-FFF2-40B4-BE49-F238E27FC236}">
                <ns2:creationId id="{FE5F1A87-68E1-4E14-A1C2-BCBE9B6EAC18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209550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ns2:creationId id="{5AC3FFE1-177D-4394-8F34-FA4486F3DFE3}"/>
              </a:ext>
            </a:extLst>
          </p:cNvPr>
          <p:cNvSpPr>
            <a:spLocks noGrp="1"/>
          </p:cNvSpPr>
          <p:nvPr/>
        </p:nvSpPr>
        <p:spPr>
          <a:xfrm>
            <a:off x="762000" y="3686175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4  SCB VOCdevkit</a:t>
            </a:r>
          </a:p>
        </p:txBody>
      </p:sp>
      <p:sp>
        <p:nvSpPr>
          <p:cNvPr id="48" name="矩形 47">
            <a:extLst>
              <a:ext uri="{FF2B5EF4-FFF2-40B4-BE49-F238E27FC236}">
                <ns2:creationId id="{7596BCC0-3D02-4218-BC25-328884911D89}"/>
              </a:ext>
            </a:extLst>
          </p:cNvPr>
          <p:cNvSpPr>
            <a:spLocks noGrp="1"/>
          </p:cNvSpPr>
          <p:nvPr/>
        </p:nvSpPr>
        <p:spPr>
          <a:xfrm>
            <a:off x="2781300" y="3619500"/>
            <a:ext cx="123825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ns2:creationId id="{8E8DC76B-50EA-4FA2-B781-5BB143F2AEDA}"/>
              </a:ext>
            </a:extLst>
          </p:cNvPr>
          <p:cNvSpPr>
            <a:spLocks noGrp="1"/>
          </p:cNvSpPr>
          <p:nvPr/>
        </p:nvSpPr>
        <p:spPr>
          <a:xfrm>
            <a:off x="2857500" y="3686175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图片｜train/val</a:t>
            </a:r>
          </a:p>
        </p:txBody>
      </p:sp>
      <p:sp>
        <p:nvSpPr>
          <p:cNvPr id="50" name="矩形 49">
            <a:extLst>
              <a:ext uri="{FF2B5EF4-FFF2-40B4-BE49-F238E27FC236}">
                <ns2:creationId id="{6381B898-3DE2-44E8-BF44-B4699AA05716}"/>
              </a:ext>
            </a:extLst>
          </p:cNvPr>
          <p:cNvSpPr>
            <a:spLocks noGrp="1"/>
          </p:cNvSpPr>
          <p:nvPr/>
        </p:nvSpPr>
        <p:spPr>
          <a:xfrm>
            <a:off x="4019550" y="3619500"/>
            <a:ext cx="133350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ns2:creationId id="{36D8510A-D9C5-436C-9D91-B0D79693A7F8}"/>
              </a:ext>
            </a:extLst>
          </p:cNvPr>
          <p:cNvSpPr>
            <a:spLocks noGrp="1"/>
          </p:cNvSpPr>
          <p:nvPr/>
        </p:nvSpPr>
        <p:spPr>
          <a:xfrm>
            <a:off x="4095750" y="3686175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课堂行为检测</a:t>
            </a:r>
          </a:p>
        </p:txBody>
      </p:sp>
      <p:sp>
        <p:nvSpPr>
          <p:cNvPr id="52" name="矩形 51">
            <a:extLst>
              <a:ext uri="{FF2B5EF4-FFF2-40B4-BE49-F238E27FC236}">
                <ns2:creationId id="{EC6ADDA5-C597-4518-8364-11192732C91A}"/>
              </a:ext>
            </a:extLst>
          </p:cNvPr>
          <p:cNvSpPr>
            <a:spLocks noGrp="1"/>
          </p:cNvSpPr>
          <p:nvPr/>
        </p:nvSpPr>
        <p:spPr>
          <a:xfrm>
            <a:off x="5353050" y="3619500"/>
            <a:ext cx="114300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ns2:creationId id="{EEBC9666-1347-4BE0-8544-5DF5C0A6B5DC}"/>
              </a:ext>
            </a:extLst>
          </p:cNvPr>
          <p:cNvSpPr>
            <a:spLocks noGrp="1"/>
          </p:cNvSpPr>
          <p:nvPr/>
        </p:nvSpPr>
        <p:spPr>
          <a:xfrm>
            <a:off x="5429250" y="3686175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2.09 GiB</a:t>
            </a:r>
          </a:p>
        </p:txBody>
      </p:sp>
      <p:sp>
        <p:nvSpPr>
          <p:cNvPr id="54" name="矩形 53">
            <a:extLst>
              <a:ext uri="{FF2B5EF4-FFF2-40B4-BE49-F238E27FC236}">
                <ns2:creationId id="{4B44F649-4839-4876-BCB7-B5DC64459853}"/>
              </a:ext>
            </a:extLst>
          </p:cNvPr>
          <p:cNvSpPr>
            <a:spLocks noGrp="1"/>
          </p:cNvSpPr>
          <p:nvPr/>
        </p:nvSpPr>
        <p:spPr>
          <a:xfrm>
            <a:off x="6496050" y="3619500"/>
            <a:ext cx="501015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ns2:creationId id="{3D8CFD24-7BBD-4614-BF0F-B11FEBCFE227}"/>
              </a:ext>
            </a:extLst>
          </p:cNvPr>
          <p:cNvSpPr>
            <a:spLocks noGrp="1"/>
          </p:cNvSpPr>
          <p:nvPr/>
        </p:nvSpPr>
        <p:spPr>
          <a:xfrm>
            <a:off x="6572250" y="3686175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同源 VOC 转换集；800×450（VOC XML）；XML 标注；索引未标明二次缩放；用于比较标注格式转换和检测结果</a:t>
            </a:r>
          </a:p>
        </p:txBody>
      </p:sp>
      <p:sp>
        <p:nvSpPr>
          <p:cNvPr id="56" name="矩形 55">
            <a:extLst>
              <a:ext uri="{FF2B5EF4-FFF2-40B4-BE49-F238E27FC236}">
                <ns2:creationId id="{A394709E-5CFF-4313-AE17-298AA605E42B}"/>
              </a:ext>
            </a:extLst>
          </p:cNvPr>
          <p:cNvSpPr>
            <a:spLocks noGrp="1"/>
          </p:cNvSpPr>
          <p:nvPr/>
        </p:nvSpPr>
        <p:spPr>
          <a:xfrm>
            <a:off x="685800" y="4029075"/>
            <a:ext cx="209550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ns2:creationId id="{A96556B9-0FE4-4550-A8D9-33957DFD1F90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5  SCB 正面视角</a:t>
            </a:r>
          </a:p>
        </p:txBody>
      </p:sp>
      <p:sp>
        <p:nvSpPr>
          <p:cNvPr id="58" name="矩形 57">
            <a:extLst>
              <a:ext uri="{FF2B5EF4-FFF2-40B4-BE49-F238E27FC236}">
                <ns2:creationId id="{773CD53D-E5A2-4F67-B429-2493EF5EE724}"/>
              </a:ext>
            </a:extLst>
          </p:cNvPr>
          <p:cNvSpPr>
            <a:spLocks noGrp="1"/>
          </p:cNvSpPr>
          <p:nvPr/>
        </p:nvSpPr>
        <p:spPr>
          <a:xfrm>
            <a:off x="2781300" y="4029075"/>
            <a:ext cx="123825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ns2:creationId id="{4CE504D5-4F17-4748-8EC7-475638EC751C}"/>
              </a:ext>
            </a:extLst>
          </p:cNvPr>
          <p:cNvSpPr>
            <a:spLocks noGrp="1"/>
          </p:cNvSpPr>
          <p:nvPr/>
        </p:nvSpPr>
        <p:spPr>
          <a:xfrm>
            <a:off x="2857500" y="409575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视频｜593</a:t>
            </a:r>
          </a:p>
        </p:txBody>
      </p:sp>
      <p:sp>
        <p:nvSpPr>
          <p:cNvPr id="60" name="矩形 59">
            <a:extLst>
              <a:ext uri="{FF2B5EF4-FFF2-40B4-BE49-F238E27FC236}">
                <ns2:creationId id="{D55C167D-4ABB-4EC2-9C19-A2607F85C75A}"/>
              </a:ext>
            </a:extLst>
          </p:cNvPr>
          <p:cNvSpPr>
            <a:spLocks noGrp="1"/>
          </p:cNvSpPr>
          <p:nvPr/>
        </p:nvSpPr>
        <p:spPr>
          <a:xfrm>
            <a:off x="4019550" y="4029075"/>
            <a:ext cx="133350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ns2:creationId id="{EBC43E2E-F5B8-4E95-871B-4846F767240C}"/>
              </a:ext>
            </a:extLst>
          </p:cNvPr>
          <p:cNvSpPr>
            <a:spLocks noGrp="1"/>
          </p:cNvSpPr>
          <p:nvPr/>
        </p:nvSpPr>
        <p:spPr>
          <a:xfrm>
            <a:off x="4095750" y="4095750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多目标跟踪 / 行为</a:t>
            </a:r>
          </a:p>
        </p:txBody>
      </p:sp>
      <p:sp>
        <p:nvSpPr>
          <p:cNvPr id="62" name="矩形 61">
            <a:extLst>
              <a:ext uri="{FF2B5EF4-FFF2-40B4-BE49-F238E27FC236}">
                <ns2:creationId id="{77A539E8-3AA5-4A69-84E9-654B0CDBAA53}"/>
              </a:ext>
            </a:extLst>
          </p:cNvPr>
          <p:cNvSpPr>
            <a:spLocks noGrp="1"/>
          </p:cNvSpPr>
          <p:nvPr/>
        </p:nvSpPr>
        <p:spPr>
          <a:xfrm>
            <a:off x="5353050" y="4029075"/>
            <a:ext cx="114300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ns2:creationId id="{7F3663D3-819E-439E-8932-66A703125A4F}"/>
              </a:ext>
            </a:extLst>
          </p:cNvPr>
          <p:cNvSpPr>
            <a:spLocks noGrp="1"/>
          </p:cNvSpPr>
          <p:nvPr/>
        </p:nvSpPr>
        <p:spPr>
          <a:xfrm>
            <a:off x="5429250" y="409575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0.57 GiB</a:t>
            </a:r>
          </a:p>
        </p:txBody>
      </p:sp>
      <p:sp>
        <p:nvSpPr>
          <p:cNvPr id="64" name="矩形 63">
            <a:extLst>
              <a:ext uri="{FF2B5EF4-FFF2-40B4-BE49-F238E27FC236}">
                <ns2:creationId id="{ACBEF7D0-B908-46DF-B41F-7A73F7CBDE91}"/>
              </a:ext>
            </a:extLst>
          </p:cNvPr>
          <p:cNvSpPr>
            <a:spLocks noGrp="1"/>
          </p:cNvSpPr>
          <p:nvPr/>
        </p:nvSpPr>
        <p:spPr>
          <a:xfrm>
            <a:off x="6496050" y="4029075"/>
            <a:ext cx="501015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ns2:creationId id="{57F113A1-2A65-4CBC-B3DA-ADCC85AB56A3}"/>
              </a:ext>
            </a:extLst>
          </p:cNvPr>
          <p:cNvSpPr>
            <a:spLocks noGrp="1"/>
          </p:cNvSpPr>
          <p:nvPr/>
        </p:nvSpPr>
        <p:spPr>
          <a:xfrm>
            <a:off x="6572250" y="409575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800×450；正面机位；人物尺度较集中；适合观察前后排小目标和遮挡</a:t>
            </a:r>
          </a:p>
        </p:txBody>
      </p:sp>
      <p:sp>
        <p:nvSpPr>
          <p:cNvPr id="66" name="矩形 65">
            <a:extLst>
              <a:ext uri="{FF2B5EF4-FFF2-40B4-BE49-F238E27FC236}">
                <ns2:creationId id="{F56A4D69-A9B4-4B23-B87E-1A7C951083DA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209550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ns2:creationId id="{A80FC17E-D637-4DAD-A77D-DC934E78E899}"/>
              </a:ext>
            </a:extLst>
          </p:cNvPr>
          <p:cNvSpPr>
            <a:spLocks noGrp="1"/>
          </p:cNvSpPr>
          <p:nvPr/>
        </p:nvSpPr>
        <p:spPr>
          <a:xfrm>
            <a:off x="762000" y="4505325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6  SCB 教师视角</a:t>
            </a:r>
          </a:p>
        </p:txBody>
      </p:sp>
      <p:sp>
        <p:nvSpPr>
          <p:cNvPr id="68" name="矩形 67">
            <a:extLst>
              <a:ext uri="{FF2B5EF4-FFF2-40B4-BE49-F238E27FC236}">
                <ns2:creationId id="{B3C326E7-67FE-4F4B-B97F-CD2F3F7E0C8E}"/>
              </a:ext>
            </a:extLst>
          </p:cNvPr>
          <p:cNvSpPr>
            <a:spLocks noGrp="1"/>
          </p:cNvSpPr>
          <p:nvPr/>
        </p:nvSpPr>
        <p:spPr>
          <a:xfrm>
            <a:off x="2781300" y="4438650"/>
            <a:ext cx="123825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ns2:creationId id="{6DE7360B-FCE2-4E9E-8073-6739E772984B}"/>
              </a:ext>
            </a:extLst>
          </p:cNvPr>
          <p:cNvSpPr>
            <a:spLocks noGrp="1"/>
          </p:cNvSpPr>
          <p:nvPr/>
        </p:nvSpPr>
        <p:spPr>
          <a:xfrm>
            <a:off x="2857500" y="4505325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视频｜2,918</a:t>
            </a:r>
          </a:p>
        </p:txBody>
      </p:sp>
      <p:sp>
        <p:nvSpPr>
          <p:cNvPr id="70" name="矩形 69">
            <a:extLst>
              <a:ext uri="{FF2B5EF4-FFF2-40B4-BE49-F238E27FC236}">
                <ns2:creationId id="{C5FA83B7-1D48-45CF-A4EB-AFFC34A1FADF}"/>
              </a:ext>
            </a:extLst>
          </p:cNvPr>
          <p:cNvSpPr>
            <a:spLocks noGrp="1"/>
          </p:cNvSpPr>
          <p:nvPr/>
        </p:nvSpPr>
        <p:spPr>
          <a:xfrm>
            <a:off x="4019550" y="4438650"/>
            <a:ext cx="133350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ns2:creationId id="{930406EF-54E8-47C2-8CC6-120CC34B0957}"/>
              </a:ext>
            </a:extLst>
          </p:cNvPr>
          <p:cNvSpPr>
            <a:spLocks noGrp="1"/>
          </p:cNvSpPr>
          <p:nvPr/>
        </p:nvSpPr>
        <p:spPr>
          <a:xfrm>
            <a:off x="4095750" y="4505325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多目标跟踪 / 行为</a:t>
            </a:r>
          </a:p>
        </p:txBody>
      </p:sp>
      <p:sp>
        <p:nvSpPr>
          <p:cNvPr id="72" name="矩形 71">
            <a:extLst>
              <a:ext uri="{FF2B5EF4-FFF2-40B4-BE49-F238E27FC236}">
                <ns2:creationId id="{319BFDD2-43DB-48CD-A1D0-42EA3118FA69}"/>
              </a:ext>
            </a:extLst>
          </p:cNvPr>
          <p:cNvSpPr>
            <a:spLocks noGrp="1"/>
          </p:cNvSpPr>
          <p:nvPr/>
        </p:nvSpPr>
        <p:spPr>
          <a:xfrm>
            <a:off x="5353050" y="4438650"/>
            <a:ext cx="114300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ns2:creationId id="{AE074BE8-5A05-4BDF-99B6-793496402CFC}"/>
              </a:ext>
            </a:extLst>
          </p:cNvPr>
          <p:cNvSpPr>
            <a:spLocks noGrp="1"/>
          </p:cNvSpPr>
          <p:nvPr/>
        </p:nvSpPr>
        <p:spPr>
          <a:xfrm>
            <a:off x="5429250" y="4505325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1.97 GiB</a:t>
            </a:r>
          </a:p>
        </p:txBody>
      </p:sp>
      <p:sp>
        <p:nvSpPr>
          <p:cNvPr id="74" name="矩形 73">
            <a:extLst>
              <a:ext uri="{FF2B5EF4-FFF2-40B4-BE49-F238E27FC236}">
                <ns2:creationId id="{491EA0AF-DFA9-4C1A-B2E0-D6D235CB42F3}"/>
              </a:ext>
            </a:extLst>
          </p:cNvPr>
          <p:cNvSpPr>
            <a:spLocks noGrp="1"/>
          </p:cNvSpPr>
          <p:nvPr/>
        </p:nvSpPr>
        <p:spPr>
          <a:xfrm>
            <a:off x="6496050" y="4438650"/>
            <a:ext cx="501015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ns2:creationId id="{7C7A823B-47A7-42C0-8F4D-BE6C21BA63DB}"/>
              </a:ext>
            </a:extLst>
          </p:cNvPr>
          <p:cNvSpPr>
            <a:spLocks noGrp="1"/>
          </p:cNvSpPr>
          <p:nvPr/>
        </p:nvSpPr>
        <p:spPr>
          <a:xfrm>
            <a:off x="6572250" y="4505325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800×450；教师侧视角；人物尺度、朝向和视线变化更明显</a:t>
            </a:r>
          </a:p>
        </p:txBody>
      </p:sp>
      <p:sp>
        <p:nvSpPr>
          <p:cNvPr id="76" name="矩形 75">
            <a:extLst>
              <a:ext uri="{FF2B5EF4-FFF2-40B4-BE49-F238E27FC236}">
                <ns2:creationId id="{5746C587-9844-446E-9C5D-67C6B77E3F9B}"/>
              </a:ext>
            </a:extLst>
          </p:cNvPr>
          <p:cNvSpPr>
            <a:spLocks noGrp="1"/>
          </p:cNvSpPr>
          <p:nvPr/>
        </p:nvSpPr>
        <p:spPr>
          <a:xfrm>
            <a:off x="685800" y="4848225"/>
            <a:ext cx="209550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ns2:creationId id="{06756FF0-C653-4B14-B945-407F20FFFACC}"/>
              </a:ext>
            </a:extLst>
          </p:cNvPr>
          <p:cNvSpPr>
            <a:spLocks noGrp="1"/>
          </p:cNvSpPr>
          <p:nvPr/>
        </p:nvSpPr>
        <p:spPr>
          <a:xfrm>
            <a:off x="762000" y="4914900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7  SCB 斜上方视角 1</a:t>
            </a:r>
          </a:p>
        </p:txBody>
      </p:sp>
      <p:sp>
        <p:nvSpPr>
          <p:cNvPr id="78" name="矩形 77">
            <a:extLst>
              <a:ext uri="{FF2B5EF4-FFF2-40B4-BE49-F238E27FC236}">
                <ns2:creationId id="{A07BA7D3-8D1C-41E6-9CDB-C65B7FC702FF}"/>
              </a:ext>
            </a:extLst>
          </p:cNvPr>
          <p:cNvSpPr>
            <a:spLocks noGrp="1"/>
          </p:cNvSpPr>
          <p:nvPr/>
        </p:nvSpPr>
        <p:spPr>
          <a:xfrm>
            <a:off x="2781300" y="4848225"/>
            <a:ext cx="123825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ns2:creationId id="{64979BEA-24E2-4D16-841C-A027B615FCA1}"/>
              </a:ext>
            </a:extLst>
          </p:cNvPr>
          <p:cNvSpPr>
            <a:spLocks noGrp="1"/>
          </p:cNvSpPr>
          <p:nvPr/>
        </p:nvSpPr>
        <p:spPr>
          <a:xfrm>
            <a:off x="2857500" y="491490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视频｜2,500</a:t>
            </a:r>
          </a:p>
        </p:txBody>
      </p:sp>
      <p:sp>
        <p:nvSpPr>
          <p:cNvPr id="80" name="矩形 79">
            <a:extLst>
              <a:ext uri="{FF2B5EF4-FFF2-40B4-BE49-F238E27FC236}">
                <ns2:creationId id="{9E503773-93D2-4217-8AF6-927CB08FB9FB}"/>
              </a:ext>
            </a:extLst>
          </p:cNvPr>
          <p:cNvSpPr>
            <a:spLocks noGrp="1"/>
          </p:cNvSpPr>
          <p:nvPr/>
        </p:nvSpPr>
        <p:spPr>
          <a:xfrm>
            <a:off x="4019550" y="4848225"/>
            <a:ext cx="133350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ns2:creationId id="{069CF8A1-A372-4118-BFF7-5D12576CD291}"/>
              </a:ext>
            </a:extLst>
          </p:cNvPr>
          <p:cNvSpPr>
            <a:spLocks noGrp="1"/>
          </p:cNvSpPr>
          <p:nvPr/>
        </p:nvSpPr>
        <p:spPr>
          <a:xfrm>
            <a:off x="4095750" y="4914900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多目标跟踪 / 行为</a:t>
            </a:r>
          </a:p>
        </p:txBody>
      </p:sp>
      <p:sp>
        <p:nvSpPr>
          <p:cNvPr id="82" name="矩形 81">
            <a:extLst>
              <a:ext uri="{FF2B5EF4-FFF2-40B4-BE49-F238E27FC236}">
                <ns2:creationId id="{5CB8743F-4005-495A-9B9D-73E7759C3B90}"/>
              </a:ext>
            </a:extLst>
          </p:cNvPr>
          <p:cNvSpPr>
            <a:spLocks noGrp="1"/>
          </p:cNvSpPr>
          <p:nvPr/>
        </p:nvSpPr>
        <p:spPr>
          <a:xfrm>
            <a:off x="5353050" y="4848225"/>
            <a:ext cx="114300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ns2:creationId id="{58D6EF5A-BC70-4054-860A-DC8B434D52B1}"/>
              </a:ext>
            </a:extLst>
          </p:cNvPr>
          <p:cNvSpPr>
            <a:spLocks noGrp="1"/>
          </p:cNvSpPr>
          <p:nvPr/>
        </p:nvSpPr>
        <p:spPr>
          <a:xfrm>
            <a:off x="5429250" y="491490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2.90 GiB</a:t>
            </a:r>
          </a:p>
        </p:txBody>
      </p:sp>
      <p:sp>
        <p:nvSpPr>
          <p:cNvPr id="84" name="矩形 83">
            <a:extLst>
              <a:ext uri="{FF2B5EF4-FFF2-40B4-BE49-F238E27FC236}">
                <ns2:creationId id="{6EC68CA8-B325-46C6-9785-AE751EBDD369}"/>
              </a:ext>
            </a:extLst>
          </p:cNvPr>
          <p:cNvSpPr>
            <a:spLocks noGrp="1"/>
          </p:cNvSpPr>
          <p:nvPr/>
        </p:nvSpPr>
        <p:spPr>
          <a:xfrm>
            <a:off x="6496050" y="4848225"/>
            <a:ext cx="501015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ns2:creationId id="{3E43F774-2B33-4CBF-8F0D-14D76BEC7799}"/>
              </a:ext>
            </a:extLst>
          </p:cNvPr>
          <p:cNvSpPr>
            <a:spLocks noGrp="1"/>
          </p:cNvSpPr>
          <p:nvPr/>
        </p:nvSpPr>
        <p:spPr>
          <a:xfrm>
            <a:off x="6572250" y="491490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800×450；斜上方机位；前后排层级和遮挡关系更明显</a:t>
            </a:r>
          </a:p>
        </p:txBody>
      </p:sp>
      <p:sp>
        <p:nvSpPr>
          <p:cNvPr id="86" name="矩形 85">
            <a:extLst>
              <a:ext uri="{FF2B5EF4-FFF2-40B4-BE49-F238E27FC236}">
                <ns2:creationId id="{EEDDF8B7-A220-4D17-A62E-324F77394A7E}"/>
              </a:ext>
            </a:extLst>
          </p:cNvPr>
          <p:cNvSpPr>
            <a:spLocks noGrp="1"/>
          </p:cNvSpPr>
          <p:nvPr/>
        </p:nvSpPr>
        <p:spPr>
          <a:xfrm>
            <a:off x="685800" y="5257800"/>
            <a:ext cx="209550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ns2:creationId id="{A3807BEF-70DF-43D4-944B-C1B6C00B9D08}"/>
              </a:ext>
            </a:extLst>
          </p:cNvPr>
          <p:cNvSpPr>
            <a:spLocks noGrp="1"/>
          </p:cNvSpPr>
          <p:nvPr/>
        </p:nvSpPr>
        <p:spPr>
          <a:xfrm>
            <a:off x="762000" y="5324475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8  SCB 斜上方视角 2</a:t>
            </a:r>
          </a:p>
        </p:txBody>
      </p:sp>
      <p:sp>
        <p:nvSpPr>
          <p:cNvPr id="88" name="矩形 87">
            <a:extLst>
              <a:ext uri="{FF2B5EF4-FFF2-40B4-BE49-F238E27FC236}">
                <ns2:creationId id="{CC34862E-FA4E-4E1B-97B2-C4F34BEE6391}"/>
              </a:ext>
            </a:extLst>
          </p:cNvPr>
          <p:cNvSpPr>
            <a:spLocks noGrp="1"/>
          </p:cNvSpPr>
          <p:nvPr/>
        </p:nvSpPr>
        <p:spPr>
          <a:xfrm>
            <a:off x="2781300" y="5257800"/>
            <a:ext cx="123825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ns2:creationId id="{F2F43B1F-FA2A-48CF-A596-574C1A8CAE04}"/>
              </a:ext>
            </a:extLst>
          </p:cNvPr>
          <p:cNvSpPr>
            <a:spLocks noGrp="1"/>
          </p:cNvSpPr>
          <p:nvPr/>
        </p:nvSpPr>
        <p:spPr>
          <a:xfrm>
            <a:off x="2857500" y="5324475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视频｜2,281</a:t>
            </a:r>
          </a:p>
        </p:txBody>
      </p:sp>
      <p:sp>
        <p:nvSpPr>
          <p:cNvPr id="90" name="矩形 89">
            <a:extLst>
              <a:ext uri="{FF2B5EF4-FFF2-40B4-BE49-F238E27FC236}">
                <ns2:creationId id="{D53179EB-63F0-41F8-8169-7BDF38524886}"/>
              </a:ext>
            </a:extLst>
          </p:cNvPr>
          <p:cNvSpPr>
            <a:spLocks noGrp="1"/>
          </p:cNvSpPr>
          <p:nvPr/>
        </p:nvSpPr>
        <p:spPr>
          <a:xfrm>
            <a:off x="4019550" y="5257800"/>
            <a:ext cx="133350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ns2:creationId id="{AC497399-129D-4119-85B1-141DE9301E23}"/>
              </a:ext>
            </a:extLst>
          </p:cNvPr>
          <p:cNvSpPr>
            <a:spLocks noGrp="1"/>
          </p:cNvSpPr>
          <p:nvPr/>
        </p:nvSpPr>
        <p:spPr>
          <a:xfrm>
            <a:off x="4095750" y="5324475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多目标跟踪 / 行为</a:t>
            </a:r>
          </a:p>
        </p:txBody>
      </p:sp>
      <p:sp>
        <p:nvSpPr>
          <p:cNvPr id="92" name="矩形 91">
            <a:extLst>
              <a:ext uri="{FF2B5EF4-FFF2-40B4-BE49-F238E27FC236}">
                <ns2:creationId id="{ED5BF17B-EBEB-429A-9837-C5C3981B14AF}"/>
              </a:ext>
            </a:extLst>
          </p:cNvPr>
          <p:cNvSpPr>
            <a:spLocks noGrp="1"/>
          </p:cNvSpPr>
          <p:nvPr/>
        </p:nvSpPr>
        <p:spPr>
          <a:xfrm>
            <a:off x="5353050" y="5257800"/>
            <a:ext cx="114300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ns2:creationId id="{3322BFA8-899C-4C8F-9D03-904C99B17B36}"/>
              </a:ext>
            </a:extLst>
          </p:cNvPr>
          <p:cNvSpPr>
            <a:spLocks noGrp="1"/>
          </p:cNvSpPr>
          <p:nvPr/>
        </p:nvSpPr>
        <p:spPr>
          <a:xfrm>
            <a:off x="5429250" y="5324475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2.46 GiB</a:t>
            </a:r>
          </a:p>
        </p:txBody>
      </p:sp>
      <p:sp>
        <p:nvSpPr>
          <p:cNvPr id="94" name="矩形 93">
            <a:extLst>
              <a:ext uri="{FF2B5EF4-FFF2-40B4-BE49-F238E27FC236}">
                <ns2:creationId id="{518203ED-C14D-47AA-8D88-726D5E89CF2D}"/>
              </a:ext>
            </a:extLst>
          </p:cNvPr>
          <p:cNvSpPr>
            <a:spLocks noGrp="1"/>
          </p:cNvSpPr>
          <p:nvPr/>
        </p:nvSpPr>
        <p:spPr>
          <a:xfrm>
            <a:off x="6496050" y="5257800"/>
            <a:ext cx="5010150" cy="409575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ns2:creationId id="{4E3AD8EE-2EA3-4AB4-AE99-31198210D18F}"/>
              </a:ext>
            </a:extLst>
          </p:cNvPr>
          <p:cNvSpPr>
            <a:spLocks noGrp="1"/>
          </p:cNvSpPr>
          <p:nvPr/>
        </p:nvSpPr>
        <p:spPr>
          <a:xfrm>
            <a:off x="6572250" y="5324475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800×450；另一斜上方机位；适合做跨视角泛化比较</a:t>
            </a:r>
          </a:p>
        </p:txBody>
      </p:sp>
      <p:sp>
        <p:nvSpPr>
          <p:cNvPr id="96" name="矩形 95">
            <a:extLst>
              <a:ext uri="{FF2B5EF4-FFF2-40B4-BE49-F238E27FC236}">
                <ns2:creationId id="{990434A2-5F45-4B86-BE5E-255E48E3FB2D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209550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ns2:creationId id="{4D7C382A-BC3E-4BFC-A672-F1906D5006AE}"/>
              </a:ext>
            </a:extLst>
          </p:cNvPr>
          <p:cNvSpPr>
            <a:spLocks noGrp="1"/>
          </p:cNvSpPr>
          <p:nvPr/>
        </p:nvSpPr>
        <p:spPr>
          <a:xfrm>
            <a:off x="762000" y="5734050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9  SCB 后方视角</a:t>
            </a:r>
          </a:p>
        </p:txBody>
      </p:sp>
      <p:sp>
        <p:nvSpPr>
          <p:cNvPr id="98" name="矩形 97">
            <a:extLst>
              <a:ext uri="{FF2B5EF4-FFF2-40B4-BE49-F238E27FC236}">
                <ns2:creationId id="{45960981-6987-4DA9-9F10-536182DF4442}"/>
              </a:ext>
            </a:extLst>
          </p:cNvPr>
          <p:cNvSpPr>
            <a:spLocks noGrp="1"/>
          </p:cNvSpPr>
          <p:nvPr/>
        </p:nvSpPr>
        <p:spPr>
          <a:xfrm>
            <a:off x="2781300" y="5667375"/>
            <a:ext cx="123825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ns2:creationId id="{A6280690-3E09-4514-A9CD-61F110C9C636}"/>
              </a:ext>
            </a:extLst>
          </p:cNvPr>
          <p:cNvSpPr>
            <a:spLocks noGrp="1"/>
          </p:cNvSpPr>
          <p:nvPr/>
        </p:nvSpPr>
        <p:spPr>
          <a:xfrm>
            <a:off x="2857500" y="5734050"/>
            <a:ext cx="1085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视频｜4,544</a:t>
            </a:r>
          </a:p>
        </p:txBody>
      </p:sp>
      <p:sp>
        <p:nvSpPr>
          <p:cNvPr id="100" name="矩形 99">
            <a:extLst>
              <a:ext uri="{FF2B5EF4-FFF2-40B4-BE49-F238E27FC236}">
                <ns2:creationId id="{0153A254-C261-4D33-B7D1-C50494D257ED}"/>
              </a:ext>
            </a:extLst>
          </p:cNvPr>
          <p:cNvSpPr>
            <a:spLocks noGrp="1"/>
          </p:cNvSpPr>
          <p:nvPr/>
        </p:nvSpPr>
        <p:spPr>
          <a:xfrm>
            <a:off x="4019550" y="5667375"/>
            <a:ext cx="133350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ns2:creationId id="{A40D5DA4-709E-47F4-AAD7-0D8BD8DE2CB8}"/>
              </a:ext>
            </a:extLst>
          </p:cNvPr>
          <p:cNvSpPr>
            <a:spLocks noGrp="1"/>
          </p:cNvSpPr>
          <p:nvPr/>
        </p:nvSpPr>
        <p:spPr>
          <a:xfrm>
            <a:off x="4095750" y="5734050"/>
            <a:ext cx="1181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多目标跟踪 / 行为</a:t>
            </a:r>
          </a:p>
        </p:txBody>
      </p:sp>
      <p:sp>
        <p:nvSpPr>
          <p:cNvPr id="102" name="矩形 101">
            <a:extLst>
              <a:ext uri="{FF2B5EF4-FFF2-40B4-BE49-F238E27FC236}">
                <ns2:creationId id="{E5793A9E-FA8E-4F2C-BB8C-1650D54B0712}"/>
              </a:ext>
            </a:extLst>
          </p:cNvPr>
          <p:cNvSpPr>
            <a:spLocks noGrp="1"/>
          </p:cNvSpPr>
          <p:nvPr/>
        </p:nvSpPr>
        <p:spPr>
          <a:xfrm>
            <a:off x="5353050" y="5667375"/>
            <a:ext cx="114300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ns2:creationId id="{872131AE-1A2F-405D-9FA3-AF47778D9A38}"/>
              </a:ext>
            </a:extLst>
          </p:cNvPr>
          <p:cNvSpPr>
            <a:spLocks noGrp="1"/>
          </p:cNvSpPr>
          <p:nvPr/>
        </p:nvSpPr>
        <p:spPr>
          <a:xfrm>
            <a:off x="5429250" y="573405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80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3.55 GiB</a:t>
            </a:r>
          </a:p>
        </p:txBody>
      </p:sp>
      <p:sp>
        <p:nvSpPr>
          <p:cNvPr id="104" name="矩形 103">
            <a:extLst>
              <a:ext uri="{FF2B5EF4-FFF2-40B4-BE49-F238E27FC236}">
                <ns2:creationId id="{32C93089-FA39-4DFD-A91B-03F855EEF5C5}"/>
              </a:ext>
            </a:extLst>
          </p:cNvPr>
          <p:cNvSpPr>
            <a:spLocks noGrp="1"/>
          </p:cNvSpPr>
          <p:nvPr/>
        </p:nvSpPr>
        <p:spPr>
          <a:xfrm>
            <a:off x="6496050" y="5667375"/>
            <a:ext cx="5010150" cy="409575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ns2:creationId id="{F3E044BC-9D91-4026-BB42-02917DB05D3C}"/>
              </a:ext>
            </a:extLst>
          </p:cNvPr>
          <p:cNvSpPr>
            <a:spLocks noGrp="1"/>
          </p:cNvSpPr>
          <p:nvPr/>
        </p:nvSpPr>
        <p:spPr>
          <a:xfrm>
            <a:off x="6572250" y="573405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6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800×450；后方机位；背向和小目标更多；适合远距离、遮挡和跟踪实验</a:t>
            </a:r>
          </a:p>
        </p:txBody>
      </p:sp>
      <p:sp>
        <p:nvSpPr>
          <p:cNvPr id="106" name="矩形: 圆角 105">
            <a:extLst>
              <a:ext uri="{FF2B5EF4-FFF2-40B4-BE49-F238E27FC236}">
                <ns2:creationId id="{E5CC59D0-2990-4D05-9297-F8550D5E9E00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820400" cy="361950"/>
          </a:xfrm>
          <a:prstGeom prst="roundRect">
            <a:avLst>
              <a:gd name="adj" fmla="val 31579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/>
          <p:cNvSpPr/>
          <p:nvPr/>
        </p:nvSpPr>
        <p:spPr>
          <a:xfrm>
            <a:off x="857250" y="6057900"/>
            <a:ext cx="104775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90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原表第 1–9 行为原有数据包；新增 SCB 数据包请见下一页第 10–14 行续表。</a:t>
            </a:r>
          </a:p>
        </p:txBody>
      </p:sp>
      <p:sp>
        <p:nvSpPr>
          <p:cNvPr id="108" name="直接连接符 107">
            <a:extLst>
              <a:ext uri="{FF2B5EF4-FFF2-40B4-BE49-F238E27FC236}">
                <ns2:creationId id="{D7FDC8A2-975B-404C-BBCF-F20BC6731F0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ns2:creationId id="{83E77510-4657-402C-8F08-D5B64F3DD89A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数据资源</a:t>
            </a:r>
          </a:p>
        </p:txBody>
      </p:sp>
      <p:sp>
        <p:nvSpPr>
          <p:cNvPr id="110" name="矩形 109">
            <a:extLst>
              <a:ext uri="{FF2B5EF4-FFF2-40B4-BE49-F238E27FC236}">
                <ns2:creationId id="{A0482E70-A7CF-4115-A156-0396B7439FA7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val="1692020369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81038" y="381000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B6D66"/>
                </a:solidFill>
                <a:latin typeface="Microsoft YaHei"/>
                <a:ea typeface="Microsoft YaHei"/>
                <a:cs typeface="Microsoft YaHei"/>
              </a:rPr>
              <a:t>数据资源整理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11032937" y="342900"/>
            <a:ext cx="30790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6B756F"/>
                </a:solidFill>
                <a:latin typeface="Microsoft YaHei"/>
                <a:ea typeface="Microsoft YaHei"/>
                <a:cs typeface="Microsoft YaHei"/>
              </a:rPr>
              <a:t>05B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72846" y="692150"/>
            <a:ext cx="5414983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数据包 10–14：新增 SCB 版本续表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352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7DED8"/>
            </a:solidFill>
          </a:ln>
        </p:spPr>
      </p:sp>
      <p:sp>
        <p:nvSpPr>
          <p:cNvPr id="7" name="intro"/>
          <p:cNvSpPr txBox="1"/>
          <p:nvPr/>
        </p:nvSpPr>
        <p:spPr>
          <a:xfrm>
            <a:off x="679704" y="1562100"/>
            <a:ext cx="55289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56F"/>
                </a:solidFill>
                <a:latin typeface="Microsoft YaHei"/>
                <a:ea typeface="Microsoft YaHei"/>
                <a:cs typeface="Microsoft YaHei"/>
              </a:rPr>
              <a:t>以下行沿用第 5 页的字段：来源、模态与规模、任务、归档大小和关键特点。</a:t>
            </a:r>
          </a:p>
        </p:txBody>
      </p:sp>
      <p:sp>
        <p:nvSpPr>
          <p:cNvPr id="8" name="bh0"/>
          <p:cNvSpPr/>
          <p:nvPr/>
        </p:nvSpPr>
        <p:spPr>
          <a:xfrm>
            <a:off x="685800" y="1981200"/>
            <a:ext cx="2095500" cy="409575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</a:ln>
        </p:spPr>
      </p:sp>
      <p:sp>
        <p:nvSpPr>
          <p:cNvPr id="9" name="bt0"/>
          <p:cNvSpPr txBox="1"/>
          <p:nvPr/>
        </p:nvSpPr>
        <p:spPr>
          <a:xfrm>
            <a:off x="757238" y="2111375"/>
            <a:ext cx="644622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6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数据包 / 来源</a:t>
            </a:r>
          </a:p>
        </p:txBody>
      </p:sp>
      <p:sp>
        <p:nvSpPr>
          <p:cNvPr id="10" name="bh1"/>
          <p:cNvSpPr/>
          <p:nvPr/>
        </p:nvSpPr>
        <p:spPr>
          <a:xfrm>
            <a:off x="2781300" y="1981200"/>
            <a:ext cx="1238250" cy="409575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</a:ln>
        </p:spPr>
      </p:sp>
      <p:sp>
        <p:nvSpPr>
          <p:cNvPr id="11" name="bt1"/>
          <p:cNvSpPr txBox="1"/>
          <p:nvPr/>
        </p:nvSpPr>
        <p:spPr>
          <a:xfrm>
            <a:off x="3139884" y="2111375"/>
            <a:ext cx="521081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6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模态与规模</a:t>
            </a:r>
          </a:p>
        </p:txBody>
      </p:sp>
      <p:sp>
        <p:nvSpPr>
          <p:cNvPr id="12" name="bh2"/>
          <p:cNvSpPr/>
          <p:nvPr/>
        </p:nvSpPr>
        <p:spPr>
          <a:xfrm>
            <a:off x="4019550" y="1981200"/>
            <a:ext cx="1333500" cy="409575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</a:ln>
        </p:spPr>
      </p:sp>
      <p:sp>
        <p:nvSpPr>
          <p:cNvPr id="13" name="bt2"/>
          <p:cNvSpPr txBox="1"/>
          <p:nvPr/>
        </p:nvSpPr>
        <p:spPr>
          <a:xfrm>
            <a:off x="4476915" y="2111375"/>
            <a:ext cx="418770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6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主要任务</a:t>
            </a:r>
          </a:p>
        </p:txBody>
      </p:sp>
      <p:sp>
        <p:nvSpPr>
          <p:cNvPr id="14" name="bh3"/>
          <p:cNvSpPr/>
          <p:nvPr/>
        </p:nvSpPr>
        <p:spPr>
          <a:xfrm>
            <a:off x="5353050" y="1981200"/>
            <a:ext cx="1333500" cy="409575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</a:ln>
        </p:spPr>
      </p:sp>
      <p:sp>
        <p:nvSpPr>
          <p:cNvPr id="15" name="bt3"/>
          <p:cNvSpPr txBox="1"/>
          <p:nvPr/>
        </p:nvSpPr>
        <p:spPr>
          <a:xfrm>
            <a:off x="5759260" y="2111375"/>
            <a:ext cx="521081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6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原归档大小</a:t>
            </a:r>
          </a:p>
        </p:txBody>
      </p:sp>
      <p:sp>
        <p:nvSpPr>
          <p:cNvPr id="16" name="bh4"/>
          <p:cNvSpPr/>
          <p:nvPr/>
        </p:nvSpPr>
        <p:spPr>
          <a:xfrm>
            <a:off x="6686550" y="1981200"/>
            <a:ext cx="4819650" cy="409575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</a:ln>
        </p:spPr>
      </p:sp>
      <p:sp>
        <p:nvSpPr>
          <p:cNvPr id="17" name="bt4"/>
          <p:cNvSpPr txBox="1"/>
          <p:nvPr/>
        </p:nvSpPr>
        <p:spPr>
          <a:xfrm>
            <a:off x="8068500" y="2111375"/>
            <a:ext cx="2055749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6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关键特点（标签、分辨率、视角与处理状态）</a:t>
            </a:r>
          </a:p>
        </p:txBody>
      </p:sp>
      <p:sp>
        <p:nvSpPr>
          <p:cNvPr id="18" name="rr0"/>
          <p:cNvSpPr/>
          <p:nvPr/>
        </p:nvSpPr>
        <p:spPr>
          <a:xfrm>
            <a:off x="685800" y="2390775"/>
            <a:ext cx="10820400" cy="74295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</a:ln>
        </p:spPr>
      </p:sp>
      <p:sp>
        <p:nvSpPr>
          <p:cNvPr id="19" name="rc0_0"/>
          <p:cNvSpPr txBox="1"/>
          <p:nvPr/>
        </p:nvSpPr>
        <p:spPr>
          <a:xfrm>
            <a:off x="757238" y="2587625"/>
            <a:ext cx="551002" cy="149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6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10 Discuss</a:t>
            </a:r>
          </a:p>
        </p:txBody>
      </p:sp>
      <p:sp>
        <p:nvSpPr>
          <p:cNvPr id="20" name="rc0_1"/>
          <p:cNvSpPr txBox="1"/>
          <p:nvPr/>
        </p:nvSpPr>
        <p:spPr>
          <a:xfrm>
            <a:off x="3157789" y="2587625"/>
            <a:ext cx="485272" cy="149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6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图片｜864</a:t>
            </a:r>
          </a:p>
        </p:txBody>
      </p:sp>
      <p:sp>
        <p:nvSpPr>
          <p:cNvPr id="21" name="rc0_2"/>
          <p:cNvSpPr txBox="1"/>
          <p:nvPr/>
        </p:nvSpPr>
        <p:spPr>
          <a:xfrm>
            <a:off x="4476915" y="2587625"/>
            <a:ext cx="418770" cy="149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6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讨论检测</a:t>
            </a:r>
          </a:p>
        </p:txBody>
      </p:sp>
      <p:sp>
        <p:nvSpPr>
          <p:cNvPr id="22" name="rc0_3"/>
          <p:cNvSpPr txBox="1"/>
          <p:nvPr/>
        </p:nvSpPr>
        <p:spPr>
          <a:xfrm>
            <a:off x="5634749" y="2587625"/>
            <a:ext cx="770103" cy="149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6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原归档约116 MB</a:t>
            </a:r>
          </a:p>
        </p:txBody>
      </p:sp>
      <p:sp>
        <p:nvSpPr>
          <p:cNvPr id="23" name="rc0_4"/>
          <p:cNvSpPr txBox="1"/>
          <p:nvPr/>
        </p:nvSpPr>
        <p:spPr>
          <a:xfrm>
            <a:off x="7225012" y="2587625"/>
            <a:ext cx="3742726" cy="149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6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605 train / 259 val；单类 discuss；YOLO TXT；训练输入640；专用 YOLOv7。</a:t>
            </a:r>
          </a:p>
        </p:txBody>
      </p:sp>
      <p:sp>
        <p:nvSpPr>
          <p:cNvPr id="24" name="rr1"/>
          <p:cNvSpPr/>
          <p:nvPr/>
        </p:nvSpPr>
        <p:spPr>
          <a:xfrm>
            <a:off x="685800" y="3133725"/>
            <a:ext cx="10820400" cy="742950"/>
          </a:xfrm>
          <a:prstGeom prst="rect">
            <a:avLst/>
          </a:prstGeom>
          <a:solidFill>
            <a:srgbClr val="EEF4EF"/>
          </a:solidFill>
          <a:ln w="9525">
            <a:solidFill>
              <a:srgbClr val="D7DED8"/>
            </a:solidFill>
          </a:ln>
        </p:spPr>
      </p:sp>
      <p:sp>
        <p:nvSpPr>
          <p:cNvPr id="25" name="rc1_0"/>
          <p:cNvSpPr txBox="1"/>
          <p:nvPr/>
        </p:nvSpPr>
        <p:spPr>
          <a:xfrm>
            <a:off x="757238" y="3330575"/>
            <a:ext cx="1054293" cy="149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6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11 Hand/Read/Write</a:t>
            </a:r>
          </a:p>
        </p:txBody>
      </p:sp>
      <p:sp>
        <p:nvSpPr>
          <p:cNvPr id="26" name="rc1_1"/>
          <p:cNvSpPr txBox="1"/>
          <p:nvPr/>
        </p:nvSpPr>
        <p:spPr>
          <a:xfrm>
            <a:off x="3101518" y="3330575"/>
            <a:ext cx="597814" cy="149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6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图片｜6,864</a:t>
            </a:r>
          </a:p>
        </p:txBody>
      </p:sp>
      <p:sp>
        <p:nvSpPr>
          <p:cNvPr id="27" name="rc1_2"/>
          <p:cNvSpPr txBox="1"/>
          <p:nvPr/>
        </p:nvSpPr>
        <p:spPr>
          <a:xfrm>
            <a:off x="4374604" y="3330575"/>
            <a:ext cx="623392" cy="149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6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学生行为检测</a:t>
            </a:r>
          </a:p>
        </p:txBody>
      </p:sp>
      <p:sp>
        <p:nvSpPr>
          <p:cNvPr id="28" name="rc1_3"/>
          <p:cNvSpPr txBox="1"/>
          <p:nvPr/>
        </p:nvSpPr>
        <p:spPr>
          <a:xfrm>
            <a:off x="5634749" y="3330575"/>
            <a:ext cx="770103" cy="149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6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原归档约743 MB</a:t>
            </a:r>
          </a:p>
        </p:txBody>
      </p:sp>
      <p:sp>
        <p:nvSpPr>
          <p:cNvPr id="29" name="rc1_4"/>
          <p:cNvSpPr txBox="1"/>
          <p:nvPr/>
        </p:nvSpPr>
        <p:spPr>
          <a:xfrm>
            <a:off x="7005043" y="3330575"/>
            <a:ext cx="4182664" cy="149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6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5,193 train / 1,671 val；举手、阅读、写字；YOLO TXT；训练输入640；专用 YOLOv7。</a:t>
            </a:r>
          </a:p>
        </p:txBody>
      </p:sp>
      <p:sp>
        <p:nvSpPr>
          <p:cNvPr id="30" name="rr2"/>
          <p:cNvSpPr/>
          <p:nvPr/>
        </p:nvSpPr>
        <p:spPr>
          <a:xfrm>
            <a:off x="685800" y="3876675"/>
            <a:ext cx="10820400" cy="74295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</a:ln>
        </p:spPr>
      </p:sp>
      <p:sp>
        <p:nvSpPr>
          <p:cNvPr id="31" name="rc2_0"/>
          <p:cNvSpPr txBox="1"/>
          <p:nvPr/>
        </p:nvSpPr>
        <p:spPr>
          <a:xfrm>
            <a:off x="757238" y="4073525"/>
            <a:ext cx="904023" cy="149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6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12 Bow/TurnHead</a:t>
            </a:r>
          </a:p>
        </p:txBody>
      </p:sp>
      <p:sp>
        <p:nvSpPr>
          <p:cNvPr id="32" name="rc2_1"/>
          <p:cNvSpPr txBox="1"/>
          <p:nvPr/>
        </p:nvSpPr>
        <p:spPr>
          <a:xfrm>
            <a:off x="3101518" y="4073525"/>
            <a:ext cx="597814" cy="149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6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图片｜2,410</a:t>
            </a:r>
          </a:p>
        </p:txBody>
      </p:sp>
      <p:sp>
        <p:nvSpPr>
          <p:cNvPr id="33" name="rc2_2"/>
          <p:cNvSpPr txBox="1"/>
          <p:nvPr/>
        </p:nvSpPr>
        <p:spPr>
          <a:xfrm>
            <a:off x="4244157" y="4073525"/>
            <a:ext cx="884286" cy="149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6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头部姿态/行为检测</a:t>
            </a:r>
          </a:p>
        </p:txBody>
      </p:sp>
      <p:sp>
        <p:nvSpPr>
          <p:cNvPr id="34" name="rc2_3"/>
          <p:cNvSpPr txBox="1"/>
          <p:nvPr/>
        </p:nvSpPr>
        <p:spPr>
          <a:xfrm>
            <a:off x="5634749" y="4073525"/>
            <a:ext cx="770103" cy="149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6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原归档约301 MB</a:t>
            </a:r>
          </a:p>
        </p:txBody>
      </p:sp>
      <p:sp>
        <p:nvSpPr>
          <p:cNvPr id="35" name="rc2_4"/>
          <p:cNvSpPr txBox="1"/>
          <p:nvPr/>
        </p:nvSpPr>
        <p:spPr>
          <a:xfrm>
            <a:off x="6968269" y="4073525"/>
            <a:ext cx="4256212" cy="149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6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1,905 train / 505 val；低头、转头；YOLO TXT；训练输入640；指标偏低，适合困难案例。</a:t>
            </a:r>
          </a:p>
        </p:txBody>
      </p:sp>
      <p:sp>
        <p:nvSpPr>
          <p:cNvPr id="36" name="rr3"/>
          <p:cNvSpPr/>
          <p:nvPr/>
        </p:nvSpPr>
        <p:spPr>
          <a:xfrm>
            <a:off x="685800" y="4619625"/>
            <a:ext cx="10820400" cy="742950"/>
          </a:xfrm>
          <a:prstGeom prst="rect">
            <a:avLst/>
          </a:prstGeom>
          <a:solidFill>
            <a:srgbClr val="EEF4EF"/>
          </a:solidFill>
          <a:ln w="9525">
            <a:solidFill>
              <a:srgbClr val="D7DED8"/>
            </a:solidFill>
          </a:ln>
        </p:spPr>
      </p:sp>
      <p:sp>
        <p:nvSpPr>
          <p:cNvPr id="37" name="rc3_0"/>
          <p:cNvSpPr txBox="1"/>
          <p:nvPr/>
        </p:nvSpPr>
        <p:spPr>
          <a:xfrm>
            <a:off x="757238" y="4816475"/>
            <a:ext cx="1059429" cy="149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6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13 Teacher Behavior</a:t>
            </a:r>
          </a:p>
        </p:txBody>
      </p:sp>
      <p:sp>
        <p:nvSpPr>
          <p:cNvPr id="38" name="rc3_1"/>
          <p:cNvSpPr txBox="1"/>
          <p:nvPr/>
        </p:nvSpPr>
        <p:spPr>
          <a:xfrm>
            <a:off x="3073382" y="4816475"/>
            <a:ext cx="654086" cy="149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6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图片｜12,224</a:t>
            </a:r>
          </a:p>
        </p:txBody>
      </p:sp>
      <p:sp>
        <p:nvSpPr>
          <p:cNvPr id="39" name="rc3_2"/>
          <p:cNvSpPr txBox="1"/>
          <p:nvPr/>
        </p:nvSpPr>
        <p:spPr>
          <a:xfrm>
            <a:off x="4244157" y="4816475"/>
            <a:ext cx="884286" cy="149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6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教师/课堂元素检测</a:t>
            </a:r>
          </a:p>
        </p:txBody>
      </p:sp>
      <p:sp>
        <p:nvSpPr>
          <p:cNvPr id="40" name="rc3_3"/>
          <p:cNvSpPr txBox="1"/>
          <p:nvPr/>
        </p:nvSpPr>
        <p:spPr>
          <a:xfrm>
            <a:off x="5615831" y="4816475"/>
            <a:ext cx="807938" cy="149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6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原归档约1.54 GB</a:t>
            </a:r>
          </a:p>
        </p:txBody>
      </p:sp>
      <p:sp>
        <p:nvSpPr>
          <p:cNvPr id="41" name="rc3_4"/>
          <p:cNvSpPr txBox="1"/>
          <p:nvPr/>
        </p:nvSpPr>
        <p:spPr>
          <a:xfrm>
            <a:off x="7201027" y="4816475"/>
            <a:ext cx="3790696" cy="149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6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8,984 train / 3,240 val；教师、黑板、屏幕、互动；YOLO TXT；另有重复副本。</a:t>
            </a:r>
          </a:p>
        </p:txBody>
      </p:sp>
      <p:sp>
        <p:nvSpPr>
          <p:cNvPr id="42" name="rr4"/>
          <p:cNvSpPr/>
          <p:nvPr/>
        </p:nvSpPr>
        <p:spPr>
          <a:xfrm>
            <a:off x="685800" y="5362575"/>
            <a:ext cx="10820400" cy="74295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</a:ln>
        </p:spPr>
      </p:sp>
      <p:sp>
        <p:nvSpPr>
          <p:cNvPr id="43" name="rc4_0"/>
          <p:cNvSpPr txBox="1"/>
          <p:nvPr/>
        </p:nvSpPr>
        <p:spPr>
          <a:xfrm>
            <a:off x="757238" y="5559425"/>
            <a:ext cx="628141" cy="149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6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14 SCB_LLM</a:t>
            </a:r>
          </a:p>
        </p:txBody>
      </p:sp>
      <p:sp>
        <p:nvSpPr>
          <p:cNvPr id="44" name="rc4_1"/>
          <p:cNvSpPr txBox="1"/>
          <p:nvPr/>
        </p:nvSpPr>
        <p:spPr>
          <a:xfrm>
            <a:off x="2862776" y="5559425"/>
            <a:ext cx="1075299" cy="149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6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图片+JSON｜约21,019</a:t>
            </a:r>
          </a:p>
        </p:txBody>
      </p:sp>
      <p:sp>
        <p:nvSpPr>
          <p:cNvPr id="45" name="rc4_2"/>
          <p:cNvSpPr txBox="1"/>
          <p:nvPr/>
        </p:nvSpPr>
        <p:spPr>
          <a:xfrm>
            <a:off x="4118826" y="5559425"/>
            <a:ext cx="1134948" cy="149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6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中文多模态课堂行为分类</a:t>
            </a:r>
          </a:p>
        </p:txBody>
      </p:sp>
      <p:sp>
        <p:nvSpPr>
          <p:cNvPr id="46" name="rc4_3"/>
          <p:cNvSpPr txBox="1"/>
          <p:nvPr/>
        </p:nvSpPr>
        <p:spPr>
          <a:xfrm>
            <a:off x="5586103" y="5559425"/>
            <a:ext cx="867395" cy="149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6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原文件约10.36 GB</a:t>
            </a:r>
          </a:p>
        </p:txBody>
      </p:sp>
      <p:sp>
        <p:nvSpPr>
          <p:cNvPr id="47" name="rc4_4"/>
          <p:cNvSpPr txBox="1"/>
          <p:nvPr/>
        </p:nvSpPr>
        <p:spPr>
          <a:xfrm>
            <a:off x="7178229" y="5559425"/>
            <a:ext cx="3836292" cy="149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6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学生9类 + 教师7类；中文 prompt + JSON；按视频前缀划分；Qwen仅有评估记录。</a:t>
            </a:r>
          </a:p>
        </p:txBody>
      </p:sp>
      <p:sp>
        <p:nvSpPr>
          <p:cNvPr id="48" name="bnote"/>
          <p:cNvSpPr/>
          <p:nvPr/>
        </p:nvSpPr>
        <p:spPr>
          <a:xfrm>
            <a:off x="685800" y="6191250"/>
            <a:ext cx="10820400" cy="266700"/>
          </a:xfrm>
          <a:prstGeom prst="roundRect">
            <a:avLst>
              <a:gd name="adj" fmla="val 28571"/>
            </a:avLst>
          </a:prstGeom>
          <a:solidFill>
            <a:srgbClr val="FFF1E7"/>
          </a:solidFill>
          <a:ln w="9525">
            <a:solidFill>
              <a:srgbClr val="D27A55"/>
            </a:solidFill>
          </a:ln>
        </p:spPr>
      </p:sp>
      <p:sp>
        <p:nvSpPr>
          <p:cNvPr id="49" name="bntext"/>
          <p:cNvSpPr txBox="1"/>
          <p:nvPr/>
        </p:nvSpPr>
        <p:spPr>
          <a:xfrm>
            <a:off x="871538" y="6270625"/>
            <a:ext cx="5200950" cy="1552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9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归档大小为删除前统计的 ZIP/文件夹大小；原始目录已清理，模型文件另存于 D:\数据处理1\课堂视觉模型。</a:t>
            </a:r>
          </a:p>
        </p:txBody>
      </p:sp>
      <p:sp>
        <p:nvSpPr>
          <p:cNvPr id="50" name="Line 50"/>
          <p:cNvSpPr/>
          <p:nvPr/>
        </p:nvSpPr>
        <p:spPr>
          <a:xfrm>
            <a:off x="685800" y="6477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7DED8"/>
            </a:solidFill>
          </a:ln>
        </p:spPr>
      </p:sp>
      <p:sp>
        <p:nvSpPr>
          <p:cNvPr id="51" name="footer-left"/>
          <p:cNvSpPr txBox="1"/>
          <p:nvPr/>
        </p:nvSpPr>
        <p:spPr>
          <a:xfrm>
            <a:off x="681038" y="6616700"/>
            <a:ext cx="351650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B756F"/>
                </a:solidFill>
                <a:latin typeface="Microsoft YaHei"/>
                <a:ea typeface="Microsoft YaHei"/>
                <a:cs typeface="Microsoft YaHei"/>
              </a:rPr>
              <a:t>新增数据集来源：GitHub SCB-Dataset；详细标签和指标见新增 Excel 索引。</a:t>
            </a:r>
          </a:p>
        </p:txBody>
      </p:sp>
      <p:sp>
        <p:nvSpPr>
          <p:cNvPr id="52" name="footer-right"/>
          <p:cNvSpPr txBox="1"/>
          <p:nvPr/>
        </p:nvSpPr>
        <p:spPr>
          <a:xfrm>
            <a:off x="10592752" y="6616700"/>
            <a:ext cx="9182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6B756F"/>
                </a:solidFill>
                <a:latin typeface="Microsoft YaHei"/>
                <a:ea typeface="Microsoft YaHei"/>
                <a:cs typeface="Microsoft YaHei"/>
              </a:rPr>
              <a:t>课堂视觉数据处理台</a:t>
            </a:r>
          </a:p>
        </p:txBody>
      </p:sp>
    </p:spTree>
    <p:extLst>
      <p:ext uri="{BB962C8B-B14F-4D97-AF65-F5344CB8AC3E}">
        <p14:creationId val="1692020369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mc="http://schemas.openxmlformats.org/markup-compatibility/2006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矩形 108">
            <a:extLst>
              <a:ext uri="{FF2B5EF4-FFF2-40B4-BE49-F238E27FC236}">
                <ns2:creationId id="{9B29E39F-E697-45CD-9E14-38878AA537F4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来源映射与论文链接</a:t>
            </a:r>
          </a:p>
        </p:txBody>
      </p:sp>
      <p:sp>
        <p:nvSpPr>
          <p:cNvPr id="2" name="矩形 1">
            <a:extLst>
              <a:ext uri="{FF2B5EF4-FFF2-40B4-BE49-F238E27FC236}">
                <ns2:creationId id="{4C69200B-017F-4A88-A83D-B74B0A8411A5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3" name="矩形 2"/>
          <p:cNvSpPr/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-25400" rIns="0" bIns="0" anchor="t" anchorCtr="0">
            <a:noAutofit/>
          </a:bodyPr>
          <a:lstStyle/>
          <a:p>
            <a:pPr algn="l"/>
            <a:r>
              <a:rPr lang="zh-CN" sz="2550" b="1" dirty="0">
                <a:solidFill>
                  <a:srgbClr val="19312E"/>
                </a:solidFill>
                <a:latin typeface="SimSun"/>
                <a:ea typeface="SimSun"/>
                <a:cs typeface="SimSun"/>
              </a:rPr>
              <a:t>来源映射：原有数据与新增 SCB GitHub 版本</a:t>
            </a:r>
          </a:p>
        </p:txBody>
      </p:sp>
      <p:sp>
        <p:nvSpPr>
          <p:cNvPr id="4" name="直接连接符 3">
            <a:extLst>
              <a:ext uri="{FF2B5EF4-FFF2-40B4-BE49-F238E27FC236}">
                <ns2:creationId id="{86A4843D-DAA8-424E-899F-2FF172D48B1B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85800" y="1562100"/>
            <a:ext cx="108204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6B756F"/>
                </a:solidFill>
                <a:latin typeface="Microsoft YaHei"/>
                <a:ea typeface="Microsoft YaHei"/>
                <a:cs typeface="Microsoft YaHei"/>
              </a:rPr>
              <a:t>下方来源卡片对应 Excel 中的 source_url、source_detail_url 和 paper_url；新增 SCB 五个版本均来自同一 GitHub 仓库，模型源码与权重已单独归档。</a:t>
            </a:r>
          </a:p>
        </p:txBody>
      </p:sp>
      <p:sp>
        <p:nvSpPr>
          <p:cNvPr id="6" name="矩形: 圆角 5">
            <a:extLst>
              <a:ext uri="{FF2B5EF4-FFF2-40B4-BE49-F238E27FC236}">
                <ns2:creationId id="{2D2EF832-FACA-45EA-A77D-93419889851D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3429000" cy="1581150"/>
          </a:xfrm>
          <a:prstGeom prst="roundRect">
            <a:avLst>
              <a:gd name="adj" fmla="val 9639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ns2:creationId id="{6DB6E187-35E5-433E-96A1-ECB6FE6A92C5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95250" cy="1581150"/>
          </a:xfrm>
          <a:prstGeom prst="rect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ns2:creationId id="{652F2FD6-B80F-4BA0-94FE-25957BAAB963}"/>
              </a:ext>
            </a:extLst>
          </p:cNvPr>
          <p:cNvSpPr>
            <a:spLocks noGrp="1"/>
          </p:cNvSpPr>
          <p:nvPr/>
        </p:nvSpPr>
        <p:spPr>
          <a:xfrm>
            <a:off x="952500" y="215265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9" name="矩形 8">
            <a:extLst>
              <a:ext uri="{FF2B5EF4-FFF2-40B4-BE49-F238E27FC236}">
                <ns2:creationId id="{EE896355-08E9-4840-B3BF-AB95631C1A7E}"/>
              </a:ext>
            </a:extLst>
          </p:cNvPr>
          <p:cNvSpPr>
            <a:spLocks noGrp="1"/>
          </p:cNvSpPr>
          <p:nvPr/>
        </p:nvSpPr>
        <p:spPr>
          <a:xfrm>
            <a:off x="1352550" y="21717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DAiSEE 官方来源</a:t>
            </a:r>
          </a:p>
        </p:txBody>
      </p:sp>
      <p:sp>
        <p:nvSpPr>
          <p:cNvPr id="10" name="矩形 9">
            <a:extLst>
              <a:ext uri="{FF2B5EF4-FFF2-40B4-BE49-F238E27FC236}">
                <ns2:creationId id="{C0C45BCD-7E32-4143-B726-2A8A59FA2C31}"/>
              </a:ext>
            </a:extLst>
          </p:cNvPr>
          <p:cNvSpPr>
            <a:spLocks noGrp="1"/>
          </p:cNvSpPr>
          <p:nvPr/>
        </p:nvSpPr>
        <p:spPr>
          <a:xfrm>
            <a:off x="952500" y="2609850"/>
            <a:ext cx="2990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https://people.iith.ac.in/vineethnb/resources/daisee/index.html</a:t>
            </a:r>
          </a:p>
        </p:txBody>
      </p:sp>
      <p:sp>
        <p:nvSpPr>
          <p:cNvPr id="11" name="矩形 10">
            <a:extLst>
              <a:ext uri="{FF2B5EF4-FFF2-40B4-BE49-F238E27FC236}">
                <ns2:creationId id="{01D25ECD-2951-43C6-99F5-B94FBEFDF5DB}"/>
              </a:ext>
            </a:extLst>
          </p:cNvPr>
          <p:cNvSpPr>
            <a:spLocks noGrp="1"/>
          </p:cNvSpPr>
          <p:nvPr/>
        </p:nvSpPr>
        <p:spPr>
          <a:xfrm>
            <a:off x="952500" y="3038475"/>
            <a:ext cx="2990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论文：https://arxiv.org/abs/1609.01885</a:t>
            </a:r>
          </a:p>
        </p:txBody>
      </p:sp>
      <p:sp>
        <p:nvSpPr>
          <p:cNvPr id="12" name="矩形: 圆角 11">
            <a:extLst>
              <a:ext uri="{FF2B5EF4-FFF2-40B4-BE49-F238E27FC236}">
                <ns2:creationId id="{DCA6A2E5-6176-4606-92DD-6CC9E79AFABF}"/>
              </a:ext>
            </a:extLst>
          </p:cNvPr>
          <p:cNvSpPr>
            <a:spLocks noGrp="1"/>
          </p:cNvSpPr>
          <p:nvPr/>
        </p:nvSpPr>
        <p:spPr>
          <a:xfrm>
            <a:off x="4362450" y="1981200"/>
            <a:ext cx="3429000" cy="1581150"/>
          </a:xfrm>
          <a:prstGeom prst="roundRect">
            <a:avLst>
              <a:gd name="adj" fmla="val 9639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ns2:creationId id="{4E037F9F-630D-4AB8-9436-4E181BA98105}"/>
              </a:ext>
            </a:extLst>
          </p:cNvPr>
          <p:cNvSpPr>
            <a:spLocks noGrp="1"/>
          </p:cNvSpPr>
          <p:nvPr/>
        </p:nvSpPr>
        <p:spPr>
          <a:xfrm>
            <a:off x="4362450" y="1981200"/>
            <a:ext cx="95250" cy="1581150"/>
          </a:xfrm>
          <a:prstGeom prst="rect">
            <a:avLst/>
          </a:prstGeom>
          <a:solidFill>
            <a:srgbClr val="D27A5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ns2:creationId id="{5667B3CD-EEAD-4D36-B4E2-BE51B454B5CF}"/>
              </a:ext>
            </a:extLst>
          </p:cNvPr>
          <p:cNvSpPr>
            <a:spLocks noGrp="1"/>
          </p:cNvSpPr>
          <p:nvPr/>
        </p:nvSpPr>
        <p:spPr>
          <a:xfrm>
            <a:off x="4629150" y="215265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5" name="矩形 14">
            <a:extLst>
              <a:ext uri="{FF2B5EF4-FFF2-40B4-BE49-F238E27FC236}">
                <ns2:creationId id="{DC6187E0-55C5-49E9-AB5A-9B61D05D6BCC}"/>
              </a:ext>
            </a:extLst>
          </p:cNvPr>
          <p:cNvSpPr>
            <a:spLocks noGrp="1"/>
          </p:cNvSpPr>
          <p:nvPr/>
        </p:nvSpPr>
        <p:spPr>
          <a:xfrm>
            <a:off x="5029200" y="21717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Tianchi / Roboflow</a:t>
            </a:r>
          </a:p>
        </p:txBody>
      </p:sp>
      <p:sp>
        <p:nvSpPr>
          <p:cNvPr id="16" name="矩形 15">
            <a:extLst>
              <a:ext uri="{FF2B5EF4-FFF2-40B4-BE49-F238E27FC236}">
                <ns2:creationId id="{9B7D2365-1C51-4815-93EE-93F85D468DAF}"/>
              </a:ext>
            </a:extLst>
          </p:cNvPr>
          <p:cNvSpPr>
            <a:spLocks noGrp="1"/>
          </p:cNvSpPr>
          <p:nvPr/>
        </p:nvSpPr>
        <p:spPr>
          <a:xfrm>
            <a:off x="4629150" y="2609850"/>
            <a:ext cx="2990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https://tianchi.aliyun.com/dataset/201537</a:t>
            </a:r>
          </a:p>
        </p:txBody>
      </p:sp>
      <p:sp>
        <p:nvSpPr>
          <p:cNvPr id="17" name="矩形 16">
            <a:extLst>
              <a:ext uri="{FF2B5EF4-FFF2-40B4-BE49-F238E27FC236}">
                <ns2:creationId id="{11FFD602-132A-4FB4-9337-09A43ACF5CB4}"/>
              </a:ext>
            </a:extLst>
          </p:cNvPr>
          <p:cNvSpPr>
            <a:spLocks noGrp="1"/>
          </p:cNvSpPr>
          <p:nvPr/>
        </p:nvSpPr>
        <p:spPr>
          <a:xfrm>
            <a:off x="4629150" y="3038475"/>
            <a:ext cx="2990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详情：https://universe.roboflow.com/mywork-lkwz4/student-behaviour-detection-neazg/dataset/6</a:t>
            </a:r>
          </a:p>
        </p:txBody>
      </p:sp>
      <p:sp>
        <p:nvSpPr>
          <p:cNvPr id="18" name="矩形: 圆角 17">
            <a:extLst>
              <a:ext uri="{FF2B5EF4-FFF2-40B4-BE49-F238E27FC236}">
                <ns2:creationId id="{A3CDCE07-9EB4-42D3-BE08-E44B769154EE}"/>
              </a:ext>
            </a:extLst>
          </p:cNvPr>
          <p:cNvSpPr>
            <a:spLocks noGrp="1"/>
          </p:cNvSpPr>
          <p:nvPr/>
        </p:nvSpPr>
        <p:spPr>
          <a:xfrm>
            <a:off x="8039100" y="1981200"/>
            <a:ext cx="3429000" cy="1581150"/>
          </a:xfrm>
          <a:prstGeom prst="roundRect">
            <a:avLst>
              <a:gd name="adj" fmla="val 9639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ns2:creationId id="{5900D32D-7D47-4902-8728-FA516F46E1A7}"/>
              </a:ext>
            </a:extLst>
          </p:cNvPr>
          <p:cNvSpPr>
            <a:spLocks noGrp="1"/>
          </p:cNvSpPr>
          <p:nvPr/>
        </p:nvSpPr>
        <p:spPr>
          <a:xfrm>
            <a:off x="8039100" y="1981200"/>
            <a:ext cx="95250" cy="1581150"/>
          </a:xfrm>
          <a:prstGeom prst="rect">
            <a:avLst/>
          </a:prstGeom>
          <a:solidFill>
            <a:srgbClr val="6E947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ns2:creationId id="{162C63CC-C3E2-4C4E-A297-C3ED2475B4D1}"/>
              </a:ext>
            </a:extLst>
          </p:cNvPr>
          <p:cNvSpPr>
            <a:spLocks noGrp="1"/>
          </p:cNvSpPr>
          <p:nvPr/>
        </p:nvSpPr>
        <p:spPr>
          <a:xfrm>
            <a:off x="8305800" y="215265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1">
                <a:solidFill>
                  <a:srgbClr val="6E947C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75" b="1">
                <a:solidFill>
                  <a:srgbClr val="6E947C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75" b="1">
                <a:solidFill>
                  <a:srgbClr val="6E947C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75" b="1">
                <a:solidFill>
                  <a:srgbClr val="6E947C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75" b="1">
                <a:solidFill>
                  <a:srgbClr val="6E947C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75" b="1">
                <a:solidFill>
                  <a:srgbClr val="6E947C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75" b="1">
                <a:solidFill>
                  <a:srgbClr val="6E947C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75" b="1">
                <a:solidFill>
                  <a:srgbClr val="6E947C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75" b="1">
                <a:solidFill>
                  <a:srgbClr val="6E947C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75" b="1">
                <a:solidFill>
                  <a:srgbClr val="6E947C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75" b="1">
                <a:solidFill>
                  <a:srgbClr val="6E947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6E947C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21" name="矩形 20">
            <a:extLst>
              <a:ext uri="{FF2B5EF4-FFF2-40B4-BE49-F238E27FC236}">
                <ns2:creationId id="{7215CFCE-6B0F-4F56-B816-DD440F3250B5}"/>
              </a:ext>
            </a:extLst>
          </p:cNvPr>
          <p:cNvSpPr>
            <a:spLocks noGrp="1"/>
          </p:cNvSpPr>
          <p:nvPr/>
        </p:nvSpPr>
        <p:spPr>
          <a:xfrm>
            <a:off x="8705850" y="21717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SCB GitHub 来源</a:t>
            </a:r>
          </a:p>
        </p:txBody>
      </p:sp>
      <p:sp>
        <p:nvSpPr>
          <p:cNvPr id="22" name="矩形 21">
            <a:extLst>
              <a:ext uri="{FF2B5EF4-FFF2-40B4-BE49-F238E27FC236}">
                <ns2:creationId id="{DD61D3EF-8775-456B-A3A2-21F44ECE6FD8}"/>
              </a:ext>
            </a:extLst>
          </p:cNvPr>
          <p:cNvSpPr>
            <a:spLocks noGrp="1"/>
          </p:cNvSpPr>
          <p:nvPr/>
        </p:nvSpPr>
        <p:spPr>
          <a:xfrm>
            <a:off x="8305800" y="2609850"/>
            <a:ext cx="2990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8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https://github.com/Whiffe/SCB-dataset</a:t>
            </a:r>
          </a:p>
        </p:txBody>
      </p:sp>
      <p:sp>
        <p:nvSpPr>
          <p:cNvPr id="23" name="矩形 22">
            <a:extLst>
              <a:ext uri="{FF2B5EF4-FFF2-40B4-BE49-F238E27FC236}">
                <ns2:creationId id="{A34DB87F-504A-4DC5-83E7-6134766B1BAB}"/>
              </a:ext>
            </a:extLst>
          </p:cNvPr>
          <p:cNvSpPr>
            <a:spLocks noGrp="1"/>
          </p:cNvSpPr>
          <p:nvPr/>
        </p:nvSpPr>
        <p:spPr>
          <a:xfrm>
            <a:off x="8305800" y="3038475"/>
            <a:ext cx="2990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补充：https://github.com/master-weixiao/Smart-Classroom-Student-Behavior-Dataset</a:t>
            </a:r>
          </a:p>
          <a:p>
            <a:pPr algn="l">
              <a:def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6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论文：https://arxiv.org/abs/2310.02522</a:t>
            </a:r>
          </a:p>
        </p:txBody>
      </p:sp>
      <p:sp>
        <p:nvSpPr>
          <p:cNvPr id="24" name="矩形 23">
            <a:extLst>
              <a:ext uri="{FF2B5EF4-FFF2-40B4-BE49-F238E27FC236}">
                <ns2:creationId id="{7332297A-245C-44D8-8E04-60A990490EB1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400050" cy="2286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ns2:creationId id="{08F29D9F-C09D-46BD-9EBD-F5C2AC227933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285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#</a:t>
            </a:r>
          </a:p>
        </p:txBody>
      </p:sp>
      <p:sp>
        <p:nvSpPr>
          <p:cNvPr id="26" name="矩形 25">
            <a:extLst>
              <a:ext uri="{FF2B5EF4-FFF2-40B4-BE49-F238E27FC236}">
                <ns2:creationId id="{53F7B1C2-0D24-4AFD-9B87-25017E346C53}"/>
              </a:ext>
            </a:extLst>
          </p:cNvPr>
          <p:cNvSpPr>
            <a:spLocks noGrp="1"/>
          </p:cNvSpPr>
          <p:nvPr/>
        </p:nvSpPr>
        <p:spPr>
          <a:xfrm>
            <a:off x="1085850" y="3905250"/>
            <a:ext cx="2381250" cy="2286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ns2:creationId id="{B087E758-D7B8-4A5A-BC45-0A3643E1D64D}"/>
              </a:ext>
            </a:extLst>
          </p:cNvPr>
          <p:cNvSpPr>
            <a:spLocks noGrp="1"/>
          </p:cNvSpPr>
          <p:nvPr/>
        </p:nvSpPr>
        <p:spPr>
          <a:xfrm>
            <a:off x="1143000" y="3962400"/>
            <a:ext cx="22669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数据包 / 文件组织</a:t>
            </a:r>
          </a:p>
        </p:txBody>
      </p:sp>
      <p:sp>
        <p:nvSpPr>
          <p:cNvPr id="28" name="矩形 27">
            <a:extLst>
              <a:ext uri="{FF2B5EF4-FFF2-40B4-BE49-F238E27FC236}">
                <ns2:creationId id="{1B868A8B-D960-4D2A-9E54-35D1A96A98F5}"/>
              </a:ext>
            </a:extLst>
          </p:cNvPr>
          <p:cNvSpPr>
            <a:spLocks noGrp="1"/>
          </p:cNvSpPr>
          <p:nvPr/>
        </p:nvSpPr>
        <p:spPr>
          <a:xfrm>
            <a:off x="3467100" y="3905250"/>
            <a:ext cx="666750" cy="2286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ns2:creationId id="{399E91AD-3291-4459-85C4-3D86EA131B33}"/>
              </a:ext>
            </a:extLst>
          </p:cNvPr>
          <p:cNvSpPr>
            <a:spLocks noGrp="1"/>
          </p:cNvSpPr>
          <p:nvPr/>
        </p:nvSpPr>
        <p:spPr>
          <a:xfrm>
            <a:off x="3524250" y="3962400"/>
            <a:ext cx="5524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来源</a:t>
            </a:r>
          </a:p>
        </p:txBody>
      </p:sp>
      <p:sp>
        <p:nvSpPr>
          <p:cNvPr id="30" name="矩形 29">
            <a:extLst>
              <a:ext uri="{FF2B5EF4-FFF2-40B4-BE49-F238E27FC236}">
                <ns2:creationId id="{C4CF6A7D-ABDD-4CEB-81BA-7478481EDD43}"/>
              </a:ext>
            </a:extLst>
          </p:cNvPr>
          <p:cNvSpPr>
            <a:spLocks noGrp="1"/>
          </p:cNvSpPr>
          <p:nvPr/>
        </p:nvSpPr>
        <p:spPr>
          <a:xfrm>
            <a:off x="4133850" y="3905250"/>
            <a:ext cx="7372350" cy="2286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ns2:creationId id="{9E49FC1F-F60B-4291-AC9F-1FE29F7666C9}"/>
              </a:ext>
            </a:extLst>
          </p:cNvPr>
          <p:cNvSpPr>
            <a:spLocks noGrp="1"/>
          </p:cNvSpPr>
          <p:nvPr/>
        </p:nvSpPr>
        <p:spPr>
          <a:xfrm>
            <a:off x="4191000" y="3962400"/>
            <a:ext cx="72580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788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Excel 中的具体对应</a:t>
            </a:r>
          </a:p>
        </p:txBody>
      </p:sp>
      <p:sp>
        <p:nvSpPr>
          <p:cNvPr id="32" name="矩形 31">
            <a:extLst>
              <a:ext uri="{FF2B5EF4-FFF2-40B4-BE49-F238E27FC236}">
                <ns2:creationId id="{D6C18F60-0798-4483-8B3D-23B7927CE25B}"/>
              </a:ext>
            </a:extLst>
          </p:cNvPr>
          <p:cNvSpPr>
            <a:spLocks noGrp="1"/>
          </p:cNvSpPr>
          <p:nvPr/>
        </p:nvSpPr>
        <p:spPr>
          <a:xfrm>
            <a:off x="685800" y="4133850"/>
            <a:ext cx="4000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ns2:creationId id="{32998449-31A7-42DF-8B81-67F9CFA10AB2}"/>
              </a:ext>
            </a:extLst>
          </p:cNvPr>
          <p:cNvSpPr>
            <a:spLocks noGrp="1"/>
          </p:cNvSpPr>
          <p:nvPr/>
        </p:nvSpPr>
        <p:spPr>
          <a:xfrm>
            <a:off x="742950" y="4181475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34" name="矩形 33">
            <a:extLst>
              <a:ext uri="{FF2B5EF4-FFF2-40B4-BE49-F238E27FC236}">
                <ns2:creationId id="{52D60039-F74B-45D8-8EF0-919D3168ADD5}"/>
              </a:ext>
            </a:extLst>
          </p:cNvPr>
          <p:cNvSpPr>
            <a:spLocks noGrp="1"/>
          </p:cNvSpPr>
          <p:nvPr/>
        </p:nvSpPr>
        <p:spPr>
          <a:xfrm>
            <a:off x="1085850" y="4133850"/>
            <a:ext cx="23812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ns2:creationId id="{DD0838AB-ACB9-4A40-85BE-20EAF848CA03}"/>
              </a:ext>
            </a:extLst>
          </p:cNvPr>
          <p:cNvSpPr>
            <a:spLocks noGrp="1"/>
          </p:cNvSpPr>
          <p:nvPr/>
        </p:nvSpPr>
        <p:spPr>
          <a:xfrm>
            <a:off x="1143000" y="4181475"/>
            <a:ext cx="2266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DAiSEE：面部微表情.zip</a:t>
            </a:r>
          </a:p>
        </p:txBody>
      </p:sp>
      <p:sp>
        <p:nvSpPr>
          <p:cNvPr id="36" name="矩形 35">
            <a:extLst>
              <a:ext uri="{FF2B5EF4-FFF2-40B4-BE49-F238E27FC236}">
                <ns2:creationId id="{B9561F38-ABED-473B-B10C-C1C9AC647EEC}"/>
              </a:ext>
            </a:extLst>
          </p:cNvPr>
          <p:cNvSpPr>
            <a:spLocks noGrp="1"/>
          </p:cNvSpPr>
          <p:nvPr/>
        </p:nvSpPr>
        <p:spPr>
          <a:xfrm>
            <a:off x="3467100" y="4133850"/>
            <a:ext cx="6667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ns2:creationId id="{8DA26984-D822-4B1B-8B85-CE2D5FA9F4E4}"/>
              </a:ext>
            </a:extLst>
          </p:cNvPr>
          <p:cNvSpPr>
            <a:spLocks noGrp="1"/>
          </p:cNvSpPr>
          <p:nvPr/>
        </p:nvSpPr>
        <p:spPr>
          <a:xfrm>
            <a:off x="3524250" y="4181475"/>
            <a:ext cx="552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38" name="矩形 37">
            <a:extLst>
              <a:ext uri="{FF2B5EF4-FFF2-40B4-BE49-F238E27FC236}">
                <ns2:creationId id="{568950CE-B0C5-411D-919B-DF37A68EE2E5}"/>
              </a:ext>
            </a:extLst>
          </p:cNvPr>
          <p:cNvSpPr>
            <a:spLocks noGrp="1"/>
          </p:cNvSpPr>
          <p:nvPr/>
        </p:nvSpPr>
        <p:spPr>
          <a:xfrm>
            <a:off x="4133850" y="4133850"/>
            <a:ext cx="73723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ns2:creationId id="{238781C8-1549-4537-A8E8-BE7DD233C792}"/>
              </a:ext>
            </a:extLst>
          </p:cNvPr>
          <p:cNvSpPr>
            <a:spLocks noGrp="1"/>
          </p:cNvSpPr>
          <p:nvPr/>
        </p:nvSpPr>
        <p:spPr>
          <a:xfrm>
            <a:off x="4191000" y="4181475"/>
            <a:ext cx="7258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DAiSEE 官方下载页；Excel：DAiSEE_微表情；paper_url 为 arXiv 1609.01885</a:t>
            </a:r>
          </a:p>
        </p:txBody>
      </p:sp>
      <p:sp>
        <p:nvSpPr>
          <p:cNvPr id="40" name="矩形 39">
            <a:extLst>
              <a:ext uri="{FF2B5EF4-FFF2-40B4-BE49-F238E27FC236}">
                <ns2:creationId id="{9A043598-89A6-44BA-88C7-10B2B9F90A96}"/>
              </a:ext>
            </a:extLst>
          </p:cNvPr>
          <p:cNvSpPr>
            <a:spLocks noGrp="1"/>
          </p:cNvSpPr>
          <p:nvPr/>
        </p:nvSpPr>
        <p:spPr>
          <a:xfrm>
            <a:off x="685800" y="4362450"/>
            <a:ext cx="400050" cy="228600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ns2:creationId id="{65FBEDF1-A1E5-4E7D-8354-4E3691F0516D}"/>
              </a:ext>
            </a:extLst>
          </p:cNvPr>
          <p:cNvSpPr>
            <a:spLocks noGrp="1"/>
          </p:cNvSpPr>
          <p:nvPr/>
        </p:nvSpPr>
        <p:spPr>
          <a:xfrm>
            <a:off x="742950" y="4410075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42" name="矩形 41">
            <a:extLst>
              <a:ext uri="{FF2B5EF4-FFF2-40B4-BE49-F238E27FC236}">
                <ns2:creationId id="{3332F45E-4630-4D84-956C-D2A0E7D49AE7}"/>
              </a:ext>
            </a:extLst>
          </p:cNvPr>
          <p:cNvSpPr>
            <a:spLocks noGrp="1"/>
          </p:cNvSpPr>
          <p:nvPr/>
        </p:nvSpPr>
        <p:spPr>
          <a:xfrm>
            <a:off x="1085850" y="4362450"/>
            <a:ext cx="2381250" cy="228600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ns2:creationId id="{2A0E18F0-5119-4C47-BCB9-4DBC6122D8BD}"/>
              </a:ext>
            </a:extLst>
          </p:cNvPr>
          <p:cNvSpPr>
            <a:spLocks noGrp="1"/>
          </p:cNvSpPr>
          <p:nvPr/>
        </p:nvSpPr>
        <p:spPr>
          <a:xfrm>
            <a:off x="1143000" y="4410075"/>
            <a:ext cx="2266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Tianchi：Student Behaviour Detection.v6i.yolov8.zip</a:t>
            </a:r>
          </a:p>
        </p:txBody>
      </p:sp>
      <p:sp>
        <p:nvSpPr>
          <p:cNvPr id="44" name="矩形 43">
            <a:extLst>
              <a:ext uri="{FF2B5EF4-FFF2-40B4-BE49-F238E27FC236}">
                <ns2:creationId id="{B8217F3B-7ED4-4BB1-88E5-1777D92B5EA9}"/>
              </a:ext>
            </a:extLst>
          </p:cNvPr>
          <p:cNvSpPr>
            <a:spLocks noGrp="1"/>
          </p:cNvSpPr>
          <p:nvPr/>
        </p:nvSpPr>
        <p:spPr>
          <a:xfrm>
            <a:off x="3467100" y="4362450"/>
            <a:ext cx="666750" cy="228600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ns2:creationId id="{8176D185-6769-4204-89DA-596F6285D152}"/>
              </a:ext>
            </a:extLst>
          </p:cNvPr>
          <p:cNvSpPr>
            <a:spLocks noGrp="1"/>
          </p:cNvSpPr>
          <p:nvPr/>
        </p:nvSpPr>
        <p:spPr>
          <a:xfrm>
            <a:off x="3524250" y="4410075"/>
            <a:ext cx="552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46" name="矩形 45">
            <a:extLst>
              <a:ext uri="{FF2B5EF4-FFF2-40B4-BE49-F238E27FC236}">
                <ns2:creationId id="{CF4D3A05-8DE9-4D47-BAE5-412DCA122760}"/>
              </a:ext>
            </a:extLst>
          </p:cNvPr>
          <p:cNvSpPr>
            <a:spLocks noGrp="1"/>
          </p:cNvSpPr>
          <p:nvPr/>
        </p:nvSpPr>
        <p:spPr>
          <a:xfrm>
            <a:off x="4133850" y="4362450"/>
            <a:ext cx="7372350" cy="228600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ns2:creationId id="{B345C976-75F4-4955-92CD-CD71FAAE55AB}"/>
              </a:ext>
            </a:extLst>
          </p:cNvPr>
          <p:cNvSpPr>
            <a:spLocks noGrp="1"/>
          </p:cNvSpPr>
          <p:nvPr/>
        </p:nvSpPr>
        <p:spPr>
          <a:xfrm>
            <a:off x="4191000" y="4410075"/>
            <a:ext cx="7258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Tianchi 官方页 + Roboflow 详情页；Excel：Tianchi_课堂行为；未提供对应论文链接</a:t>
            </a:r>
          </a:p>
        </p:txBody>
      </p:sp>
      <p:sp>
        <p:nvSpPr>
          <p:cNvPr id="48" name="矩形 47">
            <a:extLst>
              <a:ext uri="{FF2B5EF4-FFF2-40B4-BE49-F238E27FC236}">
                <ns2:creationId id="{A4D442E0-7800-4DC3-BD9B-34F2E8F9D398}"/>
              </a:ext>
            </a:extLst>
          </p:cNvPr>
          <p:cNvSpPr>
            <a:spLocks noGrp="1"/>
          </p:cNvSpPr>
          <p:nvPr/>
        </p:nvSpPr>
        <p:spPr>
          <a:xfrm>
            <a:off x="685800" y="4591050"/>
            <a:ext cx="4000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ns2:creationId id="{8B238528-E80C-4EE4-B3DF-7EC8C2BCE541}"/>
              </a:ext>
            </a:extLst>
          </p:cNvPr>
          <p:cNvSpPr>
            <a:spLocks noGrp="1"/>
          </p:cNvSpPr>
          <p:nvPr/>
        </p:nvSpPr>
        <p:spPr>
          <a:xfrm>
            <a:off x="742950" y="4638675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50" name="矩形 49">
            <a:extLst>
              <a:ext uri="{FF2B5EF4-FFF2-40B4-BE49-F238E27FC236}">
                <ns2:creationId id="{CB966331-AB28-4E57-B84B-D7D76E9726B3}"/>
              </a:ext>
            </a:extLst>
          </p:cNvPr>
          <p:cNvSpPr>
            <a:spLocks noGrp="1"/>
          </p:cNvSpPr>
          <p:nvPr/>
        </p:nvSpPr>
        <p:spPr>
          <a:xfrm>
            <a:off x="1085850" y="4591050"/>
            <a:ext cx="23812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ns2:creationId id="{EA5B9EDE-D1C5-4816-B542-939220350F73}"/>
              </a:ext>
            </a:extLst>
          </p:cNvPr>
          <p:cNvSpPr>
            <a:spLocks noGrp="1"/>
          </p:cNvSpPr>
          <p:nvPr/>
        </p:nvSpPr>
        <p:spPr>
          <a:xfrm>
            <a:off x="1143000" y="4638675"/>
            <a:ext cx="2266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SCB：dataset 学生课堂行为 8884 YOLO xml nc8.zip</a:t>
            </a:r>
          </a:p>
        </p:txBody>
      </p:sp>
      <p:sp>
        <p:nvSpPr>
          <p:cNvPr id="52" name="矩形 51">
            <a:extLst>
              <a:ext uri="{FF2B5EF4-FFF2-40B4-BE49-F238E27FC236}">
                <ns2:creationId id="{B16EAD48-C28E-4EC8-A199-8A5D650C20FB}"/>
              </a:ext>
            </a:extLst>
          </p:cNvPr>
          <p:cNvSpPr>
            <a:spLocks noGrp="1"/>
          </p:cNvSpPr>
          <p:nvPr/>
        </p:nvSpPr>
        <p:spPr>
          <a:xfrm>
            <a:off x="3467100" y="4591050"/>
            <a:ext cx="6667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ns2:creationId id="{D7169A55-446D-46C3-BFE0-536C45D95400}"/>
              </a:ext>
            </a:extLst>
          </p:cNvPr>
          <p:cNvSpPr>
            <a:spLocks noGrp="1"/>
          </p:cNvSpPr>
          <p:nvPr/>
        </p:nvSpPr>
        <p:spPr>
          <a:xfrm>
            <a:off x="3524250" y="4638675"/>
            <a:ext cx="552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54" name="矩形 53">
            <a:extLst>
              <a:ext uri="{FF2B5EF4-FFF2-40B4-BE49-F238E27FC236}">
                <ns2:creationId id="{40CC30CD-D49A-4471-95BB-A8E665285EBD}"/>
              </a:ext>
            </a:extLst>
          </p:cNvPr>
          <p:cNvSpPr>
            <a:spLocks noGrp="1"/>
          </p:cNvSpPr>
          <p:nvPr/>
        </p:nvSpPr>
        <p:spPr>
          <a:xfrm>
            <a:off x="4133850" y="4591050"/>
            <a:ext cx="73723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ns2:creationId id="{7C16FF44-D2D6-46ED-8F06-AAD2F3C471F9}"/>
              </a:ext>
            </a:extLst>
          </p:cNvPr>
          <p:cNvSpPr>
            <a:spLocks noGrp="1"/>
          </p:cNvSpPr>
          <p:nvPr/>
        </p:nvSpPr>
        <p:spPr>
          <a:xfrm>
            <a:off x="4191000" y="4638675"/>
            <a:ext cx="7258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SCB-Dataset GitHub；图像 800×450，JPG/XML；Excel：SCB_GitHub_课堂行为</a:t>
            </a:r>
          </a:p>
        </p:txBody>
      </p:sp>
      <p:sp>
        <p:nvSpPr>
          <p:cNvPr id="56" name="矩形 55">
            <a:extLst>
              <a:ext uri="{FF2B5EF4-FFF2-40B4-BE49-F238E27FC236}">
                <ns2:creationId id="{9986E9D7-9475-4156-9AC2-59F3D54657D5}"/>
              </a:ext>
            </a:extLst>
          </p:cNvPr>
          <p:cNvSpPr>
            <a:spLocks noGrp="1"/>
          </p:cNvSpPr>
          <p:nvPr/>
        </p:nvSpPr>
        <p:spPr>
          <a:xfrm>
            <a:off x="685800" y="4819650"/>
            <a:ext cx="400050" cy="228600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ns2:creationId id="{0BA140FE-A879-4268-BD7B-A9160B19B115}"/>
              </a:ext>
            </a:extLst>
          </p:cNvPr>
          <p:cNvSpPr>
            <a:spLocks noGrp="1"/>
          </p:cNvSpPr>
          <p:nvPr/>
        </p:nvSpPr>
        <p:spPr>
          <a:xfrm>
            <a:off x="742950" y="4867275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58" name="矩形 57">
            <a:extLst>
              <a:ext uri="{FF2B5EF4-FFF2-40B4-BE49-F238E27FC236}">
                <ns2:creationId id="{9F0EAA43-4AE2-4F9B-B59F-1C5EAA45F5AB}"/>
              </a:ext>
            </a:extLst>
          </p:cNvPr>
          <p:cNvSpPr>
            <a:spLocks noGrp="1"/>
          </p:cNvSpPr>
          <p:nvPr/>
        </p:nvSpPr>
        <p:spPr>
          <a:xfrm>
            <a:off x="1085850" y="4819650"/>
            <a:ext cx="2381250" cy="228600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ns2:creationId id="{BB45353E-C84C-4E4E-A139-CA5BA7D13F22}"/>
              </a:ext>
            </a:extLst>
          </p:cNvPr>
          <p:cNvSpPr>
            <a:spLocks noGrp="1"/>
          </p:cNvSpPr>
          <p:nvPr/>
        </p:nvSpPr>
        <p:spPr>
          <a:xfrm>
            <a:off x="1143000" y="4867275"/>
            <a:ext cx="2266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SCB：VOCdevkit.zip</a:t>
            </a:r>
          </a:p>
        </p:txBody>
      </p:sp>
      <p:sp>
        <p:nvSpPr>
          <p:cNvPr id="60" name="矩形 59">
            <a:extLst>
              <a:ext uri="{FF2B5EF4-FFF2-40B4-BE49-F238E27FC236}">
                <ns2:creationId id="{751B1C6D-FBE1-40B4-9D2D-70CC1A71F2BF}"/>
              </a:ext>
            </a:extLst>
          </p:cNvPr>
          <p:cNvSpPr>
            <a:spLocks noGrp="1"/>
          </p:cNvSpPr>
          <p:nvPr/>
        </p:nvSpPr>
        <p:spPr>
          <a:xfrm>
            <a:off x="3467100" y="4819650"/>
            <a:ext cx="666750" cy="228600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ns2:creationId id="{B08365AF-F44C-409B-BF40-95742D5D230B}"/>
              </a:ext>
            </a:extLst>
          </p:cNvPr>
          <p:cNvSpPr>
            <a:spLocks noGrp="1"/>
          </p:cNvSpPr>
          <p:nvPr/>
        </p:nvSpPr>
        <p:spPr>
          <a:xfrm>
            <a:off x="3524250" y="4867275"/>
            <a:ext cx="552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62" name="矩形 61">
            <a:extLst>
              <a:ext uri="{FF2B5EF4-FFF2-40B4-BE49-F238E27FC236}">
                <ns2:creationId id="{D073B3C5-A120-4DB4-9B0F-30C671BD044D}"/>
              </a:ext>
            </a:extLst>
          </p:cNvPr>
          <p:cNvSpPr>
            <a:spLocks noGrp="1"/>
          </p:cNvSpPr>
          <p:nvPr/>
        </p:nvSpPr>
        <p:spPr>
          <a:xfrm>
            <a:off x="4133850" y="4819650"/>
            <a:ext cx="7372350" cy="228600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ns2:creationId id="{28DB71AD-CDC7-4221-B224-C4B86B5EFBB2}"/>
              </a:ext>
            </a:extLst>
          </p:cNvPr>
          <p:cNvSpPr>
            <a:spLocks noGrp="1"/>
          </p:cNvSpPr>
          <p:nvPr/>
        </p:nvSpPr>
        <p:spPr>
          <a:xfrm>
            <a:off x="4191000" y="4867275"/>
            <a:ext cx="7258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同一 SCB GitHub 来源的 VOC 转换集；train/val + XML；Excel：SCB_GitHub_课堂行为</a:t>
            </a:r>
          </a:p>
        </p:txBody>
      </p:sp>
      <p:sp>
        <p:nvSpPr>
          <p:cNvPr id="64" name="矩形 63">
            <a:extLst>
              <a:ext uri="{FF2B5EF4-FFF2-40B4-BE49-F238E27FC236}">
                <ns2:creationId id="{79B8D13D-3038-44D8-86D0-F6C63EB9ADCF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4000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ns2:creationId id="{63AAAACD-30D9-4119-9D76-3E8B5E20A060}"/>
              </a:ext>
            </a:extLst>
          </p:cNvPr>
          <p:cNvSpPr>
            <a:spLocks noGrp="1"/>
          </p:cNvSpPr>
          <p:nvPr/>
        </p:nvSpPr>
        <p:spPr>
          <a:xfrm>
            <a:off x="742950" y="5095875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66" name="矩形 65">
            <a:extLst>
              <a:ext uri="{FF2B5EF4-FFF2-40B4-BE49-F238E27FC236}">
                <ns2:creationId id="{E962C558-92C9-4CE2-8362-B002322DD175}"/>
              </a:ext>
            </a:extLst>
          </p:cNvPr>
          <p:cNvSpPr>
            <a:spLocks noGrp="1"/>
          </p:cNvSpPr>
          <p:nvPr/>
        </p:nvSpPr>
        <p:spPr>
          <a:xfrm>
            <a:off x="1085850" y="5048250"/>
            <a:ext cx="23812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ns2:creationId id="{5CAA7DD7-F0E4-41CA-AF1A-CCCCF751FBF9}"/>
              </a:ext>
            </a:extLst>
          </p:cNvPr>
          <p:cNvSpPr>
            <a:spLocks noGrp="1"/>
          </p:cNvSpPr>
          <p:nvPr/>
        </p:nvSpPr>
        <p:spPr>
          <a:xfrm>
            <a:off x="1143000" y="5095875"/>
            <a:ext cx="2266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SCB：正面视角.zip</a:t>
            </a:r>
          </a:p>
        </p:txBody>
      </p:sp>
      <p:sp>
        <p:nvSpPr>
          <p:cNvPr id="68" name="矩形 67">
            <a:extLst>
              <a:ext uri="{FF2B5EF4-FFF2-40B4-BE49-F238E27FC236}">
                <ns2:creationId id="{689A0AFB-3C70-4781-A954-3757C35A2E0A}"/>
              </a:ext>
            </a:extLst>
          </p:cNvPr>
          <p:cNvSpPr>
            <a:spLocks noGrp="1"/>
          </p:cNvSpPr>
          <p:nvPr/>
        </p:nvSpPr>
        <p:spPr>
          <a:xfrm>
            <a:off x="3467100" y="5048250"/>
            <a:ext cx="6667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ns2:creationId id="{E77A8F05-C584-42DE-8FF1-D7EB7FEF93DC}"/>
              </a:ext>
            </a:extLst>
          </p:cNvPr>
          <p:cNvSpPr>
            <a:spLocks noGrp="1"/>
          </p:cNvSpPr>
          <p:nvPr/>
        </p:nvSpPr>
        <p:spPr>
          <a:xfrm>
            <a:off x="3524250" y="5095875"/>
            <a:ext cx="552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70" name="矩形 69">
            <a:extLst>
              <a:ext uri="{FF2B5EF4-FFF2-40B4-BE49-F238E27FC236}">
                <ns2:creationId id="{84215B28-A047-485D-9066-54E3B8D8BCE0}"/>
              </a:ext>
            </a:extLst>
          </p:cNvPr>
          <p:cNvSpPr>
            <a:spLocks noGrp="1"/>
          </p:cNvSpPr>
          <p:nvPr/>
        </p:nvSpPr>
        <p:spPr>
          <a:xfrm>
            <a:off x="4133850" y="5048250"/>
            <a:ext cx="73723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ns2:creationId id="{681449EC-3721-4768-83C0-EE2866E0DDE1}"/>
              </a:ext>
            </a:extLst>
          </p:cNvPr>
          <p:cNvSpPr>
            <a:spLocks noGrp="1"/>
          </p:cNvSpPr>
          <p:nvPr/>
        </p:nvSpPr>
        <p:spPr>
          <a:xfrm>
            <a:off x="4191000" y="5095875"/>
            <a:ext cx="7258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同一 SCB GitHub 来源；正面机位视频目录；Excel：SCB_GitHub_课堂行为</a:t>
            </a:r>
          </a:p>
        </p:txBody>
      </p:sp>
      <p:sp>
        <p:nvSpPr>
          <p:cNvPr id="72" name="矩形 71">
            <a:extLst>
              <a:ext uri="{FF2B5EF4-FFF2-40B4-BE49-F238E27FC236}">
                <ns2:creationId id="{48854EA3-BAFA-4BD8-B37A-7359DAE555D1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400050" cy="228600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ns2:creationId id="{AEDD52D9-6CFB-44A5-A1A4-CE061636740F}"/>
              </a:ext>
            </a:extLst>
          </p:cNvPr>
          <p:cNvSpPr>
            <a:spLocks noGrp="1"/>
          </p:cNvSpPr>
          <p:nvPr/>
        </p:nvSpPr>
        <p:spPr>
          <a:xfrm>
            <a:off x="742950" y="5324475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sp>
        <p:nvSpPr>
          <p:cNvPr id="74" name="矩形 73">
            <a:extLst>
              <a:ext uri="{FF2B5EF4-FFF2-40B4-BE49-F238E27FC236}">
                <ns2:creationId id="{132362B4-EF32-4C48-825B-230139603358}"/>
              </a:ext>
            </a:extLst>
          </p:cNvPr>
          <p:cNvSpPr>
            <a:spLocks noGrp="1"/>
          </p:cNvSpPr>
          <p:nvPr/>
        </p:nvSpPr>
        <p:spPr>
          <a:xfrm>
            <a:off x="1085850" y="5276850"/>
            <a:ext cx="2381250" cy="228600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ns2:creationId id="{D5F71D0D-C1B8-40CB-93B2-03B9AB3A1369}"/>
              </a:ext>
            </a:extLst>
          </p:cNvPr>
          <p:cNvSpPr>
            <a:spLocks noGrp="1"/>
          </p:cNvSpPr>
          <p:nvPr/>
        </p:nvSpPr>
        <p:spPr>
          <a:xfrm>
            <a:off x="1143000" y="5324475"/>
            <a:ext cx="2266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SCB：教师视角.zip</a:t>
            </a:r>
          </a:p>
        </p:txBody>
      </p:sp>
      <p:sp>
        <p:nvSpPr>
          <p:cNvPr id="76" name="矩形 75">
            <a:extLst>
              <a:ext uri="{FF2B5EF4-FFF2-40B4-BE49-F238E27FC236}">
                <ns2:creationId id="{B0592774-44CE-4D6D-A1B5-386C65D7B23B}"/>
              </a:ext>
            </a:extLst>
          </p:cNvPr>
          <p:cNvSpPr>
            <a:spLocks noGrp="1"/>
          </p:cNvSpPr>
          <p:nvPr/>
        </p:nvSpPr>
        <p:spPr>
          <a:xfrm>
            <a:off x="3467100" y="5276850"/>
            <a:ext cx="666750" cy="228600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ns2:creationId id="{D27138BE-F79C-440A-8F43-56A51041390B}"/>
              </a:ext>
            </a:extLst>
          </p:cNvPr>
          <p:cNvSpPr>
            <a:spLocks noGrp="1"/>
          </p:cNvSpPr>
          <p:nvPr/>
        </p:nvSpPr>
        <p:spPr>
          <a:xfrm>
            <a:off x="3524250" y="5324475"/>
            <a:ext cx="552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78" name="矩形 77">
            <a:extLst>
              <a:ext uri="{FF2B5EF4-FFF2-40B4-BE49-F238E27FC236}">
                <ns2:creationId id="{2D3B2A2F-E5AB-4E9D-950E-873C77CBE843}"/>
              </a:ext>
            </a:extLst>
          </p:cNvPr>
          <p:cNvSpPr>
            <a:spLocks noGrp="1"/>
          </p:cNvSpPr>
          <p:nvPr/>
        </p:nvSpPr>
        <p:spPr>
          <a:xfrm>
            <a:off x="4133850" y="5276850"/>
            <a:ext cx="7372350" cy="228600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ns2:creationId id="{72C64F37-1EC5-46EC-A8A0-A9B81CF32920}"/>
              </a:ext>
            </a:extLst>
          </p:cNvPr>
          <p:cNvSpPr>
            <a:spLocks noGrp="1"/>
          </p:cNvSpPr>
          <p:nvPr/>
        </p:nvSpPr>
        <p:spPr>
          <a:xfrm>
            <a:off x="4191000" y="5324475"/>
            <a:ext cx="7258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同一 SCB GitHub 来源；教师侧视角视频目录；Excel：SCB_GitHub_课堂行为</a:t>
            </a:r>
          </a:p>
        </p:txBody>
      </p:sp>
      <p:sp>
        <p:nvSpPr>
          <p:cNvPr id="80" name="矩形 79">
            <a:extLst>
              <a:ext uri="{FF2B5EF4-FFF2-40B4-BE49-F238E27FC236}">
                <ns2:creationId id="{D710B862-167A-48CF-A147-2B6E55617AB6}"/>
              </a:ext>
            </a:extLst>
          </p:cNvPr>
          <p:cNvSpPr>
            <a:spLocks noGrp="1"/>
          </p:cNvSpPr>
          <p:nvPr/>
        </p:nvSpPr>
        <p:spPr>
          <a:xfrm>
            <a:off x="685800" y="5505450"/>
            <a:ext cx="4000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ns2:creationId id="{09A135FE-6014-4607-AD9D-1F348507ED71}"/>
              </a:ext>
            </a:extLst>
          </p:cNvPr>
          <p:cNvSpPr>
            <a:spLocks noGrp="1"/>
          </p:cNvSpPr>
          <p:nvPr/>
        </p:nvSpPr>
        <p:spPr>
          <a:xfrm>
            <a:off x="742950" y="5553075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7</a:t>
            </a:r>
          </a:p>
        </p:txBody>
      </p:sp>
      <p:sp>
        <p:nvSpPr>
          <p:cNvPr id="82" name="矩形 81">
            <a:extLst>
              <a:ext uri="{FF2B5EF4-FFF2-40B4-BE49-F238E27FC236}">
                <ns2:creationId id="{F46399AB-1B2C-45AF-BA3E-494515E435C9}"/>
              </a:ext>
            </a:extLst>
          </p:cNvPr>
          <p:cNvSpPr>
            <a:spLocks noGrp="1"/>
          </p:cNvSpPr>
          <p:nvPr/>
        </p:nvSpPr>
        <p:spPr>
          <a:xfrm>
            <a:off x="1085850" y="5505450"/>
            <a:ext cx="23812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ns2:creationId id="{EA34C3FB-6680-41AF-ADAC-B1BDD0745BB1}"/>
              </a:ext>
            </a:extLst>
          </p:cNvPr>
          <p:cNvSpPr>
            <a:spLocks noGrp="1"/>
          </p:cNvSpPr>
          <p:nvPr/>
        </p:nvSpPr>
        <p:spPr>
          <a:xfrm>
            <a:off x="1143000" y="5553075"/>
            <a:ext cx="2266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SCB：斜上方视角1.zip</a:t>
            </a:r>
          </a:p>
        </p:txBody>
      </p:sp>
      <p:sp>
        <p:nvSpPr>
          <p:cNvPr id="84" name="矩形 83">
            <a:extLst>
              <a:ext uri="{FF2B5EF4-FFF2-40B4-BE49-F238E27FC236}">
                <ns2:creationId id="{DE98F40F-54F6-4A55-A068-ABBFC3D089F5}"/>
              </a:ext>
            </a:extLst>
          </p:cNvPr>
          <p:cNvSpPr>
            <a:spLocks noGrp="1"/>
          </p:cNvSpPr>
          <p:nvPr/>
        </p:nvSpPr>
        <p:spPr>
          <a:xfrm>
            <a:off x="3467100" y="5505450"/>
            <a:ext cx="6667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矩形 84">
            <a:extLst>
              <a:ext uri="{FF2B5EF4-FFF2-40B4-BE49-F238E27FC236}">
                <ns2:creationId id="{6B903F3C-F8A4-49CF-A467-1AF9430B852C}"/>
              </a:ext>
            </a:extLst>
          </p:cNvPr>
          <p:cNvSpPr>
            <a:spLocks noGrp="1"/>
          </p:cNvSpPr>
          <p:nvPr/>
        </p:nvSpPr>
        <p:spPr>
          <a:xfrm>
            <a:off x="3524250" y="5553075"/>
            <a:ext cx="552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86" name="矩形 85">
            <a:extLst>
              <a:ext uri="{FF2B5EF4-FFF2-40B4-BE49-F238E27FC236}">
                <ns2:creationId id="{217973A0-BF07-47A5-A242-F82F6FFB724C}"/>
              </a:ext>
            </a:extLst>
          </p:cNvPr>
          <p:cNvSpPr>
            <a:spLocks noGrp="1"/>
          </p:cNvSpPr>
          <p:nvPr/>
        </p:nvSpPr>
        <p:spPr>
          <a:xfrm>
            <a:off x="4133850" y="5505450"/>
            <a:ext cx="73723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矩形 86">
            <a:extLst>
              <a:ext uri="{FF2B5EF4-FFF2-40B4-BE49-F238E27FC236}">
                <ns2:creationId id="{5BA05FC6-FC93-4B4A-A6CB-754791DD8C65}"/>
              </a:ext>
            </a:extLst>
          </p:cNvPr>
          <p:cNvSpPr>
            <a:spLocks noGrp="1"/>
          </p:cNvSpPr>
          <p:nvPr/>
        </p:nvSpPr>
        <p:spPr>
          <a:xfrm>
            <a:off x="4191000" y="5553075"/>
            <a:ext cx="7258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同一 SCB GitHub 来源；斜上方视角 1 视频目录；Excel：SCB_GitHub_课堂行为</a:t>
            </a:r>
          </a:p>
        </p:txBody>
      </p:sp>
      <p:sp>
        <p:nvSpPr>
          <p:cNvPr id="88" name="矩形 87">
            <a:extLst>
              <a:ext uri="{FF2B5EF4-FFF2-40B4-BE49-F238E27FC236}">
                <ns2:creationId id="{964A9F3F-C3CB-4D0C-8F01-D731F846D2E2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400050" cy="228600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ns2:creationId id="{210E278B-B8A6-4676-BD58-844501DF5432}"/>
              </a:ext>
            </a:extLst>
          </p:cNvPr>
          <p:cNvSpPr>
            <a:spLocks noGrp="1"/>
          </p:cNvSpPr>
          <p:nvPr/>
        </p:nvSpPr>
        <p:spPr>
          <a:xfrm>
            <a:off x="742950" y="5781675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8</a:t>
            </a:r>
          </a:p>
        </p:txBody>
      </p:sp>
      <p:sp>
        <p:nvSpPr>
          <p:cNvPr id="90" name="矩形 89">
            <a:extLst>
              <a:ext uri="{FF2B5EF4-FFF2-40B4-BE49-F238E27FC236}">
                <ns2:creationId id="{F483F7B1-AC4C-4C3A-ADF4-D62789AD2B31}"/>
              </a:ext>
            </a:extLst>
          </p:cNvPr>
          <p:cNvSpPr>
            <a:spLocks noGrp="1"/>
          </p:cNvSpPr>
          <p:nvPr/>
        </p:nvSpPr>
        <p:spPr>
          <a:xfrm>
            <a:off x="1085850" y="5734050"/>
            <a:ext cx="2381250" cy="228600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ns2:creationId id="{EA24D0EC-9422-4A47-AE87-A5D17D551448}"/>
              </a:ext>
            </a:extLst>
          </p:cNvPr>
          <p:cNvSpPr>
            <a:spLocks noGrp="1"/>
          </p:cNvSpPr>
          <p:nvPr/>
        </p:nvSpPr>
        <p:spPr>
          <a:xfrm>
            <a:off x="1143000" y="5781675"/>
            <a:ext cx="2266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SCB：斜上方视角2.zip</a:t>
            </a:r>
          </a:p>
        </p:txBody>
      </p:sp>
      <p:sp>
        <p:nvSpPr>
          <p:cNvPr id="92" name="矩形 91">
            <a:extLst>
              <a:ext uri="{FF2B5EF4-FFF2-40B4-BE49-F238E27FC236}">
                <ns2:creationId id="{F3A8B6AD-FB5C-42CD-B8A6-D9A03F57F641}"/>
              </a:ext>
            </a:extLst>
          </p:cNvPr>
          <p:cNvSpPr>
            <a:spLocks noGrp="1"/>
          </p:cNvSpPr>
          <p:nvPr/>
        </p:nvSpPr>
        <p:spPr>
          <a:xfrm>
            <a:off x="3467100" y="5734050"/>
            <a:ext cx="666750" cy="228600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ns2:creationId id="{8849209F-BC5A-4365-8BF2-E1185A3A83AD}"/>
              </a:ext>
            </a:extLst>
          </p:cNvPr>
          <p:cNvSpPr>
            <a:spLocks noGrp="1"/>
          </p:cNvSpPr>
          <p:nvPr/>
        </p:nvSpPr>
        <p:spPr>
          <a:xfrm>
            <a:off x="3524250" y="5781675"/>
            <a:ext cx="552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94" name="矩形 93">
            <a:extLst>
              <a:ext uri="{FF2B5EF4-FFF2-40B4-BE49-F238E27FC236}">
                <ns2:creationId id="{74AC847A-5695-4340-A83C-ACED567F7022}"/>
              </a:ext>
            </a:extLst>
          </p:cNvPr>
          <p:cNvSpPr>
            <a:spLocks noGrp="1"/>
          </p:cNvSpPr>
          <p:nvPr/>
        </p:nvSpPr>
        <p:spPr>
          <a:xfrm>
            <a:off x="4133850" y="5734050"/>
            <a:ext cx="7372350" cy="228600"/>
          </a:xfrm>
          <a:prstGeom prst="rect">
            <a:avLst/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ns2:creationId id="{C1DFCD21-1D66-45CE-B425-063B67A6CCB0}"/>
              </a:ext>
            </a:extLst>
          </p:cNvPr>
          <p:cNvSpPr>
            <a:spLocks noGrp="1"/>
          </p:cNvSpPr>
          <p:nvPr/>
        </p:nvSpPr>
        <p:spPr>
          <a:xfrm>
            <a:off x="4191000" y="5781675"/>
            <a:ext cx="7258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同一 SCB GitHub 来源；斜上方视角 2 视频目录；Excel：SCB_GitHub_课堂行为</a:t>
            </a:r>
          </a:p>
        </p:txBody>
      </p:sp>
      <p:sp>
        <p:nvSpPr>
          <p:cNvPr id="96" name="矩形 95">
            <a:extLst>
              <a:ext uri="{FF2B5EF4-FFF2-40B4-BE49-F238E27FC236}">
                <ns2:creationId id="{A19C76C2-34E5-43EE-9AB0-6E4B39E486DC}"/>
              </a:ext>
            </a:extLst>
          </p:cNvPr>
          <p:cNvSpPr>
            <a:spLocks noGrp="1"/>
          </p:cNvSpPr>
          <p:nvPr/>
        </p:nvSpPr>
        <p:spPr>
          <a:xfrm>
            <a:off x="685800" y="5962650"/>
            <a:ext cx="4000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ns2:creationId id="{E82B4B0E-3F46-475B-BB49-0662A231F93E}"/>
              </a:ext>
            </a:extLst>
          </p:cNvPr>
          <p:cNvSpPr>
            <a:spLocks noGrp="1"/>
          </p:cNvSpPr>
          <p:nvPr/>
        </p:nvSpPr>
        <p:spPr>
          <a:xfrm>
            <a:off x="742950" y="6010275"/>
            <a:ext cx="28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9</a:t>
            </a:r>
          </a:p>
        </p:txBody>
      </p:sp>
      <p:sp>
        <p:nvSpPr>
          <p:cNvPr id="98" name="矩形 97">
            <a:extLst>
              <a:ext uri="{FF2B5EF4-FFF2-40B4-BE49-F238E27FC236}">
                <ns2:creationId id="{81D35259-255F-4BDF-8C25-A9BE97E02708}"/>
              </a:ext>
            </a:extLst>
          </p:cNvPr>
          <p:cNvSpPr>
            <a:spLocks noGrp="1"/>
          </p:cNvSpPr>
          <p:nvPr/>
        </p:nvSpPr>
        <p:spPr>
          <a:xfrm>
            <a:off x="1085850" y="5962650"/>
            <a:ext cx="23812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ns2:creationId id="{823F0FEC-40C6-4C47-A39A-C52D2A79CE01}"/>
              </a:ext>
            </a:extLst>
          </p:cNvPr>
          <p:cNvSpPr>
            <a:spLocks noGrp="1"/>
          </p:cNvSpPr>
          <p:nvPr/>
        </p:nvSpPr>
        <p:spPr>
          <a:xfrm>
            <a:off x="1143000" y="6010275"/>
            <a:ext cx="2266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SCB：后方视角.zip</a:t>
            </a:r>
          </a:p>
        </p:txBody>
      </p:sp>
      <p:sp>
        <p:nvSpPr>
          <p:cNvPr id="100" name="矩形 99">
            <a:extLst>
              <a:ext uri="{FF2B5EF4-FFF2-40B4-BE49-F238E27FC236}">
                <ns2:creationId id="{DD7B54FB-D959-4AAF-A57A-18E84D818A71}"/>
              </a:ext>
            </a:extLst>
          </p:cNvPr>
          <p:cNvSpPr>
            <a:spLocks noGrp="1"/>
          </p:cNvSpPr>
          <p:nvPr/>
        </p:nvSpPr>
        <p:spPr>
          <a:xfrm>
            <a:off x="3467100" y="5962650"/>
            <a:ext cx="6667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ns2:creationId id="{2D1FB01D-17B7-4557-AE50-DF2CD88EB4D5}"/>
              </a:ext>
            </a:extLst>
          </p:cNvPr>
          <p:cNvSpPr>
            <a:spLocks noGrp="1"/>
          </p:cNvSpPr>
          <p:nvPr/>
        </p:nvSpPr>
        <p:spPr>
          <a:xfrm>
            <a:off x="3524250" y="6010275"/>
            <a:ext cx="5524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73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02" name="矩形 101">
            <a:extLst>
              <a:ext uri="{FF2B5EF4-FFF2-40B4-BE49-F238E27FC236}">
                <ns2:creationId id="{5E1DF230-A012-46E6-AA94-6148EA4D58D6}"/>
              </a:ext>
            </a:extLst>
          </p:cNvPr>
          <p:cNvSpPr>
            <a:spLocks noGrp="1"/>
          </p:cNvSpPr>
          <p:nvPr/>
        </p:nvSpPr>
        <p:spPr>
          <a:xfrm>
            <a:off x="4133850" y="5962650"/>
            <a:ext cx="7372350" cy="2286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ns2:creationId id="{6F9F2ACD-8700-477C-AA04-F9E88F86D444}"/>
              </a:ext>
            </a:extLst>
          </p:cNvPr>
          <p:cNvSpPr>
            <a:spLocks noGrp="1"/>
          </p:cNvSpPr>
          <p:nvPr/>
        </p:nvSpPr>
        <p:spPr>
          <a:xfrm>
            <a:off x="4191000" y="6010275"/>
            <a:ext cx="7258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757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同一 SCB GitHub 来源；后方视角视频目录；Excel：SCB_GitHub_课堂行为</a:t>
            </a:r>
          </a:p>
        </p:txBody>
      </p:sp>
      <p:sp>
        <p:nvSpPr>
          <p:cNvPr id="104" name="矩形: 圆角 103">
            <a:extLst>
              <a:ext uri="{FF2B5EF4-FFF2-40B4-BE49-F238E27FC236}">
                <ns2:creationId id="{BCADF1B5-B333-4B7E-A679-6951D6BA547D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10820400" cy="190500"/>
          </a:xfrm>
          <a:prstGeom prst="roundRect">
            <a:avLst>
              <a:gd name="adj" fmla="val 50000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/>
          <p:cNvSpPr/>
          <p:nvPr/>
        </p:nvSpPr>
        <p:spPr>
          <a:xfrm>
            <a:off x="857250" y="6219825"/>
            <a:ext cx="10477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79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原表第 1–9 行为原有来源映射；新增 SCB 来源与文件组织请见下一页第 10–14 行续表。</a:t>
            </a:r>
          </a:p>
        </p:txBody>
      </p:sp>
      <p:sp>
        <p:nvSpPr>
          <p:cNvPr id="106" name="直接连接符 105">
            <a:extLst>
              <a:ext uri="{FF2B5EF4-FFF2-40B4-BE49-F238E27FC236}">
                <ns2:creationId id="{60C8DD2D-01F6-4810-A85A-07B0B9A1AA62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矩形 106">
            <a:extLst>
              <a:ext uri="{FF2B5EF4-FFF2-40B4-BE49-F238E27FC236}">
                <ns2:creationId id="{5109D1AC-AF86-43E2-94F5-D0570C86ED87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来源映射</a:t>
            </a:r>
          </a:p>
        </p:txBody>
      </p:sp>
      <p:sp>
        <p:nvSpPr>
          <p:cNvPr id="108" name="矩形 107">
            <a:extLst>
              <a:ext uri="{FF2B5EF4-FFF2-40B4-BE49-F238E27FC236}">
                <ns2:creationId id="{3325F728-BD5C-4EC0-B94F-C1561268AD27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val="786647934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81038" y="381000"/>
            <a:ext cx="109994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B6D66"/>
                </a:solidFill>
                <a:latin typeface="Microsoft YaHei"/>
                <a:ea typeface="Microsoft YaHei"/>
                <a:cs typeface="Microsoft YaHei"/>
              </a:rPr>
              <a:t>来源映射与论文链接</a:t>
            </a:r>
          </a:p>
        </p:txBody>
      </p:sp>
      <p:sp>
        <p:nvSpPr>
          <p:cNvPr id="4" name="page"/>
          <p:cNvSpPr txBox="1"/>
          <p:nvPr/>
        </p:nvSpPr>
        <p:spPr>
          <a:xfrm>
            <a:off x="11032937" y="342900"/>
            <a:ext cx="30790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6B756F"/>
                </a:solidFill>
                <a:latin typeface="Microsoft YaHei"/>
                <a:ea typeface="Microsoft YaHei"/>
                <a:cs typeface="Microsoft YaHei"/>
              </a:rPr>
              <a:t>06B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72846" y="692150"/>
            <a:ext cx="6296761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来源 10–14：新增 SCB GitHub 版本续表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352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7DED8"/>
            </a:solidFill>
          </a:ln>
        </p:spPr>
      </p:sp>
      <p:sp>
        <p:nvSpPr>
          <p:cNvPr id="7" name="intro2"/>
          <p:cNvSpPr txBox="1"/>
          <p:nvPr/>
        </p:nvSpPr>
        <p:spPr>
          <a:xfrm>
            <a:off x="679704" y="1562100"/>
            <a:ext cx="67851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56F"/>
                </a:solidFill>
                <a:latin typeface="Microsoft YaHei"/>
                <a:ea typeface="Microsoft YaHei"/>
                <a:cs typeface="Microsoft YaHei"/>
              </a:rPr>
              <a:t>沿用第 6 页的来源映射字段，新增版本均归入 SCB GitHub 来源，不重复计算为新的公开来源。</a:t>
            </a:r>
          </a:p>
        </p:txBody>
      </p:sp>
      <p:sp>
        <p:nvSpPr>
          <p:cNvPr id="8" name="sh0"/>
          <p:cNvSpPr/>
          <p:nvPr/>
        </p:nvSpPr>
        <p:spPr>
          <a:xfrm>
            <a:off x="685800" y="1981200"/>
            <a:ext cx="342900" cy="409575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</a:ln>
        </p:spPr>
      </p:sp>
      <p:sp>
        <p:nvSpPr>
          <p:cNvPr id="9" name="st0"/>
          <p:cNvSpPr txBox="1"/>
          <p:nvPr/>
        </p:nvSpPr>
        <p:spPr>
          <a:xfrm>
            <a:off x="822945" y="2111375"/>
            <a:ext cx="68610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6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#</a:t>
            </a:r>
          </a:p>
        </p:txBody>
      </p:sp>
      <p:sp>
        <p:nvSpPr>
          <p:cNvPr id="10" name="sh1"/>
          <p:cNvSpPr/>
          <p:nvPr/>
        </p:nvSpPr>
        <p:spPr>
          <a:xfrm>
            <a:off x="1028700" y="1981200"/>
            <a:ext cx="2400300" cy="409575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</a:ln>
        </p:spPr>
      </p:sp>
      <p:sp>
        <p:nvSpPr>
          <p:cNvPr id="11" name="st1"/>
          <p:cNvSpPr txBox="1"/>
          <p:nvPr/>
        </p:nvSpPr>
        <p:spPr>
          <a:xfrm>
            <a:off x="1804228" y="2111375"/>
            <a:ext cx="849244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6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数据包 / 文件组织</a:t>
            </a:r>
          </a:p>
        </p:txBody>
      </p:sp>
      <p:sp>
        <p:nvSpPr>
          <p:cNvPr id="12" name="sh2"/>
          <p:cNvSpPr/>
          <p:nvPr/>
        </p:nvSpPr>
        <p:spPr>
          <a:xfrm>
            <a:off x="3429000" y="1981200"/>
            <a:ext cx="666750" cy="409575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</a:ln>
        </p:spPr>
      </p:sp>
      <p:sp>
        <p:nvSpPr>
          <p:cNvPr id="13" name="st2"/>
          <p:cNvSpPr txBox="1"/>
          <p:nvPr/>
        </p:nvSpPr>
        <p:spPr>
          <a:xfrm>
            <a:off x="3655301" y="2111375"/>
            <a:ext cx="214147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6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14" name="sh3"/>
          <p:cNvSpPr/>
          <p:nvPr/>
        </p:nvSpPr>
        <p:spPr>
          <a:xfrm>
            <a:off x="4095750" y="1981200"/>
            <a:ext cx="7410450" cy="409575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</a:ln>
        </p:spPr>
      </p:sp>
      <p:sp>
        <p:nvSpPr>
          <p:cNvPr id="15" name="st3"/>
          <p:cNvSpPr txBox="1"/>
          <p:nvPr/>
        </p:nvSpPr>
        <p:spPr>
          <a:xfrm>
            <a:off x="7337179" y="2111375"/>
            <a:ext cx="927592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6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Excel 中的具体对应</a:t>
            </a:r>
          </a:p>
        </p:txBody>
      </p:sp>
      <p:sp>
        <p:nvSpPr>
          <p:cNvPr id="16" name="sr0"/>
          <p:cNvSpPr/>
          <p:nvPr/>
        </p:nvSpPr>
        <p:spPr>
          <a:xfrm>
            <a:off x="685800" y="2390775"/>
            <a:ext cx="10820400" cy="6858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</a:ln>
        </p:spPr>
      </p:sp>
      <p:sp>
        <p:nvSpPr>
          <p:cNvPr id="17" name="sc0_0"/>
          <p:cNvSpPr txBox="1"/>
          <p:nvPr/>
        </p:nvSpPr>
        <p:spPr>
          <a:xfrm>
            <a:off x="793403" y="2578100"/>
            <a:ext cx="127694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6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8" name="sc0_1"/>
          <p:cNvSpPr txBox="1"/>
          <p:nvPr/>
        </p:nvSpPr>
        <p:spPr>
          <a:xfrm>
            <a:off x="1100138" y="2578100"/>
            <a:ext cx="1517834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6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SCB5-Discuss-2024-9-17.zip</a:t>
            </a:r>
          </a:p>
        </p:txBody>
      </p:sp>
      <p:sp>
        <p:nvSpPr>
          <p:cNvPr id="19" name="sc0_2"/>
          <p:cNvSpPr txBox="1"/>
          <p:nvPr/>
        </p:nvSpPr>
        <p:spPr>
          <a:xfrm>
            <a:off x="3726398" y="2578100"/>
            <a:ext cx="71954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6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0" name="sc0_3"/>
          <p:cNvSpPr txBox="1"/>
          <p:nvPr/>
        </p:nvSpPr>
        <p:spPr>
          <a:xfrm>
            <a:off x="4167188" y="2578100"/>
            <a:ext cx="3344822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6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GitHub SCB-Dataset；讨论单类子集；对应新增数据集总览与训练指标。</a:t>
            </a:r>
          </a:p>
        </p:txBody>
      </p:sp>
      <p:sp>
        <p:nvSpPr>
          <p:cNvPr id="21" name="sr1"/>
          <p:cNvSpPr/>
          <p:nvPr/>
        </p:nvSpPr>
        <p:spPr>
          <a:xfrm>
            <a:off x="685800" y="3076575"/>
            <a:ext cx="10820400" cy="685800"/>
          </a:xfrm>
          <a:prstGeom prst="rect">
            <a:avLst/>
          </a:prstGeom>
          <a:solidFill>
            <a:srgbClr val="EEF4EF"/>
          </a:solidFill>
          <a:ln w="9525">
            <a:solidFill>
              <a:srgbClr val="D7DED8"/>
            </a:solidFill>
          </a:ln>
        </p:spPr>
      </p:sp>
      <p:sp>
        <p:nvSpPr>
          <p:cNvPr id="22" name="sc1_0"/>
          <p:cNvSpPr txBox="1"/>
          <p:nvPr/>
        </p:nvSpPr>
        <p:spPr>
          <a:xfrm>
            <a:off x="793403" y="3263900"/>
            <a:ext cx="127694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6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23" name="sc1_1"/>
          <p:cNvSpPr txBox="1"/>
          <p:nvPr/>
        </p:nvSpPr>
        <p:spPr>
          <a:xfrm>
            <a:off x="1100138" y="3263900"/>
            <a:ext cx="2222560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6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SCB5-Handrise-Read-write-2024-9-17.zip</a:t>
            </a:r>
          </a:p>
        </p:txBody>
      </p:sp>
      <p:sp>
        <p:nvSpPr>
          <p:cNvPr id="24" name="sc1_2"/>
          <p:cNvSpPr txBox="1"/>
          <p:nvPr/>
        </p:nvSpPr>
        <p:spPr>
          <a:xfrm>
            <a:off x="3726398" y="3263900"/>
            <a:ext cx="71954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6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5" name="sc1_3"/>
          <p:cNvSpPr txBox="1"/>
          <p:nvPr/>
        </p:nvSpPr>
        <p:spPr>
          <a:xfrm>
            <a:off x="4167188" y="3263900"/>
            <a:ext cx="3098734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6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GitHub SCB-Dataset；举手/阅读/写字；对应专用 YOLOv7 权重。</a:t>
            </a:r>
          </a:p>
        </p:txBody>
      </p:sp>
      <p:sp>
        <p:nvSpPr>
          <p:cNvPr id="26" name="sr2"/>
          <p:cNvSpPr/>
          <p:nvPr/>
        </p:nvSpPr>
        <p:spPr>
          <a:xfrm>
            <a:off x="685800" y="3762375"/>
            <a:ext cx="10820400" cy="6858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</a:ln>
        </p:spPr>
      </p:sp>
      <p:sp>
        <p:nvSpPr>
          <p:cNvPr id="27" name="sc2_0"/>
          <p:cNvSpPr txBox="1"/>
          <p:nvPr/>
        </p:nvSpPr>
        <p:spPr>
          <a:xfrm>
            <a:off x="793403" y="3949700"/>
            <a:ext cx="127694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6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28" name="sc2_1"/>
          <p:cNvSpPr txBox="1"/>
          <p:nvPr/>
        </p:nvSpPr>
        <p:spPr>
          <a:xfrm>
            <a:off x="1100138" y="3949700"/>
            <a:ext cx="1691469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6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SCB_BowTurnHead_20250509.zip</a:t>
            </a:r>
          </a:p>
        </p:txBody>
      </p:sp>
      <p:sp>
        <p:nvSpPr>
          <p:cNvPr id="29" name="sc2_2"/>
          <p:cNvSpPr txBox="1"/>
          <p:nvPr/>
        </p:nvSpPr>
        <p:spPr>
          <a:xfrm>
            <a:off x="3726398" y="3949700"/>
            <a:ext cx="71954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6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30" name="sc2_3"/>
          <p:cNvSpPr txBox="1"/>
          <p:nvPr/>
        </p:nvSpPr>
        <p:spPr>
          <a:xfrm>
            <a:off x="4167188" y="3949700"/>
            <a:ext cx="2582603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6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GitHub SCB-Dataset；低头/转头；头部姿态困难案例。</a:t>
            </a:r>
          </a:p>
        </p:txBody>
      </p:sp>
      <p:sp>
        <p:nvSpPr>
          <p:cNvPr id="31" name="sr3"/>
          <p:cNvSpPr/>
          <p:nvPr/>
        </p:nvSpPr>
        <p:spPr>
          <a:xfrm>
            <a:off x="685800" y="4448175"/>
            <a:ext cx="10820400" cy="685800"/>
          </a:xfrm>
          <a:prstGeom prst="rect">
            <a:avLst/>
          </a:prstGeom>
          <a:solidFill>
            <a:srgbClr val="EEF4EF"/>
          </a:solidFill>
          <a:ln w="9525">
            <a:solidFill>
              <a:srgbClr val="D7DED8"/>
            </a:solidFill>
          </a:ln>
        </p:spPr>
      </p:sp>
      <p:sp>
        <p:nvSpPr>
          <p:cNvPr id="32" name="sc3_0"/>
          <p:cNvSpPr txBox="1"/>
          <p:nvPr/>
        </p:nvSpPr>
        <p:spPr>
          <a:xfrm>
            <a:off x="793403" y="4635500"/>
            <a:ext cx="127694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6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3" name="sc3_1"/>
          <p:cNvSpPr txBox="1"/>
          <p:nvPr/>
        </p:nvSpPr>
        <p:spPr>
          <a:xfrm>
            <a:off x="1100138" y="4635500"/>
            <a:ext cx="3457266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76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SCB5_Teacher_Behavior_Stand_BlackBoard_Sreen_20250406-2.zip</a:t>
            </a:r>
          </a:p>
        </p:txBody>
      </p:sp>
      <p:sp>
        <p:nvSpPr>
          <p:cNvPr id="34" name="sc3_2"/>
          <p:cNvSpPr txBox="1"/>
          <p:nvPr/>
        </p:nvSpPr>
        <p:spPr>
          <a:xfrm>
            <a:off x="3726398" y="4635500"/>
            <a:ext cx="71954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6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35" name="sc3_3"/>
          <p:cNvSpPr txBox="1"/>
          <p:nvPr/>
        </p:nvSpPr>
        <p:spPr>
          <a:xfrm>
            <a:off x="4167188" y="4635500"/>
            <a:ext cx="3037888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6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GitHub SCB-Dataset；教师、黑板、屏幕和互动；存在重复副本。</a:t>
            </a:r>
          </a:p>
        </p:txBody>
      </p:sp>
      <p:sp>
        <p:nvSpPr>
          <p:cNvPr id="36" name="sr4"/>
          <p:cNvSpPr/>
          <p:nvPr/>
        </p:nvSpPr>
        <p:spPr>
          <a:xfrm>
            <a:off x="685800" y="5133975"/>
            <a:ext cx="10820400" cy="68580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</a:ln>
        </p:spPr>
      </p:sp>
      <p:sp>
        <p:nvSpPr>
          <p:cNvPr id="37" name="sc4_0"/>
          <p:cNvSpPr txBox="1"/>
          <p:nvPr/>
        </p:nvSpPr>
        <p:spPr>
          <a:xfrm>
            <a:off x="793403" y="5321300"/>
            <a:ext cx="127694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6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8" name="sc4_1"/>
          <p:cNvSpPr txBox="1"/>
          <p:nvPr/>
        </p:nvSpPr>
        <p:spPr>
          <a:xfrm>
            <a:off x="1100138" y="5321300"/>
            <a:ext cx="1809082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6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SCB_LLM_202506：类别 ZIP + JSON</a:t>
            </a:r>
          </a:p>
        </p:txBody>
      </p:sp>
      <p:sp>
        <p:nvSpPr>
          <p:cNvPr id="39" name="sc4_2"/>
          <p:cNvSpPr txBox="1"/>
          <p:nvPr/>
        </p:nvSpPr>
        <p:spPr>
          <a:xfrm>
            <a:off x="3726398" y="5321300"/>
            <a:ext cx="71954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6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40" name="sc4_3"/>
          <p:cNvSpPr txBox="1"/>
          <p:nvPr/>
        </p:nvSpPr>
        <p:spPr>
          <a:xfrm>
            <a:off x="4167188" y="5321300"/>
            <a:ext cx="3056999" cy="1504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6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GitHub SCB-Dataset；学生/教师中文行为分类；Qwen评估记录。</a:t>
            </a:r>
          </a:p>
        </p:txBody>
      </p:sp>
      <p:sp>
        <p:nvSpPr>
          <p:cNvPr id="41" name="snote-bg"/>
          <p:cNvSpPr/>
          <p:nvPr/>
        </p:nvSpPr>
        <p:spPr>
          <a:xfrm>
            <a:off x="685800" y="6019800"/>
            <a:ext cx="10820400" cy="438150"/>
          </a:xfrm>
          <a:prstGeom prst="roundRect">
            <a:avLst>
              <a:gd name="adj" fmla="val 17391"/>
            </a:avLst>
          </a:prstGeom>
          <a:solidFill>
            <a:srgbClr val="FFF1E7"/>
          </a:solidFill>
          <a:ln w="9525">
            <a:solidFill>
              <a:srgbClr val="D27A55"/>
            </a:solidFill>
          </a:ln>
        </p:spPr>
      </p:sp>
      <p:sp>
        <p:nvSpPr>
          <p:cNvPr id="42" name="snote"/>
          <p:cNvSpPr txBox="1"/>
          <p:nvPr/>
        </p:nvSpPr>
        <p:spPr>
          <a:xfrm>
            <a:off x="871538" y="6118225"/>
            <a:ext cx="583156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来源链接：https://github.com/Whiffe/SCB-dataset；模型源码与权重已归档到 D:\数据处理1\课堂视觉模型。</a:t>
            </a:r>
          </a:p>
        </p:txBody>
      </p:sp>
      <p:sp>
        <p:nvSpPr>
          <p:cNvPr id="43" name="Line 43"/>
          <p:cNvSpPr/>
          <p:nvPr/>
        </p:nvSpPr>
        <p:spPr>
          <a:xfrm>
            <a:off x="685800" y="6477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7DED8"/>
            </a:solidFill>
          </a:ln>
        </p:spPr>
      </p:sp>
      <p:sp>
        <p:nvSpPr>
          <p:cNvPr id="44" name="footer-left"/>
          <p:cNvSpPr txBox="1"/>
          <p:nvPr/>
        </p:nvSpPr>
        <p:spPr>
          <a:xfrm>
            <a:off x="681038" y="6616700"/>
            <a:ext cx="369600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6B756F"/>
                </a:solidFill>
                <a:latin typeface="Microsoft YaHei"/>
                <a:ea typeface="Microsoft YaHei"/>
                <a:cs typeface="Microsoft YaHei"/>
              </a:rPr>
              <a:t>来源 URL 和模型权重路径以 Excel 中的字段为准；同一仓库的不同版本分开记录。</a:t>
            </a:r>
          </a:p>
        </p:txBody>
      </p:sp>
      <p:sp>
        <p:nvSpPr>
          <p:cNvPr id="45" name="footer-right"/>
          <p:cNvSpPr txBox="1"/>
          <p:nvPr/>
        </p:nvSpPr>
        <p:spPr>
          <a:xfrm>
            <a:off x="10592752" y="6616700"/>
            <a:ext cx="9182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6B756F"/>
                </a:solidFill>
                <a:latin typeface="Microsoft YaHei"/>
                <a:ea typeface="Microsoft YaHei"/>
                <a:cs typeface="Microsoft YaHei"/>
              </a:rPr>
              <a:t>课堂视觉数据处理台</a:t>
            </a:r>
          </a:p>
        </p:txBody>
      </p:sp>
    </p:spTree>
    <p:extLst>
      <p:ext uri="{BB962C8B-B14F-4D97-AF65-F5344CB8AC3E}">
        <p14:creationId val="786647934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74DD94EE-6316-4ED1-A332-839334C8DB2F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数据资源整理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C5689C2-A48D-4638-B68E-1EE2A48B0115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3A2FEDC-DEE5-403C-A963-E5406622961A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Excel 索引表：把数据整理成可追溯清单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F1B5407A-69BE-4220-8865-CB2EADE6761F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A05CD3C-6CC0-455D-95D4-03AFC60DD5FE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4191000" cy="3524250"/>
          </a:xfrm>
          <a:prstGeom prst="roundRect">
            <a:avLst>
              <a:gd name="adj" fmla="val 4324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4890E33-9D6B-4C4D-9DDF-8FFA0934AE1D}"/>
              </a:ext>
            </a:extLst>
          </p:cNvPr>
          <p:cNvSpPr>
            <a:spLocks noGrp="1"/>
          </p:cNvSpPr>
          <p:nvPr/>
        </p:nvSpPr>
        <p:spPr>
          <a:xfrm>
            <a:off x="952500" y="19240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工作簿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F638D02-E04B-4E57-AB60-C9DC37F366C0}"/>
              </a:ext>
            </a:extLst>
          </p:cNvPr>
          <p:cNvSpPr>
            <a:spLocks noGrp="1"/>
          </p:cNvSpPr>
          <p:nvPr/>
        </p:nvSpPr>
        <p:spPr>
          <a:xfrm>
            <a:off x="952500" y="2247900"/>
            <a:ext cx="3524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学生行为数据集1_跨设备媒体索引_实际路径修正版.xlsx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847743D-098B-4B60-8B9C-C32AB72DC980}"/>
              </a:ext>
            </a:extLst>
          </p:cNvPr>
          <p:cNvSpPr>
            <a:spLocks noGrp="1"/>
          </p:cNvSpPr>
          <p:nvPr/>
        </p:nvSpPr>
        <p:spPr>
          <a:xfrm>
            <a:off x="952500" y="302895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根目录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7BA9F1-C570-47EC-BC3E-C752253C7D6A}"/>
              </a:ext>
            </a:extLst>
          </p:cNvPr>
          <p:cNvSpPr>
            <a:spLocks noGrp="1"/>
          </p:cNvSpPr>
          <p:nvPr/>
        </p:nvSpPr>
        <p:spPr>
          <a:xfrm>
            <a:off x="952500" y="33147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D:\数据处理1\学生行为数据集1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A0D9794-1F9E-4C8A-8BF7-D1DA907400CB}"/>
              </a:ext>
            </a:extLst>
          </p:cNvPr>
          <p:cNvSpPr>
            <a:spLocks noGrp="1"/>
          </p:cNvSpPr>
          <p:nvPr/>
        </p:nvSpPr>
        <p:spPr>
          <a:xfrm>
            <a:off x="952500" y="384810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工作表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23961C4-EB28-4BD7-9B14-0FBEE4586BC0}"/>
              </a:ext>
            </a:extLst>
          </p:cNvPr>
          <p:cNvSpPr>
            <a:spLocks noGrp="1"/>
          </p:cNvSpPr>
          <p:nvPr/>
        </p:nvSpPr>
        <p:spPr>
          <a:xfrm>
            <a:off x="952500" y="4133850"/>
            <a:ext cx="3429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00_索引说明</a:t>
            </a:r>
          </a:p>
          <a:p>
            <a:pPr algn="l">
              <a:def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DAiSEE_微表情</a:t>
            </a:r>
          </a:p>
          <a:p>
            <a:pPr algn="l">
              <a:def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Tianchi_课堂行为</a:t>
            </a:r>
          </a:p>
          <a:p>
            <a:pPr algn="l">
              <a:def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SCB_GitHub_课堂行为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629C328-4339-4CE6-BAB7-E9E9DB959FAC}"/>
              </a:ext>
            </a:extLst>
          </p:cNvPr>
          <p:cNvSpPr>
            <a:spLocks noGrp="1"/>
          </p:cNvSpPr>
          <p:nvPr/>
        </p:nvSpPr>
        <p:spPr>
          <a:xfrm>
            <a:off x="5334000" y="1657350"/>
            <a:ext cx="6172200" cy="3524250"/>
          </a:xfrm>
          <a:prstGeom prst="roundRect">
            <a:avLst>
              <a:gd name="adj" fmla="val 4324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EBB6A0B-2FC8-40F3-858D-FD100D61C3F5}"/>
              </a:ext>
            </a:extLst>
          </p:cNvPr>
          <p:cNvSpPr>
            <a:spLocks noGrp="1"/>
          </p:cNvSpPr>
          <p:nvPr/>
        </p:nvSpPr>
        <p:spPr>
          <a:xfrm>
            <a:off x="5600700" y="19240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字段分组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1A5E702-8D51-42F5-A7B3-42552977D9B0}"/>
              </a:ext>
            </a:extLst>
          </p:cNvPr>
          <p:cNvSpPr>
            <a:spLocks noGrp="1"/>
          </p:cNvSpPr>
          <p:nvPr/>
        </p:nvSpPr>
        <p:spPr>
          <a:xfrm>
            <a:off x="5600700" y="2324100"/>
            <a:ext cx="5619750" cy="419100"/>
          </a:xfrm>
          <a:prstGeom prst="roundRect">
            <a:avLst>
              <a:gd name="adj" fmla="val 27273"/>
            </a:avLst>
          </a:prstGeom>
          <a:solidFill>
            <a:srgbClr val="DDEAE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9A59EAF-9066-417C-8DD1-4DDCE4898D6F}"/>
              </a:ext>
            </a:extLst>
          </p:cNvPr>
          <p:cNvSpPr>
            <a:spLocks noGrp="1"/>
          </p:cNvSpPr>
          <p:nvPr/>
        </p:nvSpPr>
        <p:spPr>
          <a:xfrm>
            <a:off x="5753100" y="24384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来源追溯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009AD7E-4C8C-4379-9D4B-2600C965F9D4}"/>
              </a:ext>
            </a:extLst>
          </p:cNvPr>
          <p:cNvSpPr>
            <a:spLocks noGrp="1"/>
          </p:cNvSpPr>
          <p:nvPr/>
        </p:nvSpPr>
        <p:spPr>
          <a:xfrm>
            <a:off x="7124700" y="2419350"/>
            <a:ext cx="3943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dataset_name · source_url · source_detail_url · paper_url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37FE0A1-7A5D-4E41-A78F-A9AB58A96850}"/>
              </a:ext>
            </a:extLst>
          </p:cNvPr>
          <p:cNvSpPr>
            <a:spLocks noGrp="1"/>
          </p:cNvSpPr>
          <p:nvPr/>
        </p:nvSpPr>
        <p:spPr>
          <a:xfrm>
            <a:off x="5600700" y="2857500"/>
            <a:ext cx="5619750" cy="419100"/>
          </a:xfrm>
          <a:prstGeom prst="roundRect">
            <a:avLst>
              <a:gd name="adj" fmla="val 27273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212E095-16BA-45F5-B21B-6D7B02AB7909}"/>
              </a:ext>
            </a:extLst>
          </p:cNvPr>
          <p:cNvSpPr>
            <a:spLocks noGrp="1"/>
          </p:cNvSpPr>
          <p:nvPr/>
        </p:nvSpPr>
        <p:spPr>
          <a:xfrm>
            <a:off x="5753100" y="29718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媒体定位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EC2152E-8CD9-48C8-8B00-89B423E60C3B}"/>
              </a:ext>
            </a:extLst>
          </p:cNvPr>
          <p:cNvSpPr>
            <a:spLocks noGrp="1"/>
          </p:cNvSpPr>
          <p:nvPr/>
        </p:nvSpPr>
        <p:spPr>
          <a:xfrm>
            <a:off x="7124700" y="2952750"/>
            <a:ext cx="3943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file_name · file_extension · archive_file · archive_member_path · relative_path_after_unzip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0143446-2F13-42B3-8503-53E5293BD664}"/>
              </a:ext>
            </a:extLst>
          </p:cNvPr>
          <p:cNvSpPr>
            <a:spLocks noGrp="1"/>
          </p:cNvSpPr>
          <p:nvPr/>
        </p:nvSpPr>
        <p:spPr>
          <a:xfrm>
            <a:off x="5600700" y="3390900"/>
            <a:ext cx="5619750" cy="419100"/>
          </a:xfrm>
          <a:prstGeom prst="roundRect">
            <a:avLst>
              <a:gd name="adj" fmla="val 27273"/>
            </a:avLst>
          </a:prstGeom>
          <a:solidFill>
            <a:srgbClr val="DDEAE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A2956B4-41A6-44A5-BA4B-8DCC1C194BEA}"/>
              </a:ext>
            </a:extLst>
          </p:cNvPr>
          <p:cNvSpPr>
            <a:spLocks noGrp="1"/>
          </p:cNvSpPr>
          <p:nvPr/>
        </p:nvSpPr>
        <p:spPr>
          <a:xfrm>
            <a:off x="5753100" y="35052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任务与标签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1D335C4-46D4-4546-9E5C-D9DB3E545972}"/>
              </a:ext>
            </a:extLst>
          </p:cNvPr>
          <p:cNvSpPr>
            <a:spLocks noGrp="1"/>
          </p:cNvSpPr>
          <p:nvPr/>
        </p:nvSpPr>
        <p:spPr>
          <a:xfrm>
            <a:off x="7124700" y="3486150"/>
            <a:ext cx="3943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task · modality · split · category · action_labels · label_detail · object_count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4AC0A75-88C0-4F52-B282-F777476C5099}"/>
              </a:ext>
            </a:extLst>
          </p:cNvPr>
          <p:cNvSpPr>
            <a:spLocks noGrp="1"/>
          </p:cNvSpPr>
          <p:nvPr/>
        </p:nvSpPr>
        <p:spPr>
          <a:xfrm>
            <a:off x="5600700" y="3924300"/>
            <a:ext cx="5619750" cy="419100"/>
          </a:xfrm>
          <a:prstGeom prst="roundRect">
            <a:avLst>
              <a:gd name="adj" fmla="val 27273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E51E0FB-B250-4FF3-9B29-F9D3970856DB}"/>
              </a:ext>
            </a:extLst>
          </p:cNvPr>
          <p:cNvSpPr>
            <a:spLocks noGrp="1"/>
          </p:cNvSpPr>
          <p:nvPr/>
        </p:nvSpPr>
        <p:spPr>
          <a:xfrm>
            <a:off x="5753100" y="40386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视觉条件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D5D1F0A-DEC8-4B84-91CC-9254C9AE319C}"/>
              </a:ext>
            </a:extLst>
          </p:cNvPr>
          <p:cNvSpPr>
            <a:spLocks noGrp="1"/>
          </p:cNvSpPr>
          <p:nvPr/>
        </p:nvSpPr>
        <p:spPr>
          <a:xfrm>
            <a:off x="7124700" y="4019550"/>
            <a:ext cx="3943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sample_count_in_dataset · resolution · fps · duration_or_frames · scaled_or_resized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137D882F-C165-4ABA-90BC-F65B44CB818D}"/>
              </a:ext>
            </a:extLst>
          </p:cNvPr>
          <p:cNvSpPr>
            <a:spLocks noGrp="1"/>
          </p:cNvSpPr>
          <p:nvPr/>
        </p:nvSpPr>
        <p:spPr>
          <a:xfrm>
            <a:off x="5600700" y="4457700"/>
            <a:ext cx="5619750" cy="419100"/>
          </a:xfrm>
          <a:prstGeom prst="roundRect">
            <a:avLst>
              <a:gd name="adj" fmla="val 27273"/>
            </a:avLst>
          </a:prstGeom>
          <a:solidFill>
            <a:srgbClr val="DDEAE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1E1034D-97D1-488B-B373-D2CB2D04FC31}"/>
              </a:ext>
            </a:extLst>
          </p:cNvPr>
          <p:cNvSpPr>
            <a:spLocks noGrp="1"/>
          </p:cNvSpPr>
          <p:nvPr/>
        </p:nvSpPr>
        <p:spPr>
          <a:xfrm>
            <a:off x="5753100" y="45720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管理与复现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29B42F2-E2F0-48AC-BCEE-3795BDEE076A}"/>
              </a:ext>
            </a:extLst>
          </p:cNvPr>
          <p:cNvSpPr>
            <a:spLocks noGrp="1"/>
          </p:cNvSpPr>
          <p:nvPr/>
        </p:nvSpPr>
        <p:spPr>
          <a:xfrm>
            <a:off x="7124700" y="4552950"/>
            <a:ext cx="3943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938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license · download_status · responsible · notes · media_link · archive_link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0A52B522-4565-4B76-89C8-FD7506750EDD}"/>
              </a:ext>
            </a:extLst>
          </p:cNvPr>
          <p:cNvSpPr>
            <a:spLocks noGrp="1"/>
          </p:cNvSpPr>
          <p:nvPr/>
        </p:nvSpPr>
        <p:spPr>
          <a:xfrm>
            <a:off x="685800" y="5467350"/>
            <a:ext cx="10820400" cy="628650"/>
          </a:xfrm>
          <a:prstGeom prst="roundRect">
            <a:avLst>
              <a:gd name="adj" fmla="val 18182"/>
            </a:avLst>
          </a:prstGeom>
          <a:solidFill>
            <a:srgbClr val="173C3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C2B1B75-E04B-4B87-A06E-123F1FF66624}"/>
              </a:ext>
            </a:extLst>
          </p:cNvPr>
          <p:cNvSpPr>
            <a:spLocks noGrp="1"/>
          </p:cNvSpPr>
          <p:nvPr/>
        </p:nvSpPr>
        <p:spPr>
          <a:xfrm>
            <a:off x="895350" y="5638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跨设备路径逻辑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A5E7314-806B-4743-9807-A0FF70CEAE91}"/>
              </a:ext>
            </a:extLst>
          </p:cNvPr>
          <p:cNvSpPr>
            <a:spLocks noGrp="1"/>
          </p:cNvSpPr>
          <p:nvPr/>
        </p:nvSpPr>
        <p:spPr>
          <a:xfrm>
            <a:off x="2647950" y="56007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Excel 记录压缩包名、压缩包内路径和解压后相对路径；换设备时先下载并解压到同名目录，再用相对路径定位图片或视频。</a:t>
            </a:r>
          </a:p>
        </p:txBody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FBBACB8C-FD4C-45D7-9577-9B199930D2C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BCF8AD8-7316-4FED-BE40-66118B08F020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Excel 索引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A46AEFB-C480-43DF-A2AD-4576DAF2D2EB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19738889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rect-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81038" y="381000"/>
            <a:ext cx="109994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B6D66"/>
                </a:solidFill>
                <a:latin typeface="Microsoft YaHei"/>
                <a:ea typeface="Microsoft YaHei"/>
                <a:cs typeface="Microsoft YaHei"/>
              </a:rPr>
              <a:t>新增数据与开源模型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142071" y="34290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6B756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846" y="692150"/>
            <a:ext cx="5518404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新增数据：从检测数据到多模态模型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352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7DED8"/>
            </a:solidFill>
          </a:ln>
        </p:spPr>
      </p:sp>
      <p:sp>
        <p:nvSpPr>
          <p:cNvPr id="7" name="newrect-2"/>
          <p:cNvSpPr/>
          <p:nvPr/>
        </p:nvSpPr>
        <p:spPr>
          <a:xfrm>
            <a:off x="685800" y="1695450"/>
            <a:ext cx="2476500" cy="1524000"/>
          </a:xfrm>
          <a:prstGeom prst="roundRect">
            <a:avLst>
              <a:gd name="adj" fmla="val 11250"/>
            </a:avLst>
          </a:prstGeom>
          <a:solidFill>
            <a:srgbClr val="2B6D66"/>
          </a:solidFill>
          <a:ln>
            <a:noFill/>
          </a:ln>
        </p:spPr>
      </p:sp>
      <p:sp>
        <p:nvSpPr>
          <p:cNvPr id="8" name="newrect-3"/>
          <p:cNvSpPr/>
          <p:nvPr/>
        </p:nvSpPr>
        <p:spPr>
          <a:xfrm>
            <a:off x="3390900" y="1695450"/>
            <a:ext cx="2476500" cy="1524000"/>
          </a:xfrm>
          <a:prstGeom prst="roundRect">
            <a:avLst>
              <a:gd name="adj" fmla="val 11250"/>
            </a:avLst>
          </a:prstGeom>
          <a:solidFill>
            <a:srgbClr val="E97132"/>
          </a:solidFill>
          <a:ln>
            <a:noFill/>
          </a:ln>
        </p:spPr>
      </p:sp>
      <p:sp>
        <p:nvSpPr>
          <p:cNvPr id="9" name="newrect-4"/>
          <p:cNvSpPr/>
          <p:nvPr/>
        </p:nvSpPr>
        <p:spPr>
          <a:xfrm>
            <a:off x="6096000" y="1695450"/>
            <a:ext cx="2476500" cy="1524000"/>
          </a:xfrm>
          <a:prstGeom prst="roundRect">
            <a:avLst>
              <a:gd name="adj" fmla="val 11250"/>
            </a:avLst>
          </a:prstGeom>
          <a:solidFill>
            <a:srgbClr val="19312E"/>
          </a:solidFill>
          <a:ln>
            <a:noFill/>
          </a:ln>
        </p:spPr>
      </p:sp>
      <p:sp>
        <p:nvSpPr>
          <p:cNvPr id="10" name="newrect-5"/>
          <p:cNvSpPr/>
          <p:nvPr/>
        </p:nvSpPr>
        <p:spPr>
          <a:xfrm>
            <a:off x="8801100" y="1695450"/>
            <a:ext cx="2705100" cy="1524000"/>
          </a:xfrm>
          <a:prstGeom prst="roundRect">
            <a:avLst>
              <a:gd name="adj" fmla="val 11250"/>
            </a:avLst>
          </a:prstGeom>
          <a:solidFill>
            <a:srgbClr val="8A9A8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907542" y="1911350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学生行为检测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02970" y="2197100"/>
            <a:ext cx="2631377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4 个 YOLOv7 子集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08685" y="2717800"/>
            <a:ext cx="17377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举手 / 阅读 / 写字 / 讨论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612642" y="1911350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教师与课堂元素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08070" y="2197100"/>
            <a:ext cx="2076488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12,224 张图像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613785" y="2717800"/>
            <a:ext cx="166994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教师、黑板、屏幕、互动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17742" y="1911350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中文多模态分类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13170" y="2197100"/>
            <a:ext cx="2682278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21,019 张类别图像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18885" y="2717800"/>
            <a:ext cx="139101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学生行为 + 教师行为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22842" y="1911350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开源模型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018270" y="2197100"/>
            <a:ext cx="283454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4 组可运行 YOLOv7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023985" y="2717800"/>
            <a:ext cx="236749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另有 YOLO 源码与 Qwen 评估记录</a:t>
            </a:r>
          </a:p>
        </p:txBody>
      </p:sp>
      <p:sp>
        <p:nvSpPr>
          <p:cNvPr id="23" name="newrect-6"/>
          <p:cNvSpPr/>
          <p:nvPr/>
        </p:nvSpPr>
        <p:spPr>
          <a:xfrm>
            <a:off x="685800" y="3676650"/>
            <a:ext cx="10820400" cy="1847850"/>
          </a:xfrm>
          <a:prstGeom prst="roundRect">
            <a:avLst>
              <a:gd name="adj" fmla="val 8247"/>
            </a:avLst>
          </a:prstGeom>
          <a:solidFill>
            <a:srgbClr val="FFFDF8"/>
          </a:solidFill>
          <a:ln w="9525">
            <a:solidFill>
              <a:srgbClr val="D7DED8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944880" y="3917950"/>
            <a:ext cx="1630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这批新数据的价值</a:t>
            </a:r>
          </a:p>
        </p:txBody>
      </p:sp>
      <p:sp>
        <p:nvSpPr>
          <p:cNvPr id="25" name="TextBox 25"/>
          <p:cNvSpPr/>
          <p:nvPr/>
        </p:nvSpPr>
        <p:spPr>
          <a:xfrm>
            <a:off x="942975" y="4248150"/>
            <a:ext cx="5412296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50800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把课堂标签与可控视觉条件连接起来。</a:t>
            </a:r>
          </a:p>
        </p:txBody>
      </p:sp>
      <p:sp>
        <p:nvSpPr>
          <p:cNvPr id="26" name="TextBox 26"/>
          <p:cNvSpPr/>
          <p:nvPr/>
        </p:nvSpPr>
        <p:spPr>
          <a:xfrm>
            <a:off x="946023" y="4743450"/>
            <a:ext cx="7422452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25400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处理台生成原图、低分辨率和遮挡；专用模型输出检测框或行为类别。</a:t>
            </a:r>
          </a:p>
        </p:txBody>
      </p:sp>
      <p:sp>
        <p:nvSpPr>
          <p:cNvPr id="27" name="TextBox 27"/>
          <p:cNvSpPr/>
          <p:nvPr/>
        </p:nvSpPr>
        <p:spPr>
          <a:xfrm>
            <a:off x="946023" y="5067300"/>
            <a:ext cx="6043898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25400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比较远距离、低分辨率和遮挡对人物分析的影响。</a:t>
            </a:r>
          </a:p>
        </p:txBody>
      </p:sp>
      <p:sp>
        <p:nvSpPr>
          <p:cNvPr id="28" name="Line 28"/>
          <p:cNvSpPr/>
          <p:nvPr/>
        </p:nvSpPr>
        <p:spPr>
          <a:xfrm>
            <a:off x="685800" y="6477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7DED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681038" y="6604000"/>
            <a:ext cx="523743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6B756F"/>
                </a:solidFill>
                <a:latin typeface="Microsoft YaHei"/>
                <a:ea typeface="Microsoft YaHei"/>
                <a:cs typeface="Microsoft YaHei"/>
              </a:rPr>
              <a:t>来源：SCB-Dataset 仓库 https://github.com/Whiffe/SCB-dataset；本地目录 D:/数据处理1/新数据</a:t>
            </a:r>
          </a:p>
        </p:txBody>
      </p:sp>
    </p:spTree>
    <p:extLst>
      <p:ext uri="{BB962C8B-B14F-4D97-AF65-F5344CB8AC3E}">
        <p14:creationId val="1692020369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rect-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81038" y="381000"/>
            <a:ext cx="109994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B6D66"/>
                </a:solidFill>
                <a:latin typeface="Microsoft YaHei"/>
                <a:ea typeface="Microsoft YaHei"/>
                <a:cs typeface="Microsoft YaHei"/>
              </a:rPr>
              <a:t>新增数据与开源模型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142071" y="34290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6B756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846" y="692150"/>
            <a:ext cx="4831842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学生行为检测：四个可复用子集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352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7DED8"/>
            </a:solidFill>
          </a:ln>
        </p:spPr>
      </p:sp>
      <p:sp>
        <p:nvSpPr>
          <p:cNvPr id="7" name="newrect-8"/>
          <p:cNvSpPr/>
          <p:nvPr/>
        </p:nvSpPr>
        <p:spPr>
          <a:xfrm>
            <a:off x="685800" y="1676400"/>
            <a:ext cx="10820400" cy="819150"/>
          </a:xfrm>
          <a:prstGeom prst="roundRect">
            <a:avLst>
              <a:gd name="adj" fmla="val 16279"/>
            </a:avLst>
          </a:prstGeom>
          <a:solidFill>
            <a:srgbClr val="FFFDF8"/>
          </a:solidFill>
          <a:ln w="9525">
            <a:solidFill>
              <a:srgbClr val="D7DED8"/>
            </a:solidFill>
          </a:ln>
        </p:spPr>
      </p:sp>
      <p:sp>
        <p:nvSpPr>
          <p:cNvPr id="8" name="newrect-9"/>
          <p:cNvSpPr/>
          <p:nvPr/>
        </p:nvSpPr>
        <p:spPr>
          <a:xfrm>
            <a:off x="685800" y="1676400"/>
            <a:ext cx="95250" cy="819150"/>
          </a:xfrm>
          <a:prstGeom prst="roundRect">
            <a:avLst>
              <a:gd name="adj" fmla="val 50000"/>
            </a:avLst>
          </a:prstGeom>
          <a:solidFill>
            <a:srgbClr val="2B6D6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44880" y="1784350"/>
            <a:ext cx="203432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Hand / Read / Write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22142" y="1797050"/>
            <a:ext cx="77746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B6D66"/>
                </a:solidFill>
                <a:latin typeface="Microsoft YaHei"/>
                <a:ea typeface="Microsoft YaHei"/>
                <a:cs typeface="Microsoft YaHei"/>
              </a:rPr>
              <a:t>6,864 张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946523" y="1809750"/>
            <a:ext cx="1391463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举手、阅读、写字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22717" y="1809750"/>
            <a:ext cx="15083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2B6D66"/>
                </a:solidFill>
                <a:latin typeface="Microsoft YaHei"/>
                <a:ea typeface="Microsoft YaHei"/>
                <a:cs typeface="Microsoft YaHei"/>
              </a:rPr>
              <a:t>mAP@0.5 = 0.7397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7547" y="2133600"/>
            <a:ext cx="3845639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56F"/>
                </a:solidFill>
                <a:latin typeface="Microsoft YaHei"/>
                <a:ea typeface="Microsoft YaHei"/>
                <a:cs typeface="Microsoft YaHei"/>
              </a:rPr>
              <a:t>YOLO TXT 标注；训练日志输入尺寸 640，原始分辨率暂未记录。</a:t>
            </a:r>
          </a:p>
        </p:txBody>
      </p:sp>
      <p:sp>
        <p:nvSpPr>
          <p:cNvPr id="14" name="newrect-10"/>
          <p:cNvSpPr/>
          <p:nvPr/>
        </p:nvSpPr>
        <p:spPr>
          <a:xfrm>
            <a:off x="685800" y="2676525"/>
            <a:ext cx="10820400" cy="819150"/>
          </a:xfrm>
          <a:prstGeom prst="roundRect">
            <a:avLst>
              <a:gd name="adj" fmla="val 16279"/>
            </a:avLst>
          </a:prstGeom>
          <a:solidFill>
            <a:srgbClr val="FFFDF8"/>
          </a:solidFill>
          <a:ln w="9525">
            <a:solidFill>
              <a:srgbClr val="D7DED8"/>
            </a:solidFill>
          </a:ln>
        </p:spPr>
      </p:sp>
      <p:sp>
        <p:nvSpPr>
          <p:cNvPr id="15" name="newrect-11"/>
          <p:cNvSpPr/>
          <p:nvPr/>
        </p:nvSpPr>
        <p:spPr>
          <a:xfrm>
            <a:off x="685800" y="2676525"/>
            <a:ext cx="95250" cy="81915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44880" y="2784475"/>
            <a:ext cx="78470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Discuss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422142" y="2797175"/>
            <a:ext cx="5675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B6D66"/>
                </a:solidFill>
                <a:latin typeface="Microsoft YaHei"/>
                <a:ea typeface="Microsoft YaHei"/>
                <a:cs typeface="Microsoft YaHei"/>
              </a:rPr>
              <a:t>864 张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46523" y="2809875"/>
            <a:ext cx="357581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讨论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22717" y="2809875"/>
            <a:ext cx="15083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rPr>
              <a:t>mAP@0.5 = 0.7466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7547" y="3133725"/>
            <a:ext cx="3845639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56F"/>
                </a:solidFill>
                <a:latin typeface="Microsoft YaHei"/>
                <a:ea typeface="Microsoft YaHei"/>
                <a:cs typeface="Microsoft YaHei"/>
              </a:rPr>
              <a:t>YOLO TXT 标注；训练日志输入尺寸 640，原始分辨率暂未记录。</a:t>
            </a:r>
          </a:p>
        </p:txBody>
      </p:sp>
      <p:sp>
        <p:nvSpPr>
          <p:cNvPr id="21" name="newrect-12"/>
          <p:cNvSpPr/>
          <p:nvPr/>
        </p:nvSpPr>
        <p:spPr>
          <a:xfrm>
            <a:off x="685800" y="3676650"/>
            <a:ext cx="10820400" cy="819150"/>
          </a:xfrm>
          <a:prstGeom prst="roundRect">
            <a:avLst>
              <a:gd name="adj" fmla="val 16279"/>
            </a:avLst>
          </a:prstGeom>
          <a:solidFill>
            <a:srgbClr val="FFFDF8"/>
          </a:solidFill>
          <a:ln w="9525">
            <a:solidFill>
              <a:srgbClr val="D7DED8"/>
            </a:solidFill>
          </a:ln>
        </p:spPr>
      </p:sp>
      <p:sp>
        <p:nvSpPr>
          <p:cNvPr id="22" name="newrect-13"/>
          <p:cNvSpPr/>
          <p:nvPr/>
        </p:nvSpPr>
        <p:spPr>
          <a:xfrm>
            <a:off x="685800" y="3676650"/>
            <a:ext cx="95250" cy="819150"/>
          </a:xfrm>
          <a:prstGeom prst="roundRect">
            <a:avLst>
              <a:gd name="adj" fmla="val 50000"/>
            </a:avLst>
          </a:prstGeom>
          <a:solidFill>
            <a:srgbClr val="19312E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44880" y="3784600"/>
            <a:ext cx="167304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Bow / Turn Head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422142" y="3797300"/>
            <a:ext cx="77746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B6D66"/>
                </a:solidFill>
                <a:latin typeface="Microsoft YaHei"/>
                <a:ea typeface="Microsoft YaHei"/>
                <a:cs typeface="Microsoft YaHei"/>
              </a:rPr>
              <a:t>2,410 张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946523" y="3810000"/>
            <a:ext cx="874522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低头、转头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022717" y="3810000"/>
            <a:ext cx="15083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mAP@0.5 = 0.2183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7547" y="4133850"/>
            <a:ext cx="3845639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56F"/>
                </a:solidFill>
                <a:latin typeface="Microsoft YaHei"/>
                <a:ea typeface="Microsoft YaHei"/>
                <a:cs typeface="Microsoft YaHei"/>
              </a:rPr>
              <a:t>YOLO TXT 标注；训练日志输入尺寸 640，原始分辨率暂未记录。</a:t>
            </a:r>
          </a:p>
        </p:txBody>
      </p:sp>
      <p:sp>
        <p:nvSpPr>
          <p:cNvPr id="28" name="newrect-14"/>
          <p:cNvSpPr/>
          <p:nvPr/>
        </p:nvSpPr>
        <p:spPr>
          <a:xfrm>
            <a:off x="685800" y="4676775"/>
            <a:ext cx="10820400" cy="819150"/>
          </a:xfrm>
          <a:prstGeom prst="roundRect">
            <a:avLst>
              <a:gd name="adj" fmla="val 16279"/>
            </a:avLst>
          </a:prstGeom>
          <a:solidFill>
            <a:srgbClr val="FFFDF8"/>
          </a:solidFill>
          <a:ln w="9525">
            <a:solidFill>
              <a:srgbClr val="D7DED8"/>
            </a:solidFill>
          </a:ln>
        </p:spPr>
      </p:sp>
      <p:sp>
        <p:nvSpPr>
          <p:cNvPr id="29" name="newrect-15"/>
          <p:cNvSpPr/>
          <p:nvPr/>
        </p:nvSpPr>
        <p:spPr>
          <a:xfrm>
            <a:off x="685800" y="4676775"/>
            <a:ext cx="95250" cy="819150"/>
          </a:xfrm>
          <a:prstGeom prst="roundRect">
            <a:avLst>
              <a:gd name="adj" fmla="val 50000"/>
            </a:avLst>
          </a:prstGeom>
          <a:solidFill>
            <a:srgbClr val="8A9A8A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44880" y="4784725"/>
            <a:ext cx="9767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HRW 4.2k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422142" y="4797425"/>
            <a:ext cx="95920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B6D66"/>
                </a:solidFill>
                <a:latin typeface="Microsoft YaHei"/>
                <a:ea typeface="Microsoft YaHei"/>
                <a:cs typeface="Microsoft YaHei"/>
              </a:rPr>
              <a:t>4,245 图像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946523" y="4810125"/>
            <a:ext cx="2253031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举手、阅读、写字（待核对）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433633" y="4810125"/>
            <a:ext cx="10974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8A9A8A"/>
                </a:solidFill>
                <a:latin typeface="Microsoft YaHei"/>
                <a:ea typeface="Microsoft YaHei"/>
                <a:cs typeface="Microsoft YaHei"/>
              </a:rPr>
              <a:t>匹配 HRW 权重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47547" y="5133975"/>
            <a:ext cx="3845639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B756F"/>
                </a:solidFill>
                <a:latin typeface="Microsoft YaHei"/>
                <a:ea typeface="Microsoft YaHei"/>
                <a:cs typeface="Microsoft YaHei"/>
              </a:rPr>
              <a:t>YOLO TXT 标注；训练日志输入尺寸 640，原始分辨率暂未记录。</a:t>
            </a:r>
          </a:p>
        </p:txBody>
      </p:sp>
      <p:sp>
        <p:nvSpPr>
          <p:cNvPr id="35" name="newrect-16"/>
          <p:cNvSpPr/>
          <p:nvPr/>
        </p:nvSpPr>
        <p:spPr>
          <a:xfrm>
            <a:off x="685800" y="5715000"/>
            <a:ext cx="10820400" cy="438150"/>
          </a:xfrm>
          <a:prstGeom prst="roundRect">
            <a:avLst>
              <a:gd name="adj" fmla="val 21739"/>
            </a:avLst>
          </a:prstGeom>
          <a:solidFill>
            <a:srgbClr val="E5EFEA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08304" y="5838825"/>
            <a:ext cx="5666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任务边界：这些权重只解释对应类别，不能把单类模型当作通用课堂行为模型。</a:t>
            </a:r>
          </a:p>
        </p:txBody>
      </p:sp>
      <p:sp>
        <p:nvSpPr>
          <p:cNvPr id="37" name="Line 37"/>
          <p:cNvSpPr/>
          <p:nvPr/>
        </p:nvSpPr>
        <p:spPr>
          <a:xfrm>
            <a:off x="685800" y="6477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7DED8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681038" y="6604000"/>
            <a:ext cx="523743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6B756F"/>
                </a:solidFill>
                <a:latin typeface="Microsoft YaHei"/>
                <a:ea typeface="Microsoft YaHei"/>
                <a:cs typeface="Microsoft YaHei"/>
              </a:rPr>
              <a:t>来源：SCB-Dataset 仓库 https://github.com/Whiffe/SCB-dataset；本地目录 D:/数据处理1/新数据</a:t>
            </a:r>
          </a:p>
        </p:txBody>
      </p:sp>
    </p:spTree>
    <p:extLst>
      <p:ext uri="{BB962C8B-B14F-4D97-AF65-F5344CB8AC3E}">
        <p14:creationId val="1692020369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rect-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81038" y="381000"/>
            <a:ext cx="109994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B6D66"/>
                </a:solidFill>
                <a:latin typeface="Microsoft YaHei"/>
                <a:ea typeface="Microsoft YaHei"/>
                <a:cs typeface="Microsoft YaHei"/>
              </a:rPr>
              <a:t>新增数据与开源模型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142071" y="34290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6B756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846" y="692150"/>
            <a:ext cx="5786163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教师行为与课堂元素：12,224 张图像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352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7DED8"/>
            </a:solidFill>
          </a:ln>
        </p:spPr>
      </p:sp>
      <p:sp>
        <p:nvSpPr>
          <p:cNvPr id="7" name="newrect-18"/>
          <p:cNvSpPr/>
          <p:nvPr/>
        </p:nvSpPr>
        <p:spPr>
          <a:xfrm>
            <a:off x="685800" y="1676400"/>
            <a:ext cx="3238500" cy="3429000"/>
          </a:xfrm>
          <a:prstGeom prst="roundRect">
            <a:avLst>
              <a:gd name="adj" fmla="val 5294"/>
            </a:avLst>
          </a:prstGeom>
          <a:solidFill>
            <a:srgbClr val="2B6D66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44880" y="1917700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数据规模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4212" y="2222500"/>
            <a:ext cx="1435951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8,984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6404" y="285750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训练集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4212" y="3175000"/>
            <a:ext cx="1435951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3,240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6404" y="381000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验证集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4880" y="4413250"/>
            <a:ext cx="144793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总计 12,224 张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6785" y="4813300"/>
            <a:ext cx="10856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YOLO TXT 标注</a:t>
            </a:r>
          </a:p>
        </p:txBody>
      </p:sp>
      <p:sp>
        <p:nvSpPr>
          <p:cNvPr id="15" name="newrect-19"/>
          <p:cNvSpPr/>
          <p:nvPr/>
        </p:nvSpPr>
        <p:spPr>
          <a:xfrm>
            <a:off x="4343400" y="1676400"/>
            <a:ext cx="7162800" cy="34290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9525">
            <a:solidFill>
              <a:srgbClr val="D7DED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4640580" y="1917700"/>
            <a:ext cx="80125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8 类标签</a:t>
            </a:r>
          </a:p>
        </p:txBody>
      </p:sp>
      <p:sp>
        <p:nvSpPr>
          <p:cNvPr id="17" name="newrect-20"/>
          <p:cNvSpPr/>
          <p:nvPr/>
        </p:nvSpPr>
        <p:spPr>
          <a:xfrm>
            <a:off x="4648200" y="2476500"/>
            <a:ext cx="2714625" cy="400050"/>
          </a:xfrm>
          <a:prstGeom prst="roundRect">
            <a:avLst>
              <a:gd name="adj" fmla="val 23810"/>
            </a:avLst>
          </a:prstGeom>
          <a:solidFill>
            <a:srgbClr val="F0E9D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794504" y="2581275"/>
            <a:ext cx="8102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指导 guide</a:t>
            </a:r>
          </a:p>
        </p:txBody>
      </p:sp>
      <p:sp>
        <p:nvSpPr>
          <p:cNvPr id="19" name="newrect-21"/>
          <p:cNvSpPr/>
          <p:nvPr/>
        </p:nvSpPr>
        <p:spPr>
          <a:xfrm>
            <a:off x="7791450" y="2476500"/>
            <a:ext cx="2714625" cy="400050"/>
          </a:xfrm>
          <a:prstGeom prst="roundRect">
            <a:avLst>
              <a:gd name="adj" fmla="val 23810"/>
            </a:avLst>
          </a:prstGeom>
          <a:solidFill>
            <a:srgbClr val="F0E9D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937754" y="2581275"/>
            <a:ext cx="9798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应答 answer</a:t>
            </a:r>
          </a:p>
        </p:txBody>
      </p:sp>
      <p:sp>
        <p:nvSpPr>
          <p:cNvPr id="21" name="newrect-22"/>
          <p:cNvSpPr/>
          <p:nvPr/>
        </p:nvSpPr>
        <p:spPr>
          <a:xfrm>
            <a:off x="4648200" y="3067050"/>
            <a:ext cx="2714625" cy="400050"/>
          </a:xfrm>
          <a:prstGeom prst="roundRect">
            <a:avLst>
              <a:gd name="adj" fmla="val 23810"/>
            </a:avLst>
          </a:prstGeom>
          <a:solidFill>
            <a:srgbClr val="F0E9DC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794504" y="317182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台上互动</a:t>
            </a:r>
          </a:p>
        </p:txBody>
      </p:sp>
      <p:sp>
        <p:nvSpPr>
          <p:cNvPr id="23" name="newrect-23"/>
          <p:cNvSpPr/>
          <p:nvPr/>
        </p:nvSpPr>
        <p:spPr>
          <a:xfrm>
            <a:off x="7791450" y="3067050"/>
            <a:ext cx="2714625" cy="400050"/>
          </a:xfrm>
          <a:prstGeom prst="roundRect">
            <a:avLst>
              <a:gd name="adj" fmla="val 23810"/>
            </a:avLst>
          </a:prstGeom>
          <a:solidFill>
            <a:srgbClr val="F0E9D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937754" y="317182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教师板书</a:t>
            </a:r>
          </a:p>
        </p:txBody>
      </p:sp>
      <p:sp>
        <p:nvSpPr>
          <p:cNvPr id="25" name="newrect-24"/>
          <p:cNvSpPr/>
          <p:nvPr/>
        </p:nvSpPr>
        <p:spPr>
          <a:xfrm>
            <a:off x="4648200" y="3657600"/>
            <a:ext cx="2714625" cy="400050"/>
          </a:xfrm>
          <a:prstGeom prst="roundRect">
            <a:avLst>
              <a:gd name="adj" fmla="val 23810"/>
            </a:avLst>
          </a:prstGeom>
          <a:solidFill>
            <a:srgbClr val="F0E9D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794504" y="3762375"/>
            <a:ext cx="10392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教师 teacher</a:t>
            </a:r>
          </a:p>
        </p:txBody>
      </p:sp>
      <p:sp>
        <p:nvSpPr>
          <p:cNvPr id="27" name="newrect-25"/>
          <p:cNvSpPr/>
          <p:nvPr/>
        </p:nvSpPr>
        <p:spPr>
          <a:xfrm>
            <a:off x="7791450" y="3657600"/>
            <a:ext cx="2714625" cy="400050"/>
          </a:xfrm>
          <a:prstGeom prst="roundRect">
            <a:avLst>
              <a:gd name="adj" fmla="val 23810"/>
            </a:avLst>
          </a:prstGeom>
          <a:solidFill>
            <a:srgbClr val="F0E9DC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937754" y="3762375"/>
            <a:ext cx="8526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站立 stand</a:t>
            </a:r>
          </a:p>
        </p:txBody>
      </p:sp>
      <p:sp>
        <p:nvSpPr>
          <p:cNvPr id="29" name="newrect-26"/>
          <p:cNvSpPr/>
          <p:nvPr/>
        </p:nvSpPr>
        <p:spPr>
          <a:xfrm>
            <a:off x="4648200" y="4248150"/>
            <a:ext cx="2714625" cy="400050"/>
          </a:xfrm>
          <a:prstGeom prst="roundRect">
            <a:avLst>
              <a:gd name="adj" fmla="val 23810"/>
            </a:avLst>
          </a:prstGeom>
          <a:solidFill>
            <a:srgbClr val="F0E9D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794504" y="4352925"/>
            <a:ext cx="9459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屏幕 screen</a:t>
            </a:r>
          </a:p>
        </p:txBody>
      </p:sp>
      <p:sp>
        <p:nvSpPr>
          <p:cNvPr id="31" name="newrect-27"/>
          <p:cNvSpPr/>
          <p:nvPr/>
        </p:nvSpPr>
        <p:spPr>
          <a:xfrm>
            <a:off x="7791450" y="4248150"/>
            <a:ext cx="2714625" cy="400050"/>
          </a:xfrm>
          <a:prstGeom prst="roundRect">
            <a:avLst>
              <a:gd name="adj" fmla="val 23810"/>
            </a:avLst>
          </a:prstGeom>
          <a:solidFill>
            <a:srgbClr val="F0E9D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937754" y="4352925"/>
            <a:ext cx="12820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黑板 blackBoard</a:t>
            </a:r>
          </a:p>
        </p:txBody>
      </p:sp>
      <p:sp>
        <p:nvSpPr>
          <p:cNvPr id="33" name="newrect-28"/>
          <p:cNvSpPr/>
          <p:nvPr/>
        </p:nvSpPr>
        <p:spPr>
          <a:xfrm>
            <a:off x="685800" y="546735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FFF1E7"/>
          </a:solidFill>
          <a:ln w="9525">
            <a:solidFill>
              <a:srgbClr val="E97132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908304" y="5657850"/>
            <a:ext cx="73882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注意：这是教师与课堂元素混合数据，不等于学生投入度数据；两个约 1.66 GB 的重复压缩包均保留。</a:t>
            </a:r>
          </a:p>
        </p:txBody>
      </p:sp>
      <p:sp>
        <p:nvSpPr>
          <p:cNvPr id="35" name="Line 35"/>
          <p:cNvSpPr/>
          <p:nvPr/>
        </p:nvSpPr>
        <p:spPr>
          <a:xfrm>
            <a:off x="685800" y="6477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7DED8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681038" y="6604000"/>
            <a:ext cx="523743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6B756F"/>
                </a:solidFill>
                <a:latin typeface="Microsoft YaHei"/>
                <a:ea typeface="Microsoft YaHei"/>
                <a:cs typeface="Microsoft YaHei"/>
              </a:rPr>
              <a:t>来源：SCB-Dataset 仓库 https://github.com/Whiffe/SCB-dataset；本地目录 D:/数据处理1/新数据</a:t>
            </a:r>
          </a:p>
        </p:txBody>
      </p:sp>
    </p:spTree>
    <p:extLst>
      <p:ext uri="{BB962C8B-B14F-4D97-AF65-F5344CB8AC3E}">
        <p14:creationId val="1692020369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rect-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81038" y="381000"/>
            <a:ext cx="109994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B6D66"/>
                </a:solidFill>
                <a:latin typeface="Microsoft YaHei"/>
                <a:ea typeface="Microsoft YaHei"/>
                <a:cs typeface="Microsoft YaHei"/>
              </a:rPr>
              <a:t>新增数据与开源模型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142071" y="34290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6B756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846" y="692150"/>
            <a:ext cx="5687713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SCB_LLM：中文多模态课堂行为分类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352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7DED8"/>
            </a:solidFill>
          </a:ln>
        </p:spPr>
      </p:sp>
      <p:sp>
        <p:nvSpPr>
          <p:cNvPr id="7" name="newrect-30"/>
          <p:cNvSpPr/>
          <p:nvPr/>
        </p:nvSpPr>
        <p:spPr>
          <a:xfrm>
            <a:off x="685800" y="1676400"/>
            <a:ext cx="4953000" cy="34290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9525">
            <a:solidFill>
              <a:srgbClr val="D7DED8"/>
            </a:solidFill>
          </a:ln>
        </p:spPr>
      </p:sp>
      <p:sp>
        <p:nvSpPr>
          <p:cNvPr id="8" name="newrect-31"/>
          <p:cNvSpPr/>
          <p:nvPr/>
        </p:nvSpPr>
        <p:spPr>
          <a:xfrm>
            <a:off x="5867400" y="1676400"/>
            <a:ext cx="5638800" cy="34290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9525">
            <a:solidFill>
              <a:srgbClr val="D7DED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44880" y="1917700"/>
            <a:ext cx="154536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学生行为（9类）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26480" y="1917700"/>
            <a:ext cx="154536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教师行为（7类）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4504" y="2371725"/>
            <a:ext cx="4648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9540" indent="-129540">
              <a:buClr>
                <a:srgbClr val="2B3733"/>
              </a:buClr>
              <a:buSzTx/>
              <a:buFontTx/>
              <a:buChar char="•"/>
            </a:pPr>
            <a:r>
              <a:rPr lang="zh-CN" sz="120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读写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4504" y="2638425"/>
            <a:ext cx="7879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9540" indent="-129540">
              <a:buClr>
                <a:srgbClr val="2B3733"/>
              </a:buClr>
              <a:buSzTx/>
              <a:buFontTx/>
              <a:buChar char="•"/>
            </a:pPr>
            <a:r>
              <a:rPr lang="zh-CN" sz="120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台上展示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4504" y="2905125"/>
            <a:ext cx="7879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9540" indent="-129540">
              <a:buClr>
                <a:srgbClr val="2B3733"/>
              </a:buClr>
              <a:buSzTx/>
              <a:buFontTx/>
              <a:buChar char="•"/>
            </a:pPr>
            <a:r>
              <a:rPr lang="zh-CN" sz="120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学生板书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4504" y="3171825"/>
            <a:ext cx="7879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9540" indent="-129540">
              <a:buClr>
                <a:srgbClr val="2B3733"/>
              </a:buClr>
              <a:buSzTx/>
              <a:buFontTx/>
              <a:buChar char="•"/>
            </a:pPr>
            <a:r>
              <a:rPr lang="zh-CN" sz="120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回答问题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4504" y="3438525"/>
            <a:ext cx="4648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9540" indent="-129540">
              <a:buClr>
                <a:srgbClr val="2B3733"/>
              </a:buClr>
              <a:buSzTx/>
              <a:buFontTx/>
              <a:buChar char="•"/>
            </a:pPr>
            <a:r>
              <a:rPr lang="zh-CN" sz="120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朗读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4504" y="3705225"/>
            <a:ext cx="4648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9540" indent="-129540">
              <a:buClr>
                <a:srgbClr val="2B3733"/>
              </a:buClr>
              <a:buSzTx/>
              <a:buFontTx/>
              <a:buChar char="•"/>
            </a:pPr>
            <a:r>
              <a:rPr lang="zh-CN" sz="120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讨论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4504" y="3971925"/>
            <a:ext cx="4648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9540" indent="-129540">
              <a:buClr>
                <a:srgbClr val="2B3733"/>
              </a:buClr>
              <a:buSzTx/>
              <a:buFontTx/>
              <a:buChar char="•"/>
            </a:pPr>
            <a:r>
              <a:rPr lang="zh-CN" sz="120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听讲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84504" y="4238625"/>
            <a:ext cx="7879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9540" indent="-129540">
              <a:buClr>
                <a:srgbClr val="2B3733"/>
              </a:buClr>
              <a:buSzTx/>
              <a:buFontTx/>
              <a:buChar char="•"/>
            </a:pPr>
            <a:r>
              <a:rPr lang="zh-CN" sz="120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学生举手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84504" y="4505325"/>
            <a:ext cx="4648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9540" indent="-129540">
              <a:buClr>
                <a:srgbClr val="2B3733"/>
              </a:buClr>
              <a:buSzTx/>
              <a:buFontTx/>
              <a:buChar char="•"/>
            </a:pPr>
            <a:r>
              <a:rPr lang="zh-CN" sz="120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其它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166104" y="2371725"/>
            <a:ext cx="4648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9540" indent="-129540">
              <a:buClr>
                <a:srgbClr val="2B3733"/>
              </a:buClr>
              <a:buSzTx/>
              <a:buFontTx/>
              <a:buChar char="•"/>
            </a:pPr>
            <a:r>
              <a:rPr lang="zh-CN" sz="120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讲授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166104" y="2714625"/>
            <a:ext cx="4648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9540" indent="-129540">
              <a:buClr>
                <a:srgbClr val="2B3733"/>
              </a:buClr>
              <a:buSzTx/>
              <a:buFontTx/>
              <a:buChar char="•"/>
            </a:pPr>
            <a:r>
              <a:rPr lang="zh-CN" sz="120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指导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166104" y="3057525"/>
            <a:ext cx="4648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9540" indent="-129540">
              <a:buClr>
                <a:srgbClr val="2B3733"/>
              </a:buClr>
              <a:buSzTx/>
              <a:buFontTx/>
              <a:buChar char="•"/>
            </a:pPr>
            <a:r>
              <a:rPr lang="zh-CN" sz="120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应答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166104" y="3400425"/>
            <a:ext cx="7879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9540" indent="-129540">
              <a:buClr>
                <a:srgbClr val="2B3733"/>
              </a:buClr>
              <a:buSzTx/>
              <a:buFontTx/>
              <a:buChar char="•"/>
            </a:pPr>
            <a:r>
              <a:rPr lang="zh-CN" sz="120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台上互动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166104" y="3743325"/>
            <a:ext cx="7879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9540" indent="-129540">
              <a:buClr>
                <a:srgbClr val="2B3733"/>
              </a:buClr>
              <a:buSzTx/>
              <a:buFontTx/>
              <a:buChar char="•"/>
            </a:pPr>
            <a:r>
              <a:rPr lang="zh-CN" sz="120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教师板书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166104" y="4086225"/>
            <a:ext cx="4648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9540" indent="-129540">
              <a:buClr>
                <a:srgbClr val="2B3733"/>
              </a:buClr>
              <a:buSzTx/>
              <a:buFontTx/>
              <a:buChar char="•"/>
            </a:pPr>
            <a:r>
              <a:rPr lang="zh-CN" sz="120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巡视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166104" y="4429125"/>
            <a:ext cx="4648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29540" indent="-129540">
              <a:buClr>
                <a:srgbClr val="2B3733"/>
              </a:buClr>
              <a:buSzTx/>
              <a:buFontTx/>
              <a:buChar char="•"/>
            </a:pPr>
            <a:r>
              <a:rPr lang="zh-CN" sz="120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其它</a:t>
            </a:r>
          </a:p>
        </p:txBody>
      </p:sp>
      <p:sp>
        <p:nvSpPr>
          <p:cNvPr id="27" name="newrect-32"/>
          <p:cNvSpPr/>
          <p:nvPr/>
        </p:nvSpPr>
        <p:spPr>
          <a:xfrm>
            <a:off x="685800" y="5429250"/>
            <a:ext cx="10820400" cy="571500"/>
          </a:xfrm>
          <a:prstGeom prst="roundRect">
            <a:avLst>
              <a:gd name="adj" fmla="val 20000"/>
            </a:avLst>
          </a:prstGeom>
          <a:solidFill>
            <a:srgbClr val="E5EFEA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08304" y="5543550"/>
            <a:ext cx="701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JSON = 图片 + 中文规则 + 唯一类别答案；按文件名前缀分组，避免同一视频跨训练集和验证集。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09066" y="5797550"/>
            <a:ext cx="56485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已有评估：Qwen2.5-VL F1=0.8376；Qwen3-VL F1=0.8624；完整模型分片目前缺失。</a:t>
            </a:r>
          </a:p>
        </p:txBody>
      </p:sp>
      <p:sp>
        <p:nvSpPr>
          <p:cNvPr id="30" name="Line 30"/>
          <p:cNvSpPr/>
          <p:nvPr/>
        </p:nvSpPr>
        <p:spPr>
          <a:xfrm>
            <a:off x="685800" y="6477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7DED8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81038" y="6604000"/>
            <a:ext cx="523743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6B756F"/>
                </a:solidFill>
                <a:latin typeface="Microsoft YaHei"/>
                <a:ea typeface="Microsoft YaHei"/>
                <a:cs typeface="Microsoft YaHei"/>
              </a:rPr>
              <a:t>来源：SCB-Dataset 仓库 https://github.com/Whiffe/SCB-dataset；本地目录 D:/数据处理1/新数据</a:t>
            </a:r>
          </a:p>
        </p:txBody>
      </p:sp>
    </p:spTree>
    <p:extLst>
      <p:ext uri="{BB962C8B-B14F-4D97-AF65-F5344CB8AC3E}">
        <p14:creationId val="1692020369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rect-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81038" y="381000"/>
            <a:ext cx="109994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B6D66"/>
                </a:solidFill>
                <a:latin typeface="Microsoft YaHei"/>
                <a:ea typeface="Microsoft YaHei"/>
                <a:cs typeface="Microsoft YaHei"/>
              </a:rPr>
              <a:t>新增数据与开源模型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142071" y="34290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6B756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846" y="692150"/>
            <a:ext cx="5861685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开源模型：能直接运行的课堂专用权重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352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7DED8"/>
            </a:solidFill>
          </a:ln>
        </p:spPr>
      </p:sp>
      <p:sp>
        <p:nvSpPr>
          <p:cNvPr id="7" name="newrect-34"/>
          <p:cNvSpPr/>
          <p:nvPr/>
        </p:nvSpPr>
        <p:spPr>
          <a:xfrm>
            <a:off x="685800" y="1676400"/>
            <a:ext cx="5048250" cy="1104900"/>
          </a:xfrm>
          <a:prstGeom prst="roundRect">
            <a:avLst>
              <a:gd name="adj" fmla="val 13793"/>
            </a:avLst>
          </a:prstGeom>
          <a:solidFill>
            <a:srgbClr val="FFFDF8"/>
          </a:solidFill>
          <a:ln w="9525">
            <a:solidFill>
              <a:srgbClr val="D7DED8"/>
            </a:solidFill>
          </a:ln>
        </p:spPr>
      </p:sp>
      <p:sp>
        <p:nvSpPr>
          <p:cNvPr id="8" name="newrect-35"/>
          <p:cNvSpPr/>
          <p:nvPr/>
        </p:nvSpPr>
        <p:spPr>
          <a:xfrm>
            <a:off x="685800" y="1676400"/>
            <a:ext cx="95250" cy="1104900"/>
          </a:xfrm>
          <a:prstGeom prst="roundRect">
            <a:avLst>
              <a:gd name="adj" fmla="val 50000"/>
            </a:avLst>
          </a:prstGeom>
          <a:solidFill>
            <a:srgbClr val="2B6D6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45261" y="1803400"/>
            <a:ext cx="192587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Hand / Read / Write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7166" y="2235200"/>
            <a:ext cx="6047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B756F"/>
                </a:solidFill>
                <a:latin typeface="Microsoft YaHei"/>
                <a:ea typeface="Microsoft YaHei"/>
                <a:cs typeface="Microsoft YaHei"/>
              </a:rPr>
              <a:t>mAP@0.5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98370" y="2120900"/>
            <a:ext cx="107239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2B6D66"/>
                </a:solidFill>
                <a:latin typeface="Microsoft YaHei"/>
                <a:ea typeface="Microsoft YaHei"/>
                <a:cs typeface="Microsoft YaHei"/>
              </a:rPr>
              <a:t>0.7397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37585" y="2222500"/>
            <a:ext cx="126285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举手 / 阅读 / 写字</a:t>
            </a:r>
          </a:p>
        </p:txBody>
      </p:sp>
      <p:sp>
        <p:nvSpPr>
          <p:cNvPr id="13" name="newrect-36"/>
          <p:cNvSpPr/>
          <p:nvPr/>
        </p:nvSpPr>
        <p:spPr>
          <a:xfrm>
            <a:off x="6115050" y="1676400"/>
            <a:ext cx="5048250" cy="1104900"/>
          </a:xfrm>
          <a:prstGeom prst="roundRect">
            <a:avLst>
              <a:gd name="adj" fmla="val 13793"/>
            </a:avLst>
          </a:prstGeom>
          <a:solidFill>
            <a:srgbClr val="FFFDF8"/>
          </a:solidFill>
          <a:ln w="9525">
            <a:solidFill>
              <a:srgbClr val="D7DED8"/>
            </a:solidFill>
          </a:ln>
        </p:spPr>
      </p:sp>
      <p:sp>
        <p:nvSpPr>
          <p:cNvPr id="14" name="newrect-37"/>
          <p:cNvSpPr/>
          <p:nvPr/>
        </p:nvSpPr>
        <p:spPr>
          <a:xfrm>
            <a:off x="6115050" y="1676400"/>
            <a:ext cx="95250" cy="110490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374511" y="1803400"/>
            <a:ext cx="7429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Discuss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76416" y="2235200"/>
            <a:ext cx="6047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B756F"/>
                </a:solidFill>
                <a:latin typeface="Microsoft YaHei"/>
                <a:ea typeface="Microsoft YaHei"/>
                <a:cs typeface="Microsoft YaHei"/>
              </a:rPr>
              <a:t>mAP@0.5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27620" y="2120900"/>
            <a:ext cx="107239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rPr>
              <a:t>0.7466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966835" y="2222500"/>
            <a:ext cx="31297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讨论</a:t>
            </a:r>
          </a:p>
        </p:txBody>
      </p:sp>
      <p:sp>
        <p:nvSpPr>
          <p:cNvPr id="19" name="newrect-38"/>
          <p:cNvSpPr/>
          <p:nvPr/>
        </p:nvSpPr>
        <p:spPr>
          <a:xfrm>
            <a:off x="685800" y="3009900"/>
            <a:ext cx="5048250" cy="1104900"/>
          </a:xfrm>
          <a:prstGeom prst="roundRect">
            <a:avLst>
              <a:gd name="adj" fmla="val 13793"/>
            </a:avLst>
          </a:prstGeom>
          <a:solidFill>
            <a:srgbClr val="FFFDF8"/>
          </a:solidFill>
          <a:ln w="9525">
            <a:solidFill>
              <a:srgbClr val="D7DED8"/>
            </a:solidFill>
          </a:ln>
        </p:spPr>
      </p:sp>
      <p:sp>
        <p:nvSpPr>
          <p:cNvPr id="20" name="newrect-39"/>
          <p:cNvSpPr/>
          <p:nvPr/>
        </p:nvSpPr>
        <p:spPr>
          <a:xfrm>
            <a:off x="685800" y="3009900"/>
            <a:ext cx="95250" cy="1104900"/>
          </a:xfrm>
          <a:prstGeom prst="roundRect">
            <a:avLst>
              <a:gd name="adj" fmla="val 50000"/>
            </a:avLst>
          </a:prstGeom>
          <a:solidFill>
            <a:srgbClr val="19312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45261" y="3136900"/>
            <a:ext cx="158386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Bow / Turn Head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7166" y="3568700"/>
            <a:ext cx="6047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B756F"/>
                </a:solidFill>
                <a:latin typeface="Microsoft YaHei"/>
                <a:ea typeface="Microsoft YaHei"/>
                <a:cs typeface="Microsoft YaHei"/>
              </a:rPr>
              <a:t>mAP@0.5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98370" y="3454400"/>
            <a:ext cx="107239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0.2183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537585" y="3556000"/>
            <a:ext cx="139101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低头 / 转头（较弱）</a:t>
            </a:r>
          </a:p>
        </p:txBody>
      </p:sp>
      <p:sp>
        <p:nvSpPr>
          <p:cNvPr id="25" name="newrect-40"/>
          <p:cNvSpPr/>
          <p:nvPr/>
        </p:nvSpPr>
        <p:spPr>
          <a:xfrm>
            <a:off x="6115050" y="3009900"/>
            <a:ext cx="5048250" cy="1104900"/>
          </a:xfrm>
          <a:prstGeom prst="roundRect">
            <a:avLst>
              <a:gd name="adj" fmla="val 13793"/>
            </a:avLst>
          </a:prstGeom>
          <a:solidFill>
            <a:srgbClr val="FFFDF8"/>
          </a:solidFill>
          <a:ln w="9525">
            <a:solidFill>
              <a:srgbClr val="D7DED8"/>
            </a:solidFill>
          </a:ln>
        </p:spPr>
      </p:sp>
      <p:sp>
        <p:nvSpPr>
          <p:cNvPr id="26" name="newrect-41"/>
          <p:cNvSpPr/>
          <p:nvPr/>
        </p:nvSpPr>
        <p:spPr>
          <a:xfrm>
            <a:off x="6115050" y="3009900"/>
            <a:ext cx="95250" cy="1104900"/>
          </a:xfrm>
          <a:prstGeom prst="roundRect">
            <a:avLst>
              <a:gd name="adj" fmla="val 50000"/>
            </a:avLst>
          </a:prstGeom>
          <a:solidFill>
            <a:srgbClr val="8A9A8A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374511" y="3136900"/>
            <a:ext cx="201565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Teacher / Classroom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376416" y="3568700"/>
            <a:ext cx="6047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6B756F"/>
                </a:solidFill>
                <a:latin typeface="Microsoft YaHei"/>
                <a:ea typeface="Microsoft YaHei"/>
                <a:cs typeface="Microsoft YaHei"/>
              </a:rPr>
              <a:t>mAP@0.5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627620" y="3454400"/>
            <a:ext cx="107239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rgbClr val="8A9A8A"/>
                </a:solidFill>
                <a:latin typeface="Microsoft YaHei"/>
                <a:ea typeface="Microsoft YaHei"/>
                <a:cs typeface="Microsoft YaHei"/>
              </a:rPr>
              <a:t>0.9399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66835" y="3556000"/>
            <a:ext cx="106685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教师与课堂元素</a:t>
            </a:r>
          </a:p>
        </p:txBody>
      </p:sp>
      <p:sp>
        <p:nvSpPr>
          <p:cNvPr id="31" name="newrect-42"/>
          <p:cNvSpPr/>
          <p:nvPr/>
        </p:nvSpPr>
        <p:spPr>
          <a:xfrm>
            <a:off x="685800" y="4533900"/>
            <a:ext cx="10820400" cy="1162050"/>
          </a:xfrm>
          <a:prstGeom prst="roundRect">
            <a:avLst>
              <a:gd name="adj" fmla="val 13115"/>
            </a:avLst>
          </a:prstGeom>
          <a:solidFill>
            <a:srgbClr val="19312E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45642" y="4749800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运行方式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46785" y="5118100"/>
            <a:ext cx="764061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python detect.py --weights best.pt --source 输入 --img-size 640 --conf 0.25 --save-txt --save-conf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47166" y="5397500"/>
            <a:ext cx="444588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DDEBE5"/>
                </a:solidFill>
                <a:latin typeface="Microsoft YaHei"/>
                <a:ea typeface="Microsoft YaHei"/>
                <a:cs typeface="Microsoft YaHei"/>
              </a:rPr>
              <a:t>输出：检测框、类别、置信度和 TXT 标注；模型必须与对应标签配套。</a:t>
            </a:r>
          </a:p>
        </p:txBody>
      </p:sp>
      <p:sp>
        <p:nvSpPr>
          <p:cNvPr id="35" name="Line 35"/>
          <p:cNvSpPr/>
          <p:nvPr/>
        </p:nvSpPr>
        <p:spPr>
          <a:xfrm>
            <a:off x="685800" y="6477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7DED8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681038" y="6604000"/>
            <a:ext cx="49362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6B756F"/>
                </a:solidFill>
                <a:latin typeface="Microsoft YaHei"/>
                <a:ea typeface="Microsoft YaHei"/>
                <a:cs typeface="Microsoft YaHei"/>
              </a:rPr>
              <a:t>来源：YOLOv7 https://github.com/WongKinYiu/yolov7；权重与指标来自 D:/数据处理1/新数据</a:t>
            </a:r>
          </a:p>
        </p:txBody>
      </p:sp>
    </p:spTree>
    <p:extLst>
      <p:ext uri="{BB962C8B-B14F-4D97-AF65-F5344CB8AC3E}">
        <p14:creationId val="1692020369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rect-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81038" y="381000"/>
            <a:ext cx="109994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B6D66"/>
                </a:solidFill>
                <a:latin typeface="Microsoft YaHei"/>
                <a:ea typeface="Microsoft YaHei"/>
                <a:cs typeface="Microsoft YaHei"/>
              </a:rPr>
              <a:t>新增数据与开源模型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142071" y="34290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6B756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846" y="692150"/>
            <a:ext cx="510131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专用模型 vs 课堂视觉数据处理台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352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7DED8"/>
            </a:solidFill>
          </a:ln>
        </p:spPr>
      </p:sp>
      <p:sp>
        <p:nvSpPr>
          <p:cNvPr id="7" name="newrect-44"/>
          <p:cNvSpPr/>
          <p:nvPr/>
        </p:nvSpPr>
        <p:spPr>
          <a:xfrm>
            <a:off x="685800" y="1676400"/>
            <a:ext cx="10820400" cy="495300"/>
          </a:xfrm>
          <a:prstGeom prst="roundRect">
            <a:avLst>
              <a:gd name="adj" fmla="val 19231"/>
            </a:avLst>
          </a:prstGeom>
          <a:solidFill>
            <a:srgbClr val="2B6D66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46404" y="183832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比较维度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422904" y="183832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新下载专用模型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28154" y="183832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现有处理台</a:t>
            </a:r>
          </a:p>
        </p:txBody>
      </p:sp>
      <p:sp>
        <p:nvSpPr>
          <p:cNvPr id="11" name="newrect-45"/>
          <p:cNvSpPr/>
          <p:nvPr/>
        </p:nvSpPr>
        <p:spPr>
          <a:xfrm>
            <a:off x="685800" y="2286000"/>
            <a:ext cx="10820400" cy="51435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08304" y="245745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行为识别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423285" y="2470150"/>
            <a:ext cx="166994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标签匹配，能输出检测框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28535" y="2470150"/>
            <a:ext cx="166994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负责调用模型与汇总指标</a:t>
            </a:r>
          </a:p>
        </p:txBody>
      </p:sp>
      <p:sp>
        <p:nvSpPr>
          <p:cNvPr id="15" name="newrect-46"/>
          <p:cNvSpPr/>
          <p:nvPr/>
        </p:nvSpPr>
        <p:spPr>
          <a:xfrm>
            <a:off x="685800" y="2876550"/>
            <a:ext cx="10820400" cy="514350"/>
          </a:xfrm>
          <a:prstGeom prst="rect">
            <a:avLst/>
          </a:prstGeom>
          <a:solidFill>
            <a:srgbClr val="F0E9DC"/>
          </a:solidFill>
          <a:ln w="9525">
            <a:solidFill>
              <a:srgbClr val="D7DED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08304" y="3048000"/>
            <a:ext cx="11765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低分辨率 / 遮挡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423285" y="3060700"/>
            <a:ext cx="13684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模型本身不制造条件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328535" y="3060700"/>
            <a:ext cx="166994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可以生成并记录实验条件</a:t>
            </a:r>
          </a:p>
        </p:txBody>
      </p:sp>
      <p:sp>
        <p:nvSpPr>
          <p:cNvPr id="19" name="newrect-47"/>
          <p:cNvSpPr/>
          <p:nvPr/>
        </p:nvSpPr>
        <p:spPr>
          <a:xfrm>
            <a:off x="685800" y="3467100"/>
            <a:ext cx="10820400" cy="51435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908304" y="3638550"/>
            <a:ext cx="10149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多人 / 单人物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423285" y="3651250"/>
            <a:ext cx="151917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检测框可用于多人分析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328535" y="3651250"/>
            <a:ext cx="19248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ROI、跟踪、条件对齐更完整</a:t>
            </a:r>
          </a:p>
        </p:txBody>
      </p:sp>
      <p:sp>
        <p:nvSpPr>
          <p:cNvPr id="23" name="newrect-48"/>
          <p:cNvSpPr/>
          <p:nvPr/>
        </p:nvSpPr>
        <p:spPr>
          <a:xfrm>
            <a:off x="685800" y="4057650"/>
            <a:ext cx="10820400" cy="514350"/>
          </a:xfrm>
          <a:prstGeom prst="rect">
            <a:avLst/>
          </a:prstGeom>
          <a:solidFill>
            <a:srgbClr val="F0E9DC"/>
          </a:solidFill>
          <a:ln w="9525">
            <a:solidFill>
              <a:srgbClr val="D7DED8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908304" y="422910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可复现比较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423285" y="4241800"/>
            <a:ext cx="106685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需外部脚本记录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328535" y="4241800"/>
            <a:ext cx="22730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自动保存参数、路径、哈希和报告</a:t>
            </a:r>
          </a:p>
        </p:txBody>
      </p:sp>
      <p:sp>
        <p:nvSpPr>
          <p:cNvPr id="27" name="newrect-49"/>
          <p:cNvSpPr/>
          <p:nvPr/>
        </p:nvSpPr>
        <p:spPr>
          <a:xfrm>
            <a:off x="685800" y="4648200"/>
            <a:ext cx="10820400" cy="514350"/>
          </a:xfrm>
          <a:prstGeom prst="rect">
            <a:avLst/>
          </a:prstGeom>
          <a:solidFill>
            <a:srgbClr val="FFFDF8"/>
          </a:solidFill>
          <a:ln w="9525">
            <a:solidFill>
              <a:srgbClr val="D7DED8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908304" y="481965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最终定位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423285" y="4832350"/>
            <a:ext cx="916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专用推理模块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328535" y="4832350"/>
            <a:ext cx="7653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实验控制台</a:t>
            </a:r>
          </a:p>
        </p:txBody>
      </p:sp>
      <p:sp>
        <p:nvSpPr>
          <p:cNvPr id="31" name="newrect-50"/>
          <p:cNvSpPr/>
          <p:nvPr/>
        </p:nvSpPr>
        <p:spPr>
          <a:xfrm>
            <a:off x="685800" y="5505450"/>
            <a:ext cx="10820400" cy="495300"/>
          </a:xfrm>
          <a:prstGeom prst="roundRect">
            <a:avLst>
              <a:gd name="adj" fmla="val 23077"/>
            </a:avLst>
          </a:prstGeom>
          <a:solidFill>
            <a:srgbClr val="FFF1E7"/>
          </a:solidFill>
          <a:ln w="9525">
            <a:solidFill>
              <a:srgbClr val="E97132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907542" y="5645150"/>
            <a:ext cx="527081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结论：不替换处理台，把 4 组课堂 YOLOv7 作为专用模型插件。</a:t>
            </a:r>
          </a:p>
        </p:txBody>
      </p:sp>
      <p:sp>
        <p:nvSpPr>
          <p:cNvPr id="33" name="Line 33"/>
          <p:cNvSpPr/>
          <p:nvPr/>
        </p:nvSpPr>
        <p:spPr>
          <a:xfrm>
            <a:off x="685800" y="6477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7DED8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681038" y="6604000"/>
            <a:ext cx="523743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6B756F"/>
                </a:solidFill>
                <a:latin typeface="Microsoft YaHei"/>
                <a:ea typeface="Microsoft YaHei"/>
                <a:cs typeface="Microsoft YaHei"/>
              </a:rPr>
              <a:t>来源：SCB-Dataset 仓库 https://github.com/Whiffe/SCB-dataset；本地目录 D:/数据处理1/新数据</a:t>
            </a:r>
          </a:p>
        </p:txBody>
      </p:sp>
    </p:spTree>
    <p:extLst>
      <p:ext uri="{BB962C8B-B14F-4D97-AF65-F5344CB8AC3E}">
        <p14:creationId val="1692020369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rect-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681038" y="381000"/>
            <a:ext cx="109994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2B6D66"/>
                </a:solidFill>
                <a:latin typeface="Microsoft YaHei"/>
                <a:ea typeface="Microsoft YaHei"/>
                <a:cs typeface="Microsoft YaHei"/>
              </a:rPr>
              <a:t>新增数据与开源模型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142071" y="34290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b="1" dirty="0">
                <a:solidFill>
                  <a:srgbClr val="6B756F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2846" y="692150"/>
            <a:ext cx="4488561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实验边界：怎样的结果才可信</a:t>
            </a:r>
          </a:p>
        </p:txBody>
      </p:sp>
      <p:sp>
        <p:nvSpPr>
          <p:cNvPr id="6" name="Line 6"/>
          <p:cNvSpPr/>
          <p:nvPr/>
        </p:nvSpPr>
        <p:spPr>
          <a:xfrm>
            <a:off x="685800" y="13525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7DED8"/>
            </a:solidFill>
          </a:ln>
        </p:spPr>
      </p:sp>
      <p:sp>
        <p:nvSpPr>
          <p:cNvPr id="7" name="newrect-52"/>
          <p:cNvSpPr/>
          <p:nvPr/>
        </p:nvSpPr>
        <p:spPr>
          <a:xfrm>
            <a:off x="685800" y="1676400"/>
            <a:ext cx="10820400" cy="819150"/>
          </a:xfrm>
          <a:prstGeom prst="roundRect">
            <a:avLst>
              <a:gd name="adj" fmla="val 18605"/>
            </a:avLst>
          </a:prstGeom>
          <a:solidFill>
            <a:srgbClr val="FFFDF8"/>
          </a:solidFill>
          <a:ln w="9525">
            <a:solidFill>
              <a:srgbClr val="D7DED8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62406" y="1784350"/>
            <a:ext cx="29816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11630" y="178435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最后一轮指标不是排行榜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3535" y="2108200"/>
            <a:ext cx="468543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四组模型的训练轮数、数据分布和测试条件不同，不能直接横向排名。</a:t>
            </a:r>
          </a:p>
        </p:txBody>
      </p:sp>
      <p:sp>
        <p:nvSpPr>
          <p:cNvPr id="11" name="newrect-53"/>
          <p:cNvSpPr/>
          <p:nvPr/>
        </p:nvSpPr>
        <p:spPr>
          <a:xfrm>
            <a:off x="685800" y="2686050"/>
            <a:ext cx="10820400" cy="819150"/>
          </a:xfrm>
          <a:prstGeom prst="roundRect">
            <a:avLst>
              <a:gd name="adj" fmla="val 18605"/>
            </a:avLst>
          </a:prstGeom>
          <a:solidFill>
            <a:srgbClr val="FFFDF8"/>
          </a:solidFill>
          <a:ln w="9525">
            <a:solidFill>
              <a:srgbClr val="D7DED8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62406" y="2794000"/>
            <a:ext cx="29816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11630" y="2794000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框数量不等于准确率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13535" y="3117850"/>
            <a:ext cx="499836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检测框变多或变少，只能说明输出变化；准确率需要真实标注和 IoU 匹配。</a:t>
            </a:r>
          </a:p>
        </p:txBody>
      </p:sp>
      <p:sp>
        <p:nvSpPr>
          <p:cNvPr id="15" name="newrect-54"/>
          <p:cNvSpPr/>
          <p:nvPr/>
        </p:nvSpPr>
        <p:spPr>
          <a:xfrm>
            <a:off x="685800" y="3695700"/>
            <a:ext cx="10820400" cy="819150"/>
          </a:xfrm>
          <a:prstGeom prst="roundRect">
            <a:avLst>
              <a:gd name="adj" fmla="val 18605"/>
            </a:avLst>
          </a:prstGeom>
          <a:solidFill>
            <a:srgbClr val="FFFDF8"/>
          </a:solidFill>
          <a:ln w="9525">
            <a:solidFill>
              <a:srgbClr val="D7DED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62406" y="3803650"/>
            <a:ext cx="29816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11630" y="3803650"/>
            <a:ext cx="20345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正式评价需要测试标注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13535" y="4127500"/>
            <a:ext cx="58216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在原图、低分辨率、遮挡和组合条件下，用同一测试集计算 mAP、Precision、Recall。</a:t>
            </a:r>
          </a:p>
        </p:txBody>
      </p:sp>
      <p:sp>
        <p:nvSpPr>
          <p:cNvPr id="19" name="newrect-55"/>
          <p:cNvSpPr/>
          <p:nvPr/>
        </p:nvSpPr>
        <p:spPr>
          <a:xfrm>
            <a:off x="685800" y="4705350"/>
            <a:ext cx="10820400" cy="819150"/>
          </a:xfrm>
          <a:prstGeom prst="roundRect">
            <a:avLst>
              <a:gd name="adj" fmla="val 18605"/>
            </a:avLst>
          </a:prstGeom>
          <a:solidFill>
            <a:srgbClr val="FFFDF8"/>
          </a:solidFill>
          <a:ln w="9525">
            <a:solidFill>
              <a:srgbClr val="D7DED8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962406" y="4813300"/>
            <a:ext cx="29816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E9713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11630" y="4813300"/>
            <a:ext cx="1630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标签不能强行合并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13535" y="5137150"/>
            <a:ext cx="58916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2B3733"/>
                </a:solidFill>
                <a:latin typeface="Microsoft YaHei"/>
                <a:ea typeface="Microsoft YaHei"/>
                <a:cs typeface="Microsoft YaHei"/>
              </a:rPr>
              <a:t>学生行为、教师行为、头部姿态和课堂元素要分开报告，避免把不同任务混成一个结论。</a:t>
            </a:r>
          </a:p>
        </p:txBody>
      </p:sp>
      <p:sp>
        <p:nvSpPr>
          <p:cNvPr id="23" name="newrect-56"/>
          <p:cNvSpPr/>
          <p:nvPr/>
        </p:nvSpPr>
        <p:spPr>
          <a:xfrm>
            <a:off x="685800" y="5943600"/>
            <a:ext cx="10820400" cy="266700"/>
          </a:xfrm>
          <a:prstGeom prst="roundRect">
            <a:avLst>
              <a:gd name="adj" fmla="val 28571"/>
            </a:avLst>
          </a:prstGeom>
          <a:solidFill>
            <a:srgbClr val="2B6D66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3630966" y="6003925"/>
            <a:ext cx="49300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下一步：处理台生成条件 → 专用模型推理 → 统一标注评价 → 汇报退化曲线</a:t>
            </a:r>
          </a:p>
        </p:txBody>
      </p:sp>
      <p:sp>
        <p:nvSpPr>
          <p:cNvPr id="25" name="Line 25"/>
          <p:cNvSpPr/>
          <p:nvPr/>
        </p:nvSpPr>
        <p:spPr>
          <a:xfrm>
            <a:off x="685800" y="647700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9525">
            <a:solidFill>
              <a:srgbClr val="D7DED8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81038" y="6604000"/>
            <a:ext cx="523743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6B756F"/>
                </a:solidFill>
                <a:latin typeface="Microsoft YaHei"/>
                <a:ea typeface="Microsoft YaHei"/>
                <a:cs typeface="Microsoft YaHei"/>
              </a:rPr>
              <a:t>来源：SCB-Dataset 仓库 https://github.com/Whiffe/SCB-dataset；本地目录 D:/数据处理1/新数据</a:t>
            </a:r>
          </a:p>
        </p:txBody>
      </p:sp>
    </p:spTree>
    <p:extLst>
      <p:ext uri="{BB962C8B-B14F-4D97-AF65-F5344CB8AC3E}">
        <p14:creationId val="1692020369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CBB9BDE2-88B3-4908-ACA3-80CA9019D238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数据、论文与工具的可复现入口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1AC10F9-9E1B-4AE9-909D-0EBDB4FA5F82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07490F-21E1-484A-8FDF-ED2DDFBCDE74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rPr>
              <a:t>资料与软件分享方式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9C238BB9-E0BA-4DF3-94A0-36192B943928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6B8C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0010060-36C6-4482-8F15-38B97CB1A1E9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5143500" cy="3714750"/>
          </a:xfrm>
          <a:prstGeom prst="roundRect">
            <a:avLst>
              <a:gd name="adj" fmla="val 4103"/>
            </a:avLst>
          </a:prstGeom>
          <a:solidFill>
            <a:srgbClr val="21433E"/>
          </a:solidFill>
          <a:ln w="9525">
            <a:solidFill>
              <a:srgbClr val="5D786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80F7249-897E-4519-B406-A929BB6F5F9D}"/>
              </a:ext>
            </a:extLst>
          </p:cNvPr>
          <p:cNvSpPr>
            <a:spLocks noGrp="1"/>
          </p:cNvSpPr>
          <p:nvPr/>
        </p:nvSpPr>
        <p:spPr>
          <a:xfrm>
            <a:off x="6362700" y="1676400"/>
            <a:ext cx="5143500" cy="3714750"/>
          </a:xfrm>
          <a:prstGeom prst="roundRect">
            <a:avLst>
              <a:gd name="adj" fmla="val 4103"/>
            </a:avLst>
          </a:prstGeom>
          <a:solidFill>
            <a:srgbClr val="21433E"/>
          </a:solidFill>
          <a:ln w="9525">
            <a:solidFill>
              <a:srgbClr val="5D786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33F73CC-D77B-4705-B1FB-2EEF9B17FDEE}"/>
              </a:ext>
            </a:extLst>
          </p:cNvPr>
          <p:cNvSpPr>
            <a:spLocks noGrp="1"/>
          </p:cNvSpPr>
          <p:nvPr/>
        </p:nvSpPr>
        <p:spPr>
          <a:xfrm>
            <a:off x="952500" y="19431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数据与论文资料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D609887-F212-4918-83C2-79BCD258E8D6}"/>
              </a:ext>
            </a:extLst>
          </p:cNvPr>
          <p:cNvSpPr>
            <a:spLocks noGrp="1"/>
          </p:cNvSpPr>
          <p:nvPr/>
        </p:nvSpPr>
        <p:spPr>
          <a:xfrm>
            <a:off x="952500" y="24193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百度网盘分享名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D4AA11E-5887-402F-B0A5-E5B43D8EA018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数据处理1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5B9411-7D37-44B4-9C26-9934E804B385}"/>
              </a:ext>
            </a:extLst>
          </p:cNvPr>
          <p:cNvSpPr>
            <a:spLocks noGrp="1"/>
          </p:cNvSpPr>
          <p:nvPr/>
        </p:nvSpPr>
        <p:spPr>
          <a:xfrm>
            <a:off x="952500" y="3181350"/>
            <a:ext cx="76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内容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9448B7-73C3-48B1-906E-3A811B4A8010}"/>
              </a:ext>
            </a:extLst>
          </p:cNvPr>
          <p:cNvSpPr>
            <a:spLocks noGrp="1"/>
          </p:cNvSpPr>
          <p:nvPr/>
        </p:nvSpPr>
        <p:spPr>
          <a:xfrm>
            <a:off x="952500" y="3467100"/>
            <a:ext cx="40957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3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学生行为数据集1</a:t>
            </a:r>
          </a:p>
          <a:p>
            <a:pPr algn="l">
              <a:defRPr sz="13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八篇论文原件</a:t>
            </a:r>
          </a:p>
          <a:p>
            <a:pPr algn="l">
              <a:defRPr sz="13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八篇论文分析文档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CB42EF5-645A-4F0F-93E5-163593DE95B3}"/>
              </a:ext>
            </a:extLst>
          </p:cNvPr>
          <p:cNvSpPr>
            <a:spLocks noGrp="1"/>
          </p:cNvSpPr>
          <p:nvPr/>
        </p:nvSpPr>
        <p:spPr>
          <a:xfrm>
            <a:off x="952500" y="462915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链接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95B963A-1974-4C60-90B3-AC33B9C5E133}"/>
              </a:ext>
            </a:extLst>
          </p:cNvPr>
          <p:cNvSpPr>
            <a:spLocks noGrp="1"/>
          </p:cNvSpPr>
          <p:nvPr/>
        </p:nvSpPr>
        <p:spPr>
          <a:xfrm>
            <a:off x="952500" y="489585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https://pan.baidu.com/s/1YOpMGQYRBx7yJW5j_Xs9xQ?pwd=u7cs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8945681-303D-43E8-92CB-B1568DC3CC75}"/>
              </a:ext>
            </a:extLst>
          </p:cNvPr>
          <p:cNvSpPr>
            <a:spLocks noGrp="1"/>
          </p:cNvSpPr>
          <p:nvPr/>
        </p:nvSpPr>
        <p:spPr>
          <a:xfrm>
            <a:off x="952500" y="52387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提取码：u7cs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81970DB-FA3B-46CA-8EBC-A1E9B6CBAFA5}"/>
              </a:ext>
            </a:extLst>
          </p:cNvPr>
          <p:cNvSpPr>
            <a:spLocks noGrp="1"/>
          </p:cNvSpPr>
          <p:nvPr/>
        </p:nvSpPr>
        <p:spPr>
          <a:xfrm>
            <a:off x="6629400" y="194310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预处理软件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EDA7A88-FC04-40A5-9691-7C2816C108C7}"/>
              </a:ext>
            </a:extLst>
          </p:cNvPr>
          <p:cNvSpPr>
            <a:spLocks noGrp="1"/>
          </p:cNvSpPr>
          <p:nvPr/>
        </p:nvSpPr>
        <p:spPr>
          <a:xfrm>
            <a:off x="6629400" y="241935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GitHub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8591947-2767-496D-BF34-0E6590129250}"/>
              </a:ext>
            </a:extLst>
          </p:cNvPr>
          <p:cNvSpPr>
            <a:spLocks noGrp="1"/>
          </p:cNvSpPr>
          <p:nvPr/>
        </p:nvSpPr>
        <p:spPr>
          <a:xfrm>
            <a:off x="6629400" y="2686050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13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13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13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13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13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13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13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13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13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13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313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313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xinnmyz / Classroom Visual Processing Console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9620F65-5426-45B6-8CBD-A4C7DCA5DB2B}"/>
              </a:ext>
            </a:extLst>
          </p:cNvPr>
          <p:cNvSpPr>
            <a:spLocks noGrp="1"/>
          </p:cNvSpPr>
          <p:nvPr/>
        </p:nvSpPr>
        <p:spPr>
          <a:xfrm>
            <a:off x="6629400" y="2971800"/>
            <a:ext cx="4476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88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88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88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88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88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88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88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88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88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88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88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788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https://github.com/xinnmyz/Classroom-Visual-Processing-Console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F0AD582-3AA6-4340-A23F-C80CF220800E}"/>
              </a:ext>
            </a:extLst>
          </p:cNvPr>
          <p:cNvSpPr>
            <a:spLocks noGrp="1"/>
          </p:cNvSpPr>
          <p:nvPr/>
        </p:nvSpPr>
        <p:spPr>
          <a:xfrm>
            <a:off x="6629400" y="31813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百度网盘分享名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368B346-2470-429E-AAD9-BC0ABE3D7873}"/>
              </a:ext>
            </a:extLst>
          </p:cNvPr>
          <p:cNvSpPr>
            <a:spLocks noGrp="1"/>
          </p:cNvSpPr>
          <p:nvPr/>
        </p:nvSpPr>
        <p:spPr>
          <a:xfrm>
            <a:off x="6629400" y="344805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3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课堂视觉数据处理台_EXE_发行包_20261026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66F7DC0-6F38-4B38-9075-DB79F3F4E484}"/>
              </a:ext>
            </a:extLst>
          </p:cNvPr>
          <p:cNvSpPr>
            <a:spLocks noGrp="1"/>
          </p:cNvSpPr>
          <p:nvPr/>
        </p:nvSpPr>
        <p:spPr>
          <a:xfrm>
            <a:off x="6629400" y="4057650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链接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AB02947-19F8-4C81-A1E4-A66771BE09B3}"/>
              </a:ext>
            </a:extLst>
          </p:cNvPr>
          <p:cNvSpPr>
            <a:spLocks noGrp="1"/>
          </p:cNvSpPr>
          <p:nvPr/>
        </p:nvSpPr>
        <p:spPr>
          <a:xfrm>
            <a:off x="6629400" y="4324350"/>
            <a:ext cx="466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https://pan.baidu.com/s/1VsI0mF-KZfnL5kbHK-6HWQ?pwd=34rw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40FD346-CFF4-4AEE-B59D-5A1E8CD675C9}"/>
              </a:ext>
            </a:extLst>
          </p:cNvPr>
          <p:cNvSpPr>
            <a:spLocks noGrp="1"/>
          </p:cNvSpPr>
          <p:nvPr/>
        </p:nvSpPr>
        <p:spPr>
          <a:xfrm>
            <a:off x="6629400" y="4705350"/>
            <a:ext cx="2286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提取码：34rw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F362A30-122D-402D-8894-0B6A15FC41CB}"/>
              </a:ext>
            </a:extLst>
          </p:cNvPr>
          <p:cNvSpPr>
            <a:spLocks noGrp="1"/>
          </p:cNvSpPr>
          <p:nvPr/>
        </p:nvSpPr>
        <p:spPr>
          <a:xfrm>
            <a:off x="6629400" y="5067300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内容：EXE 发行包、运行依赖与使用说明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8DF8239-C8C3-4D36-9A8A-DDF83D818E40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10820400" cy="457200"/>
          </a:xfrm>
          <a:prstGeom prst="roundRect">
            <a:avLst>
              <a:gd name="adj" fmla="val 25000"/>
            </a:avLst>
          </a:prstGeom>
          <a:solidFill>
            <a:srgbClr val="2C554E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0472E15-4EEC-491E-8BAD-1C152BC99B24}"/>
              </a:ext>
            </a:extLst>
          </p:cNvPr>
          <p:cNvSpPr>
            <a:spLocks noGrp="1"/>
          </p:cNvSpPr>
          <p:nvPr/>
        </p:nvSpPr>
        <p:spPr>
          <a:xfrm>
            <a:off x="895350" y="5800725"/>
            <a:ext cx="10382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跨设备使用建议：先下载并解压同名文件夹，再打开 Excel 或 EXE；网盘链接和提取码以分享页实际内容为准。</a:t>
            </a:r>
          </a:p>
        </p:txBody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1022F54E-7420-4EDF-858C-595D6950B39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FF9EAE7-DF29-4E1B-88EB-EFC8D92909EC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共享入口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BE435A6-51CC-4608-B274-64FA310E6BCF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17248108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mc="http://schemas.openxmlformats.org/markup-compatibility/2006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ns2:creationId id="{62AC8EBE-B8EA-4B16-9ECA-5871D677D3F6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论文证据与原有板块结合</a:t>
            </a:r>
          </a:p>
        </p:txBody>
      </p:sp>
      <p:sp>
        <p:nvSpPr>
          <p:cNvPr id="2" name="矩形 1">
            <a:extLst>
              <a:ext uri="{FF2B5EF4-FFF2-40B4-BE49-F238E27FC236}">
                <ns2:creationId id="{2976D429-DFD7-401B-ACD8-B5EAF3DE1254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3" name="矩形 2">
            <a:extLst>
              <a:ext uri="{FF2B5EF4-FFF2-40B4-BE49-F238E27FC236}">
                <ns2:creationId id="{9F88320D-7BE2-481A-A96E-A2C3197EC5BE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DAiSEE：投入度是视频级弱监督问题</a:t>
            </a:r>
          </a:p>
        </p:txBody>
      </p:sp>
      <p:sp>
        <p:nvSpPr>
          <p:cNvPr id="4" name="直接连接符 3">
            <a:extLst>
              <a:ext uri="{FF2B5EF4-FFF2-40B4-BE49-F238E27FC236}">
                <ns2:creationId id="{175EB720-7B33-441C-B895-7F1C20985910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ns2:creationId id="{617C5925-90DD-431E-A61D-C130823BCEEB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DAiSEE 不是微表情数据集，而是带有时间变化的学习投入度与状态数据。</a:t>
            </a:r>
          </a:p>
        </p:txBody>
      </p:sp>
      <p:sp>
        <p:nvSpPr>
          <p:cNvPr id="6" name="矩形: 圆角 5">
            <a:extLst>
              <a:ext uri="{FF2B5EF4-FFF2-40B4-BE49-F238E27FC236}">
                <ns2:creationId id="{C61E38FE-3F60-4A2E-AB5E-F89B064F4238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5715000" cy="3276600"/>
          </a:xfrm>
          <a:prstGeom prst="roundRect">
            <a:avLst>
              <a:gd name="adj" fmla="val 4651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ns2:creationId id="{921DC518-9DE6-4064-B2AC-1DEF0B5B4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343150" y="2667000"/>
            <a:ext cx="2400300" cy="2400300"/>
          </a:xfrm>
          <a:prstGeom prst="roundRect">
            <a:avLst>
              <a:gd name="adj" fmla="val 6349"/>
            </a:avLst>
          </a:prstGeom>
        </p:spPr>
      </p:pic>
      <p:sp>
        <p:nvSpPr>
          <p:cNvPr id="8" name="矩形: 圆角 7"/>
          <p:cNvSpPr/>
          <p:nvPr/>
        </p:nvSpPr>
        <p:spPr>
          <a:xfrm>
            <a:off x="1028700" y="2381250"/>
            <a:ext cx="1419225" cy="304800"/>
          </a:xfrm>
          <a:prstGeom prst="roundRect">
            <a:avLst>
              <a:gd name="adj" fmla="val 37500"/>
            </a:avLst>
          </a:prstGeom>
          <a:solidFill>
            <a:srgbClr val="FFFDF8"/>
          </a:solidFill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98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PDF p.1 · 视频级0–3</a:t>
            </a:r>
          </a:p>
        </p:txBody>
      </p:sp>
      <p:sp>
        <p:nvSpPr>
          <p:cNvPr id="9" name="矩形 8">
            <a:extLst>
              <a:ext uri="{FF2B5EF4-FFF2-40B4-BE49-F238E27FC236}">
                <ns2:creationId id="{80851550-6F9E-4E5B-A798-8B287E94800C}"/>
              </a:ext>
            </a:extLst>
          </p:cNvPr>
          <p:cNvSpPr>
            <a:spLocks noGrp="1"/>
          </p:cNvSpPr>
          <p:nvPr/>
        </p:nvSpPr>
        <p:spPr>
          <a:xfrm>
            <a:off x="895350" y="5181600"/>
            <a:ext cx="5257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Kaur et al., Prediction and Localization of Student Engagement in the Wild, arXiv:1804.00858v4</a:t>
            </a:r>
          </a:p>
        </p:txBody>
      </p:sp>
      <p:sp>
        <p:nvSpPr>
          <p:cNvPr id="10" name="矩形 9">
            <a:extLst>
              <a:ext uri="{FF2B5EF4-FFF2-40B4-BE49-F238E27FC236}">
                <ns2:creationId id="{F04B7D37-E2A7-4E07-992D-FD7F0B7538CD}"/>
              </a:ext>
            </a:extLst>
          </p:cNvPr>
          <p:cNvSpPr>
            <a:spLocks noGrp="1"/>
          </p:cNvSpPr>
          <p:nvPr/>
        </p:nvSpPr>
        <p:spPr>
          <a:xfrm>
            <a:off x="6858000" y="24574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标签</a:t>
            </a:r>
          </a:p>
        </p:txBody>
      </p:sp>
      <p:sp>
        <p:nvSpPr>
          <p:cNvPr id="11" name="矩形 10">
            <a:extLst>
              <a:ext uri="{FF2B5EF4-FFF2-40B4-BE49-F238E27FC236}">
                <ns2:creationId id="{66899178-3B2B-404C-8ED2-E191D13FA292}"/>
              </a:ext>
            </a:extLst>
          </p:cNvPr>
          <p:cNvSpPr>
            <a:spLocks noGrp="1"/>
          </p:cNvSpPr>
          <p:nvPr/>
        </p:nvSpPr>
        <p:spPr>
          <a:xfrm>
            <a:off x="8001000" y="24384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5 名标注者，0-3 级投入度，视频级标签</a:t>
            </a:r>
          </a:p>
        </p:txBody>
      </p:sp>
      <p:sp>
        <p:nvSpPr>
          <p:cNvPr id="12" name="矩形 11">
            <a:extLst>
              <a:ext uri="{FF2B5EF4-FFF2-40B4-BE49-F238E27FC236}">
                <ns2:creationId id="{3B147FF2-4BCB-4FBD-AC04-C42D5A38CC72}"/>
              </a:ext>
            </a:extLst>
          </p:cNvPr>
          <p:cNvSpPr>
            <a:spLocks noGrp="1"/>
          </p:cNvSpPr>
          <p:nvPr/>
        </p:nvSpPr>
        <p:spPr>
          <a:xfrm>
            <a:off x="6858000" y="31432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特征</a:t>
            </a:r>
          </a:p>
        </p:txBody>
      </p:sp>
      <p:sp>
        <p:nvSpPr>
          <p:cNvPr id="13" name="矩形 12">
            <a:extLst>
              <a:ext uri="{FF2B5EF4-FFF2-40B4-BE49-F238E27FC236}">
                <ns2:creationId id="{543C0886-3602-496F-8668-8D961052F193}"/>
              </a:ext>
            </a:extLst>
          </p:cNvPr>
          <p:cNvSpPr>
            <a:spLocks noGrp="1"/>
          </p:cNvSpPr>
          <p:nvPr/>
        </p:nvSpPr>
        <p:spPr>
          <a:xfrm>
            <a:off x="8001000" y="31242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头部姿态、眼睛注视、LBP-TOP 等片段级特征</a:t>
            </a:r>
          </a:p>
        </p:txBody>
      </p:sp>
      <p:sp>
        <p:nvSpPr>
          <p:cNvPr id="14" name="矩形 13">
            <a:extLst>
              <a:ext uri="{FF2B5EF4-FFF2-40B4-BE49-F238E27FC236}">
                <ns2:creationId id="{8AAB8A7B-AC32-4A91-B49B-83A02F1168E6}"/>
              </a:ext>
            </a:extLst>
          </p:cNvPr>
          <p:cNvSpPr>
            <a:spLocks noGrp="1"/>
          </p:cNvSpPr>
          <p:nvPr/>
        </p:nvSpPr>
        <p:spPr>
          <a:xfrm>
            <a:off x="6858000" y="38290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模型</a:t>
            </a:r>
          </a:p>
        </p:txBody>
      </p:sp>
      <p:sp>
        <p:nvSpPr>
          <p:cNvPr id="15" name="矩形 14">
            <a:extLst>
              <a:ext uri="{FF2B5EF4-FFF2-40B4-BE49-F238E27FC236}">
                <ns2:creationId id="{AA18FFE0-6022-4DF6-B055-4E57EC9EFE85}"/>
              </a:ext>
            </a:extLst>
          </p:cNvPr>
          <p:cNvSpPr>
            <a:spLocks noGrp="1"/>
          </p:cNvSpPr>
          <p:nvPr/>
        </p:nvSpPr>
        <p:spPr>
          <a:xfrm>
            <a:off x="8001000" y="38100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Multiple Instance Learning，用 Mean/Top-k 聚合片段</a:t>
            </a:r>
          </a:p>
        </p:txBody>
      </p:sp>
      <p:sp>
        <p:nvSpPr>
          <p:cNvPr id="16" name="矩形 15">
            <a:extLst>
              <a:ext uri="{FF2B5EF4-FFF2-40B4-BE49-F238E27FC236}">
                <ns2:creationId id="{E4FE8224-B4DF-4181-9A92-C6679C3FE14D}"/>
              </a:ext>
            </a:extLst>
          </p:cNvPr>
          <p:cNvSpPr>
            <a:spLocks noGrp="1"/>
          </p:cNvSpPr>
          <p:nvPr/>
        </p:nvSpPr>
        <p:spPr>
          <a:xfrm>
            <a:off x="6858000" y="45148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指标</a:t>
            </a:r>
          </a:p>
        </p:txBody>
      </p:sp>
      <p:sp>
        <p:nvSpPr>
          <p:cNvPr id="17" name="矩形 16">
            <a:extLst>
              <a:ext uri="{FF2B5EF4-FFF2-40B4-BE49-F238E27FC236}">
                <ns2:creationId id="{2DD0C593-42FC-4DB4-AD4B-699B0428B124}"/>
              </a:ext>
            </a:extLst>
          </p:cNvPr>
          <p:cNvSpPr>
            <a:spLocks noGrp="1"/>
          </p:cNvSpPr>
          <p:nvPr/>
        </p:nvSpPr>
        <p:spPr>
          <a:xfrm>
            <a:off x="8001000" y="44958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MSE、PCC、Classwise MSE、Cohen’s Kappa，subject-independent split</a:t>
            </a:r>
          </a:p>
        </p:txBody>
      </p:sp>
      <p:sp>
        <p:nvSpPr>
          <p:cNvPr id="18" name="矩形: 圆角 17">
            <a:extLst>
              <a:ext uri="{FF2B5EF4-FFF2-40B4-BE49-F238E27FC236}">
                <ns2:creationId id="{0AF59EFE-7C29-4BC2-8A9B-08B726977724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820400" cy="533400"/>
          </a:xfrm>
          <a:prstGeom prst="roundRect">
            <a:avLst>
              <a:gd name="adj" fmla="val 21429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95350" y="5924550"/>
            <a:ext cx="16192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98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这一页只记住一句话</a:t>
            </a:r>
          </a:p>
        </p:txBody>
      </p:sp>
      <p:sp>
        <p:nvSpPr>
          <p:cNvPr id="20" name="矩形 19"/>
          <p:cNvSpPr/>
          <p:nvPr/>
        </p:nvSpPr>
        <p:spPr>
          <a:xfrm>
            <a:off x="2667000" y="59055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投入度是视频级弱监督任务，不能直接当微表情。</a:t>
            </a:r>
          </a:p>
        </p:txBody>
      </p:sp>
      <p:sp>
        <p:nvSpPr>
          <p:cNvPr id="21" name="直接连接符 20">
            <a:extLst>
              <a:ext uri="{FF2B5EF4-FFF2-40B4-BE49-F238E27FC236}">
                <ns2:creationId id="{4CE92C4C-5A69-4412-992C-3EEEF198DFD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ns2:creationId id="{AC07FDA5-63BA-4A08-9BC9-112556E1B449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论文证据 02</a:t>
            </a:r>
          </a:p>
        </p:txBody>
      </p:sp>
      <p:sp>
        <p:nvSpPr>
          <p:cNvPr id="23" name="矩形 22">
            <a:extLst>
              <a:ext uri="{FF2B5EF4-FFF2-40B4-BE49-F238E27FC236}">
                <ns2:creationId id="{BD03C5AA-F67D-4FE5-A1BF-486058629F2D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val="908031739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mc="http://schemas.openxmlformats.org/markup-compatibility/2006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ns2:creationId id="{A4B90A76-F7E1-4E9A-B3EB-29B659952240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论文证据与原有板块结合</a:t>
            </a:r>
          </a:p>
        </p:txBody>
      </p:sp>
      <p:sp>
        <p:nvSpPr>
          <p:cNvPr id="2" name="矩形 1">
            <a:extLst>
              <a:ext uri="{FF2B5EF4-FFF2-40B4-BE49-F238E27FC236}">
                <ns2:creationId id="{B745F883-FF2B-46B0-9108-50E5D909E6F3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3" name="矩形 2">
            <a:extLst>
              <a:ext uri="{FF2B5EF4-FFF2-40B4-BE49-F238E27FC236}">
                <ns2:creationId id="{1FB9B8F4-AFDB-435E-BFB4-1FE2A7CA484C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SAMM：高帧率与个体基线支撑微表情</a:t>
            </a:r>
          </a:p>
        </p:txBody>
      </p:sp>
      <p:sp>
        <p:nvSpPr>
          <p:cNvPr id="4" name="直接连接符 3">
            <a:extLst>
              <a:ext uri="{FF2B5EF4-FFF2-40B4-BE49-F238E27FC236}">
                <ns2:creationId id="{7EAE0564-D6B2-49B2-85BA-FDB2A6B92B27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ns2:creationId id="{048847F6-F3C9-4BA0-8096-CF79CAFC02CD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SAMM 说明微表情研究需要高帧率、FACS 标注和个体化基线，普通课堂视频不能直接替代。</a:t>
            </a:r>
          </a:p>
        </p:txBody>
      </p:sp>
      <p:sp>
        <p:nvSpPr>
          <p:cNvPr id="6" name="矩形: 圆角 5">
            <a:extLst>
              <a:ext uri="{FF2B5EF4-FFF2-40B4-BE49-F238E27FC236}">
                <ns2:creationId id="{F39DA436-689A-4109-A028-34475AF8BCA3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5715000" cy="3276600"/>
          </a:xfrm>
          <a:prstGeom prst="roundRect">
            <a:avLst>
              <a:gd name="adj" fmla="val 4651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ns2:creationId id="{63670863-DE03-411C-8DFB-C0EAC09DD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7649" y="2667000"/>
            <a:ext cx="5311302" cy="2400300"/>
          </a:xfrm>
          <a:prstGeom prst="roundRect">
            <a:avLst>
              <a:gd name="adj" fmla="val 6349"/>
            </a:avLst>
          </a:prstGeom>
        </p:spPr>
      </p:pic>
      <p:sp>
        <p:nvSpPr>
          <p:cNvPr id="8" name="矩形: 圆角 7"/>
          <p:cNvSpPr/>
          <p:nvPr/>
        </p:nvSpPr>
        <p:spPr>
          <a:xfrm>
            <a:off x="1028700" y="2381250"/>
            <a:ext cx="1219200" cy="304800"/>
          </a:xfrm>
          <a:prstGeom prst="roundRect">
            <a:avLst>
              <a:gd name="adj" fmla="val 37500"/>
            </a:avLst>
          </a:prstGeom>
          <a:solidFill>
            <a:srgbClr val="FFFDF8"/>
          </a:solidFill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98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PDF p.4 · 高帧率+基线</a:t>
            </a:r>
          </a:p>
        </p:txBody>
      </p:sp>
      <p:sp>
        <p:nvSpPr>
          <p:cNvPr id="9" name="矩形 8">
            <a:extLst>
              <a:ext uri="{FF2B5EF4-FFF2-40B4-BE49-F238E27FC236}">
                <ns2:creationId id="{E7D478E2-3084-4128-BAE4-60082DA24FFE}"/>
              </a:ext>
            </a:extLst>
          </p:cNvPr>
          <p:cNvSpPr>
            <a:spLocks noGrp="1"/>
          </p:cNvSpPr>
          <p:nvPr/>
        </p:nvSpPr>
        <p:spPr>
          <a:xfrm>
            <a:off x="895350" y="5181600"/>
            <a:ext cx="5257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Davison et al., SAMM: A Spontaneous Micro-Facial Movement Dataset, TAFFC 2016, DOI 10.1109/TAFFC.2016.2573832</a:t>
            </a:r>
          </a:p>
        </p:txBody>
      </p:sp>
      <p:sp>
        <p:nvSpPr>
          <p:cNvPr id="10" name="矩形 9">
            <a:extLst>
              <a:ext uri="{FF2B5EF4-FFF2-40B4-BE49-F238E27FC236}">
                <ns2:creationId id="{20174521-D9A9-4C20-AB90-0995935924F2}"/>
              </a:ext>
            </a:extLst>
          </p:cNvPr>
          <p:cNvSpPr>
            <a:spLocks noGrp="1"/>
          </p:cNvSpPr>
          <p:nvPr/>
        </p:nvSpPr>
        <p:spPr>
          <a:xfrm>
            <a:off x="6858000" y="24574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采集条件</a:t>
            </a:r>
          </a:p>
        </p:txBody>
      </p:sp>
      <p:sp>
        <p:nvSpPr>
          <p:cNvPr id="11" name="矩形 10">
            <a:extLst>
              <a:ext uri="{FF2B5EF4-FFF2-40B4-BE49-F238E27FC236}">
                <ns2:creationId id="{DE4987F4-7F4C-455D-9F0C-5D824EA49BF0}"/>
              </a:ext>
            </a:extLst>
          </p:cNvPr>
          <p:cNvSpPr>
            <a:spLocks noGrp="1"/>
          </p:cNvSpPr>
          <p:nvPr/>
        </p:nvSpPr>
        <p:spPr>
          <a:xfrm>
            <a:off x="8001000" y="24384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200 fps，2040×1088 原始视频，常用约 400×400 裁剪</a:t>
            </a:r>
          </a:p>
        </p:txBody>
      </p:sp>
      <p:sp>
        <p:nvSpPr>
          <p:cNvPr id="12" name="矩形 11">
            <a:extLst>
              <a:ext uri="{FF2B5EF4-FFF2-40B4-BE49-F238E27FC236}">
                <ns2:creationId id="{85152F61-6F3C-4090-BE5E-86387C8C5DFD}"/>
              </a:ext>
            </a:extLst>
          </p:cNvPr>
          <p:cNvSpPr>
            <a:spLocks noGrp="1"/>
          </p:cNvSpPr>
          <p:nvPr/>
        </p:nvSpPr>
        <p:spPr>
          <a:xfrm>
            <a:off x="6858000" y="31432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标签</a:t>
            </a:r>
          </a:p>
        </p:txBody>
      </p:sp>
      <p:sp>
        <p:nvSpPr>
          <p:cNvPr id="13" name="矩形 12">
            <a:extLst>
              <a:ext uri="{FF2B5EF4-FFF2-40B4-BE49-F238E27FC236}">
                <ns2:creationId id="{C650485B-0573-4C46-84BF-3B40F1C251C0}"/>
              </a:ext>
            </a:extLst>
          </p:cNvPr>
          <p:cNvSpPr>
            <a:spLocks noGrp="1"/>
          </p:cNvSpPr>
          <p:nvPr/>
        </p:nvSpPr>
        <p:spPr>
          <a:xfrm>
            <a:off x="8001000" y="31242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FACS Action Units、onset/apex/offset、micro/macro</a:t>
            </a:r>
          </a:p>
        </p:txBody>
      </p:sp>
      <p:sp>
        <p:nvSpPr>
          <p:cNvPr id="14" name="矩形 13">
            <a:extLst>
              <a:ext uri="{FF2B5EF4-FFF2-40B4-BE49-F238E27FC236}">
                <ns2:creationId id="{79B593FA-48E0-4ED2-A75D-3F1CA09F99BB}"/>
              </a:ext>
            </a:extLst>
          </p:cNvPr>
          <p:cNvSpPr>
            <a:spLocks noGrp="1"/>
          </p:cNvSpPr>
          <p:nvPr/>
        </p:nvSpPr>
        <p:spPr>
          <a:xfrm>
            <a:off x="6858000" y="38290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基线模型</a:t>
            </a:r>
          </a:p>
        </p:txBody>
      </p:sp>
      <p:sp>
        <p:nvSpPr>
          <p:cNvPr id="15" name="矩形 14">
            <a:extLst>
              <a:ext uri="{FF2B5EF4-FFF2-40B4-BE49-F238E27FC236}">
                <ns2:creationId id="{7B9DAE86-30A1-41CE-9168-61D90D77053B}"/>
              </a:ext>
            </a:extLst>
          </p:cNvPr>
          <p:cNvSpPr>
            <a:spLocks noGrp="1"/>
          </p:cNvSpPr>
          <p:nvPr/>
        </p:nvSpPr>
        <p:spPr>
          <a:xfrm>
            <a:off x="8001000" y="38100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Adaptive Baseline Threshold，考虑每个人的自然运动</a:t>
            </a:r>
          </a:p>
        </p:txBody>
      </p:sp>
      <p:sp>
        <p:nvSpPr>
          <p:cNvPr id="16" name="矩形 15">
            <a:extLst>
              <a:ext uri="{FF2B5EF4-FFF2-40B4-BE49-F238E27FC236}">
                <ns2:creationId id="{43EB9A90-CCF7-4281-9D2D-15464106DBC7}"/>
              </a:ext>
            </a:extLst>
          </p:cNvPr>
          <p:cNvSpPr>
            <a:spLocks noGrp="1"/>
          </p:cNvSpPr>
          <p:nvPr/>
        </p:nvSpPr>
        <p:spPr>
          <a:xfrm>
            <a:off x="6858000" y="45148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结果</a:t>
            </a:r>
          </a:p>
        </p:txBody>
      </p:sp>
      <p:sp>
        <p:nvSpPr>
          <p:cNvPr id="17" name="矩形 16">
            <a:extLst>
              <a:ext uri="{FF2B5EF4-FFF2-40B4-BE49-F238E27FC236}">
                <ns2:creationId id="{1256994A-A7F7-45AA-A5BA-737FA37F8382}"/>
              </a:ext>
            </a:extLst>
          </p:cNvPr>
          <p:cNvSpPr>
            <a:spLocks noGrp="1"/>
          </p:cNvSpPr>
          <p:nvPr/>
        </p:nvSpPr>
        <p:spPr>
          <a:xfrm>
            <a:off x="8001000" y="44958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Recall 0.9125，F-measure 0.8179；同时报告 Precision/Recall/MCC</a:t>
            </a:r>
          </a:p>
        </p:txBody>
      </p:sp>
      <p:sp>
        <p:nvSpPr>
          <p:cNvPr id="18" name="矩形: 圆角 17">
            <a:extLst>
              <a:ext uri="{FF2B5EF4-FFF2-40B4-BE49-F238E27FC236}">
                <ns2:creationId id="{89885A35-BA0D-487F-8131-EC76DB400C81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820400" cy="533400"/>
          </a:xfrm>
          <a:prstGeom prst="roundRect">
            <a:avLst>
              <a:gd name="adj" fmla="val 21429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95350" y="5924550"/>
            <a:ext cx="16192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98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这一页只记住一句话</a:t>
            </a:r>
          </a:p>
        </p:txBody>
      </p:sp>
      <p:sp>
        <p:nvSpPr>
          <p:cNvPr id="20" name="矩形 19"/>
          <p:cNvSpPr/>
          <p:nvPr/>
        </p:nvSpPr>
        <p:spPr>
          <a:xfrm>
            <a:off x="2667000" y="59055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微表情需要高帧率、动作标注和个人基线。</a:t>
            </a:r>
          </a:p>
        </p:txBody>
      </p:sp>
      <p:sp>
        <p:nvSpPr>
          <p:cNvPr id="21" name="直接连接符 20">
            <a:extLst>
              <a:ext uri="{FF2B5EF4-FFF2-40B4-BE49-F238E27FC236}">
                <ns2:creationId id="{235AF791-8B8F-4E03-B931-5854DFCB1E36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ns2:creationId id="{B2E7442C-FDD9-4BD9-8C30-A38E5FCAC726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论文证据 03</a:t>
            </a:r>
          </a:p>
        </p:txBody>
      </p:sp>
      <p:sp>
        <p:nvSpPr>
          <p:cNvPr id="23" name="矩形 22">
            <a:extLst>
              <a:ext uri="{FF2B5EF4-FFF2-40B4-BE49-F238E27FC236}">
                <ns2:creationId id="{30B1B01B-B00C-4F21-9B10-1CDCC45E8F77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val="2014533200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mc="http://schemas.openxmlformats.org/markup-compatibility/2006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ns2:creationId id="{6CAD717D-FBA2-4981-A67D-E3A7A4303AC0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论文证据与原有板块结合</a:t>
            </a:r>
          </a:p>
        </p:txBody>
      </p:sp>
      <p:sp>
        <p:nvSpPr>
          <p:cNvPr id="2" name="矩形 1">
            <a:extLst>
              <a:ext uri="{FF2B5EF4-FFF2-40B4-BE49-F238E27FC236}">
                <ns2:creationId id="{897BBBB5-B013-4805-84BB-50FC12B1EFCC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3" name="矩形 2">
            <a:extLst>
              <a:ext uri="{FF2B5EF4-FFF2-40B4-BE49-F238E27FC236}">
                <ns2:creationId id="{77AA7904-CA1C-4A3E-B565-9B0F158D193B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SCB-Dataset3：课堂行为检测的基准证据</a:t>
            </a:r>
          </a:p>
        </p:txBody>
      </p:sp>
      <p:sp>
        <p:nvSpPr>
          <p:cNvPr id="4" name="直接连接符 3">
            <a:extLst>
              <a:ext uri="{FF2B5EF4-FFF2-40B4-BE49-F238E27FC236}">
                <ns2:creationId id="{5F9BB013-BD2D-42B0-BF3E-FD44E2EB4B51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ns2:creationId id="{91E14DD8-505B-4C99-A234-D683DD197D9E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SCB-Dataset3 说明课堂行为识别要同时处理多人、小目标、帧采样和训练测试泄漏。</a:t>
            </a:r>
          </a:p>
        </p:txBody>
      </p:sp>
      <p:sp>
        <p:nvSpPr>
          <p:cNvPr id="6" name="矩形: 圆角 5">
            <a:extLst>
              <a:ext uri="{FF2B5EF4-FFF2-40B4-BE49-F238E27FC236}">
                <ns2:creationId id="{E7274C00-1130-4660-9D49-007B86232587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5715000" cy="3276600"/>
          </a:xfrm>
          <a:prstGeom prst="roundRect">
            <a:avLst>
              <a:gd name="adj" fmla="val 4651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ns2:creationId id="{104DC622-7559-43A4-93E1-30E8AED1C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84834" y="2667000"/>
            <a:ext cx="2116931" cy="2400300"/>
          </a:xfrm>
          <a:prstGeom prst="roundRect">
            <a:avLst>
              <a:gd name="adj" fmla="val 6349"/>
            </a:avLst>
          </a:prstGeom>
        </p:spPr>
      </p:pic>
      <p:sp>
        <p:nvSpPr>
          <p:cNvPr id="8" name="矩形: 圆角 7"/>
          <p:cNvSpPr/>
          <p:nvPr/>
        </p:nvSpPr>
        <p:spPr>
          <a:xfrm>
            <a:off x="1028700" y="2381250"/>
            <a:ext cx="1552575" cy="304800"/>
          </a:xfrm>
          <a:prstGeom prst="roundRect">
            <a:avLst>
              <a:gd name="adj" fmla="val 37500"/>
            </a:avLst>
          </a:prstGeom>
          <a:solidFill>
            <a:srgbClr val="FFFDF8"/>
          </a:solidFill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98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PDF p.3 · 多人+帧泄漏</a:t>
            </a:r>
          </a:p>
        </p:txBody>
      </p:sp>
      <p:sp>
        <p:nvSpPr>
          <p:cNvPr id="9" name="矩形 8">
            <a:extLst>
              <a:ext uri="{FF2B5EF4-FFF2-40B4-BE49-F238E27FC236}">
                <ns2:creationId id="{63209400-DFC8-43BE-A691-32360D437393}"/>
              </a:ext>
            </a:extLst>
          </p:cNvPr>
          <p:cNvSpPr>
            <a:spLocks noGrp="1"/>
          </p:cNvSpPr>
          <p:nvPr/>
        </p:nvSpPr>
        <p:spPr>
          <a:xfrm>
            <a:off x="895350" y="5181600"/>
            <a:ext cx="5257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Yang &amp; Wang, SCB-Dataset3: A Benchmark for Detecting Student Classroom Behavior, arXiv:2310.02522v2</a:t>
            </a:r>
          </a:p>
        </p:txBody>
      </p:sp>
      <p:sp>
        <p:nvSpPr>
          <p:cNvPr id="10" name="矩形 9">
            <a:extLst>
              <a:ext uri="{FF2B5EF4-FFF2-40B4-BE49-F238E27FC236}">
                <ns2:creationId id="{15F40395-0F97-49A0-A50C-13FD6243EE7A}"/>
              </a:ext>
            </a:extLst>
          </p:cNvPr>
          <p:cNvSpPr>
            <a:spLocks noGrp="1"/>
          </p:cNvSpPr>
          <p:nvPr/>
        </p:nvSpPr>
        <p:spPr>
          <a:xfrm>
            <a:off x="6858000" y="24574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数据规模</a:t>
            </a:r>
          </a:p>
        </p:txBody>
      </p:sp>
      <p:sp>
        <p:nvSpPr>
          <p:cNvPr id="11" name="矩形 10">
            <a:extLst>
              <a:ext uri="{FF2B5EF4-FFF2-40B4-BE49-F238E27FC236}">
                <ns2:creationId id="{6769FC08-0988-4B51-98CA-549FCDAF37E1}"/>
              </a:ext>
            </a:extLst>
          </p:cNvPr>
          <p:cNvSpPr>
            <a:spLocks noGrp="1"/>
          </p:cNvSpPr>
          <p:nvPr/>
        </p:nvSpPr>
        <p:spPr>
          <a:xfrm>
            <a:off x="8001000" y="24384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SCB3-S 5686 张图像、45578 个框；SCB3-U 有多视角真实课堂视频</a:t>
            </a:r>
          </a:p>
        </p:txBody>
      </p:sp>
      <p:sp>
        <p:nvSpPr>
          <p:cNvPr id="12" name="矩形 11">
            <a:extLst>
              <a:ext uri="{FF2B5EF4-FFF2-40B4-BE49-F238E27FC236}">
                <ns2:creationId id="{E783E43D-C9E0-464A-AEA9-2F866967C58E}"/>
              </a:ext>
            </a:extLst>
          </p:cNvPr>
          <p:cNvSpPr>
            <a:spLocks noGrp="1"/>
          </p:cNvSpPr>
          <p:nvPr/>
        </p:nvSpPr>
        <p:spPr>
          <a:xfrm>
            <a:off x="6858000" y="31432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标签</a:t>
            </a:r>
          </a:p>
        </p:txBody>
      </p:sp>
      <p:sp>
        <p:nvSpPr>
          <p:cNvPr id="13" name="矩形 12">
            <a:extLst>
              <a:ext uri="{FF2B5EF4-FFF2-40B4-BE49-F238E27FC236}">
                <ns2:creationId id="{498CE492-9C6F-43A2-9677-796697E7E422}"/>
              </a:ext>
            </a:extLst>
          </p:cNvPr>
          <p:cNvSpPr>
            <a:spLocks noGrp="1"/>
          </p:cNvSpPr>
          <p:nvPr/>
        </p:nvSpPr>
        <p:spPr>
          <a:xfrm>
            <a:off x="8001000" y="31242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阅读、写字、使用手机、抬头、举手等课堂行为</a:t>
            </a:r>
          </a:p>
        </p:txBody>
      </p:sp>
      <p:sp>
        <p:nvSpPr>
          <p:cNvPr id="14" name="矩形 13">
            <a:extLst>
              <a:ext uri="{FF2B5EF4-FFF2-40B4-BE49-F238E27FC236}">
                <ns2:creationId id="{693B997E-80B5-41BC-B491-32D7D5E57B95}"/>
              </a:ext>
            </a:extLst>
          </p:cNvPr>
          <p:cNvSpPr>
            <a:spLocks noGrp="1"/>
          </p:cNvSpPr>
          <p:nvPr/>
        </p:nvSpPr>
        <p:spPr>
          <a:xfrm>
            <a:off x="6858000" y="38290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训练设置</a:t>
            </a:r>
          </a:p>
        </p:txBody>
      </p:sp>
      <p:sp>
        <p:nvSpPr>
          <p:cNvPr id="15" name="矩形 14">
            <a:extLst>
              <a:ext uri="{FF2B5EF4-FFF2-40B4-BE49-F238E27FC236}">
                <ns2:creationId id="{3DE12AB4-787D-42CF-95E3-03EAFDD09D7B}"/>
              </a:ext>
            </a:extLst>
          </p:cNvPr>
          <p:cNvSpPr>
            <a:spLocks noGrp="1"/>
          </p:cNvSpPr>
          <p:nvPr/>
        </p:nvSpPr>
        <p:spPr>
          <a:xfrm>
            <a:off x="8001000" y="38100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640×640，YOLOv7x，100 epoch，Precision/Recall/mAP</a:t>
            </a:r>
          </a:p>
        </p:txBody>
      </p:sp>
      <p:sp>
        <p:nvSpPr>
          <p:cNvPr id="16" name="矩形 15">
            <a:extLst>
              <a:ext uri="{FF2B5EF4-FFF2-40B4-BE49-F238E27FC236}">
                <ns2:creationId id="{089EC110-477C-4429-B26F-191B67B57B5B}"/>
              </a:ext>
            </a:extLst>
          </p:cNvPr>
          <p:cNvSpPr>
            <a:spLocks noGrp="1"/>
          </p:cNvSpPr>
          <p:nvPr/>
        </p:nvSpPr>
        <p:spPr>
          <a:xfrm>
            <a:off x="6858000" y="45148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重要结果</a:t>
            </a:r>
          </a:p>
        </p:txBody>
      </p:sp>
      <p:sp>
        <p:nvSpPr>
          <p:cNvPr id="17" name="矩形 16">
            <a:extLst>
              <a:ext uri="{FF2B5EF4-FFF2-40B4-BE49-F238E27FC236}">
                <ns2:creationId id="{0E9995A4-B58A-4346-BF07-5F20955BEA22}"/>
              </a:ext>
            </a:extLst>
          </p:cNvPr>
          <p:cNvSpPr>
            <a:spLocks noGrp="1"/>
          </p:cNvSpPr>
          <p:nvPr/>
        </p:nvSpPr>
        <p:spPr>
          <a:xfrm>
            <a:off x="8001000" y="44958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严格设置 mAP@50 约 71.4%，相邻帧切分可达 94.4%，存在高估风险</a:t>
            </a:r>
          </a:p>
        </p:txBody>
      </p:sp>
      <p:sp>
        <p:nvSpPr>
          <p:cNvPr id="18" name="矩形: 圆角 17">
            <a:extLst>
              <a:ext uri="{FF2B5EF4-FFF2-40B4-BE49-F238E27FC236}">
                <ns2:creationId id="{FEE80F1F-2886-42FC-A3F7-DBE828F9C323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820400" cy="533400"/>
          </a:xfrm>
          <a:prstGeom prst="roundRect">
            <a:avLst>
              <a:gd name="adj" fmla="val 21429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95350" y="5924550"/>
            <a:ext cx="16192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98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这一页只记住一句话</a:t>
            </a:r>
          </a:p>
        </p:txBody>
      </p:sp>
      <p:sp>
        <p:nvSpPr>
          <p:cNvPr id="20" name="矩形 19"/>
          <p:cNvSpPr/>
          <p:nvPr/>
        </p:nvSpPr>
        <p:spPr>
          <a:xfrm>
            <a:off x="2667000" y="59055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相邻视频帧切分会高估成绩，训练测试必须防泄漏。</a:t>
            </a:r>
          </a:p>
        </p:txBody>
      </p:sp>
      <p:sp>
        <p:nvSpPr>
          <p:cNvPr id="21" name="直接连接符 20">
            <a:extLst>
              <a:ext uri="{FF2B5EF4-FFF2-40B4-BE49-F238E27FC236}">
                <ns2:creationId id="{B846D1A9-66A8-477F-9FEB-795C1EEEAE3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ns2:creationId id="{1B022564-0C8F-44BA-9D2A-7BF3E357F927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论文证据 04</a:t>
            </a:r>
          </a:p>
        </p:txBody>
      </p:sp>
      <p:sp>
        <p:nvSpPr>
          <p:cNvPr id="23" name="矩形 22">
            <a:extLst>
              <a:ext uri="{FF2B5EF4-FFF2-40B4-BE49-F238E27FC236}">
                <ns2:creationId id="{60189885-2194-4ABF-9F5F-797CC34D2E98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val="1867051329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A3CD66C-5C2A-41E9-BED2-365AB4907DDD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同一研究任务需要处理不同模态和标注体系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6503A49-B45F-48DC-96E0-E244C00DC115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5BFD4A6-875C-4A56-AB30-EC28218AACD8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数据特点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FBC9226F-1D48-4DCE-96B8-13BC7FB0AD19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1D0E5E0-F9C5-48B7-BD27-6FCD7F99A7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2" r="312"/>
          <a:stretch>
            <a:fillRect/>
          </a:stretch>
        </p:blipFill>
        <p:spPr>
          <a:xfrm>
            <a:off x="685800" y="1714500"/>
            <a:ext cx="5048250" cy="2857500"/>
          </a:xfrm>
          <a:prstGeom prst="roundRect">
            <a:avLst>
              <a:gd name="adj" fmla="val 5333"/>
            </a:avLst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DA0EDE7F-D428-4EFE-9CB1-C99A35E1399A}"/>
              </a:ext>
            </a:extLst>
          </p:cNvPr>
          <p:cNvSpPr>
            <a:spLocks noGrp="1"/>
          </p:cNvSpPr>
          <p:nvPr/>
        </p:nvSpPr>
        <p:spPr>
          <a:xfrm>
            <a:off x="838200" y="1885950"/>
            <a:ext cx="1219200" cy="304800"/>
          </a:xfrm>
          <a:prstGeom prst="roundRect">
            <a:avLst>
              <a:gd name="adj" fmla="val 37500"/>
            </a:avLst>
          </a:prstGeom>
          <a:solidFill>
            <a:srgbClr val="DDEAE5"/>
          </a:solidFill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SCB 图片样例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703740-A7F9-49A1-871A-CB55F78E4C8D}"/>
              </a:ext>
            </a:extLst>
          </p:cNvPr>
          <p:cNvSpPr>
            <a:spLocks noGrp="1"/>
          </p:cNvSpPr>
          <p:nvPr/>
        </p:nvSpPr>
        <p:spPr>
          <a:xfrm>
            <a:off x="685800" y="4857750"/>
            <a:ext cx="504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课堂画面具有多人、前后排和小目标特点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C109043C-001D-482E-850E-5F8B5BF7E5CB}"/>
              </a:ext>
            </a:extLst>
          </p:cNvPr>
          <p:cNvSpPr>
            <a:spLocks noGrp="1"/>
          </p:cNvSpPr>
          <p:nvPr/>
        </p:nvSpPr>
        <p:spPr>
          <a:xfrm>
            <a:off x="6667500" y="1809750"/>
            <a:ext cx="95250" cy="95250"/>
          </a:xfrm>
          <a:prstGeom prst="ellipse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937A31-153D-4638-A459-1C24C0ED974A}"/>
              </a:ext>
            </a:extLst>
          </p:cNvPr>
          <p:cNvSpPr>
            <a:spLocks noGrp="1"/>
          </p:cNvSpPr>
          <p:nvPr/>
        </p:nvSpPr>
        <p:spPr>
          <a:xfrm>
            <a:off x="6934200" y="171450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4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图片与视频同时存在，视频还需要保留时间连续性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80736F8-9FA5-418E-88C1-DD3FCD2DC791}"/>
              </a:ext>
            </a:extLst>
          </p:cNvPr>
          <p:cNvSpPr>
            <a:spLocks noGrp="1"/>
          </p:cNvSpPr>
          <p:nvPr/>
        </p:nvSpPr>
        <p:spPr>
          <a:xfrm>
            <a:off x="6667500" y="2590800"/>
            <a:ext cx="95250" cy="95250"/>
          </a:xfrm>
          <a:prstGeom prst="ellipse">
            <a:avLst/>
          </a:prstGeom>
          <a:solidFill>
            <a:srgbClr val="D27A5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80437FE-F0B9-48BC-A342-4A53AF2EDCE0}"/>
              </a:ext>
            </a:extLst>
          </p:cNvPr>
          <p:cNvSpPr>
            <a:spLocks noGrp="1"/>
          </p:cNvSpPr>
          <p:nvPr/>
        </p:nvSpPr>
        <p:spPr>
          <a:xfrm>
            <a:off x="6934200" y="249555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数据集标签名称和任务定义不同，需要保留来源标签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8F511C8-314A-4051-B7C7-EF986F65EE25}"/>
              </a:ext>
            </a:extLst>
          </p:cNvPr>
          <p:cNvSpPr>
            <a:spLocks noGrp="1"/>
          </p:cNvSpPr>
          <p:nvPr/>
        </p:nvSpPr>
        <p:spPr>
          <a:xfrm>
            <a:off x="6667500" y="3371850"/>
            <a:ext cx="95250" cy="95250"/>
          </a:xfrm>
          <a:prstGeom prst="ellipse">
            <a:avLst/>
          </a:prstGeom>
          <a:solidFill>
            <a:srgbClr val="C86B6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BD5D805-1463-414C-A243-938F1A143948}"/>
              </a:ext>
            </a:extLst>
          </p:cNvPr>
          <p:cNvSpPr>
            <a:spLocks noGrp="1"/>
          </p:cNvSpPr>
          <p:nvPr/>
        </p:nvSpPr>
        <p:spPr>
          <a:xfrm>
            <a:off x="6934200" y="327660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原始分辨率不一致，不能把所有数据直接按同一尺寸解释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85D4F98C-73E1-4607-AD1F-1E78811F711E}"/>
              </a:ext>
            </a:extLst>
          </p:cNvPr>
          <p:cNvSpPr>
            <a:spLocks noGrp="1"/>
          </p:cNvSpPr>
          <p:nvPr/>
        </p:nvSpPr>
        <p:spPr>
          <a:xfrm>
            <a:off x="6667500" y="4152900"/>
            <a:ext cx="95250" cy="95250"/>
          </a:xfrm>
          <a:prstGeom prst="ellipse">
            <a:avLst/>
          </a:prstGeom>
          <a:solidFill>
            <a:srgbClr val="6E947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3DDB5E8-1C39-4F27-9EF6-82B4BE24C3A3}"/>
              </a:ext>
            </a:extLst>
          </p:cNvPr>
          <p:cNvSpPr>
            <a:spLocks noGrp="1"/>
          </p:cNvSpPr>
          <p:nvPr/>
        </p:nvSpPr>
        <p:spPr>
          <a:xfrm>
            <a:off x="6934200" y="4057650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部分样本有标注，部分样本需要先做质量检查和统一转换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FC76956-684B-4E5F-A54D-0B2C5A9DC7A8}"/>
              </a:ext>
            </a:extLst>
          </p:cNvPr>
          <p:cNvSpPr>
            <a:spLocks noGrp="1"/>
          </p:cNvSpPr>
          <p:nvPr/>
        </p:nvSpPr>
        <p:spPr>
          <a:xfrm>
            <a:off x="6667500" y="5219700"/>
            <a:ext cx="4191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数据处理的第一原则：保留来源、标签和原始分辨率。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A4E90475-6E91-4B9E-989E-F9423D84FA2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713E0A8-5E24-4BA4-9461-68CA71D7E519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研究汇报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F3D860A-7C26-45F5-942F-3E02A7F987C7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13860053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A24D88D1-EF43-4632-8187-7F64EFB3E1A5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不同数据集承担不同分析任务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B271ACD-4DA2-4FE9-B52C-11B4A08A4207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7B94D2C-63F0-48E3-B8AC-1A51BD2589ED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任务边界与标签体系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E798333B-DC82-4EBD-9296-DCB2E84A4D3B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31AA00E-CC21-47BF-B01A-CB8C8E26EB50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2000250" cy="4953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BAA6A77-8A72-4855-8158-55867ECE98C4}"/>
              </a:ext>
            </a:extLst>
          </p:cNvPr>
          <p:cNvSpPr>
            <a:spLocks noGrp="1"/>
          </p:cNvSpPr>
          <p:nvPr/>
        </p:nvSpPr>
        <p:spPr>
          <a:xfrm>
            <a:off x="800100" y="186690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数据集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48B1DE-AAD5-481A-BB66-53303DC8C2D7}"/>
              </a:ext>
            </a:extLst>
          </p:cNvPr>
          <p:cNvSpPr>
            <a:spLocks noGrp="1"/>
          </p:cNvSpPr>
          <p:nvPr/>
        </p:nvSpPr>
        <p:spPr>
          <a:xfrm>
            <a:off x="2686050" y="1752600"/>
            <a:ext cx="3714750" cy="4953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2AD1984-3221-4BD0-8D03-24DF54F1B995}"/>
              </a:ext>
            </a:extLst>
          </p:cNvPr>
          <p:cNvSpPr>
            <a:spLocks noGrp="1"/>
          </p:cNvSpPr>
          <p:nvPr/>
        </p:nvSpPr>
        <p:spPr>
          <a:xfrm>
            <a:off x="2800350" y="1866900"/>
            <a:ext cx="3486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适合回答的问题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DA4A5A-6A94-4EC6-A9A8-6E3C3FC993A6}"/>
              </a:ext>
            </a:extLst>
          </p:cNvPr>
          <p:cNvSpPr>
            <a:spLocks noGrp="1"/>
          </p:cNvSpPr>
          <p:nvPr/>
        </p:nvSpPr>
        <p:spPr>
          <a:xfrm>
            <a:off x="6400800" y="1752600"/>
            <a:ext cx="3143250" cy="4953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2A1F1A-79FE-447D-80F7-FFAB20491BC8}"/>
              </a:ext>
            </a:extLst>
          </p:cNvPr>
          <p:cNvSpPr>
            <a:spLocks noGrp="1"/>
          </p:cNvSpPr>
          <p:nvPr/>
        </p:nvSpPr>
        <p:spPr>
          <a:xfrm>
            <a:off x="6515100" y="186690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标签特点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6BFF5FD-8489-4EC9-8711-1CEFC221D60A}"/>
              </a:ext>
            </a:extLst>
          </p:cNvPr>
          <p:cNvSpPr>
            <a:spLocks noGrp="1"/>
          </p:cNvSpPr>
          <p:nvPr/>
        </p:nvSpPr>
        <p:spPr>
          <a:xfrm>
            <a:off x="9544050" y="1752600"/>
            <a:ext cx="1962150" cy="4953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629BFC-7BD1-4769-87BF-8E348F066982}"/>
              </a:ext>
            </a:extLst>
          </p:cNvPr>
          <p:cNvSpPr>
            <a:spLocks noGrp="1"/>
          </p:cNvSpPr>
          <p:nvPr/>
        </p:nvSpPr>
        <p:spPr>
          <a:xfrm>
            <a:off x="9658350" y="1866900"/>
            <a:ext cx="173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使用边界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551331F-1286-4547-9BDA-DB1E6513C2AF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2000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3C0290A-0100-4263-BE36-A536A229E0F4}"/>
              </a:ext>
            </a:extLst>
          </p:cNvPr>
          <p:cNvSpPr>
            <a:spLocks noGrp="1"/>
          </p:cNvSpPr>
          <p:nvPr/>
        </p:nvSpPr>
        <p:spPr>
          <a:xfrm>
            <a:off x="800100" y="236220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DAiSEE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AD0B300-2266-4E79-8669-269C5C51369B}"/>
              </a:ext>
            </a:extLst>
          </p:cNvPr>
          <p:cNvSpPr>
            <a:spLocks noGrp="1"/>
          </p:cNvSpPr>
          <p:nvPr/>
        </p:nvSpPr>
        <p:spPr>
          <a:xfrm>
            <a:off x="2686050" y="2247900"/>
            <a:ext cx="37147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D1F2641-663D-4F93-8DF8-8C0248AA1C8E}"/>
              </a:ext>
            </a:extLst>
          </p:cNvPr>
          <p:cNvSpPr>
            <a:spLocks noGrp="1"/>
          </p:cNvSpPr>
          <p:nvPr/>
        </p:nvSpPr>
        <p:spPr>
          <a:xfrm>
            <a:off x="2800350" y="2362200"/>
            <a:ext cx="3486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学习投入度与状态变化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758D187-D446-4F41-9C12-FBFE33545BA0}"/>
              </a:ext>
            </a:extLst>
          </p:cNvPr>
          <p:cNvSpPr>
            <a:spLocks noGrp="1"/>
          </p:cNvSpPr>
          <p:nvPr/>
        </p:nvSpPr>
        <p:spPr>
          <a:xfrm>
            <a:off x="6400800" y="2247900"/>
            <a:ext cx="3143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DF08CDB-3D58-4728-83BB-B84D6E0693AC}"/>
              </a:ext>
            </a:extLst>
          </p:cNvPr>
          <p:cNvSpPr>
            <a:spLocks noGrp="1"/>
          </p:cNvSpPr>
          <p:nvPr/>
        </p:nvSpPr>
        <p:spPr>
          <a:xfrm>
            <a:off x="6515100" y="236220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Boredom / Engagement / Confusion / Frustration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B21F2AD-3C06-45F1-BF26-A43D85CD9A0D}"/>
              </a:ext>
            </a:extLst>
          </p:cNvPr>
          <p:cNvSpPr>
            <a:spLocks noGrp="1"/>
          </p:cNvSpPr>
          <p:nvPr/>
        </p:nvSpPr>
        <p:spPr>
          <a:xfrm>
            <a:off x="9544050" y="2247900"/>
            <a:ext cx="19621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9A0AF4E-CD22-42D3-AC44-25DD28AB4D16}"/>
              </a:ext>
            </a:extLst>
          </p:cNvPr>
          <p:cNvSpPr>
            <a:spLocks noGrp="1"/>
          </p:cNvSpPr>
          <p:nvPr/>
        </p:nvSpPr>
        <p:spPr>
          <a:xfrm>
            <a:off x="9658350" y="2362200"/>
            <a:ext cx="173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不直接当作微表情标签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DB9BA3C-DD9C-433C-BC24-9DB4FCD0FB27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20002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D09979-5827-4490-B449-6B7FD9F05177}"/>
              </a:ext>
            </a:extLst>
          </p:cNvPr>
          <p:cNvSpPr>
            <a:spLocks noGrp="1"/>
          </p:cNvSpPr>
          <p:nvPr/>
        </p:nvSpPr>
        <p:spPr>
          <a:xfrm>
            <a:off x="800100" y="285750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Tianchi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47F377B-B494-489B-B8D7-D7F0505BBC80}"/>
              </a:ext>
            </a:extLst>
          </p:cNvPr>
          <p:cNvSpPr>
            <a:spLocks noGrp="1"/>
          </p:cNvSpPr>
          <p:nvPr/>
        </p:nvSpPr>
        <p:spPr>
          <a:xfrm>
            <a:off x="2686050" y="2743200"/>
            <a:ext cx="37147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D6F2226-D238-41A0-BF31-B98528648584}"/>
              </a:ext>
            </a:extLst>
          </p:cNvPr>
          <p:cNvSpPr>
            <a:spLocks noGrp="1"/>
          </p:cNvSpPr>
          <p:nvPr/>
        </p:nvSpPr>
        <p:spPr>
          <a:xfrm>
            <a:off x="2800350" y="2857500"/>
            <a:ext cx="3486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学生行为目标检测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934936E-3307-4D86-8EE1-A38292477630}"/>
              </a:ext>
            </a:extLst>
          </p:cNvPr>
          <p:cNvSpPr>
            <a:spLocks noGrp="1"/>
          </p:cNvSpPr>
          <p:nvPr/>
        </p:nvSpPr>
        <p:spPr>
          <a:xfrm>
            <a:off x="6400800" y="2743200"/>
            <a:ext cx="31432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BAEEC0E-1921-4A65-9175-A12AEEE9BEF7}"/>
              </a:ext>
            </a:extLst>
          </p:cNvPr>
          <p:cNvSpPr>
            <a:spLocks noGrp="1"/>
          </p:cNvSpPr>
          <p:nvPr/>
        </p:nvSpPr>
        <p:spPr>
          <a:xfrm>
            <a:off x="6515100" y="285750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upright、book、bend、raise_head 等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9181432-775E-4FE4-B62B-53E184E266A1}"/>
              </a:ext>
            </a:extLst>
          </p:cNvPr>
          <p:cNvSpPr>
            <a:spLocks noGrp="1"/>
          </p:cNvSpPr>
          <p:nvPr/>
        </p:nvSpPr>
        <p:spPr>
          <a:xfrm>
            <a:off x="9544050" y="2743200"/>
            <a:ext cx="19621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8E7B103-69FB-49E1-9D06-C58853E8F5FE}"/>
              </a:ext>
            </a:extLst>
          </p:cNvPr>
          <p:cNvSpPr>
            <a:spLocks noGrp="1"/>
          </p:cNvSpPr>
          <p:nvPr/>
        </p:nvSpPr>
        <p:spPr>
          <a:xfrm>
            <a:off x="9658350" y="2857500"/>
            <a:ext cx="173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保留 YOLO 标注体系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AEA7FE3-0095-4E10-A441-86293FD53838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2000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79012B4-C23A-4922-8292-3D1F49F5AE36}"/>
              </a:ext>
            </a:extLst>
          </p:cNvPr>
          <p:cNvSpPr>
            <a:spLocks noGrp="1"/>
          </p:cNvSpPr>
          <p:nvPr/>
        </p:nvSpPr>
        <p:spPr>
          <a:xfrm>
            <a:off x="800100" y="335280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SCB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7573E9E-3487-4A1A-AF9D-877C9D76643E}"/>
              </a:ext>
            </a:extLst>
          </p:cNvPr>
          <p:cNvSpPr>
            <a:spLocks noGrp="1"/>
          </p:cNvSpPr>
          <p:nvPr/>
        </p:nvSpPr>
        <p:spPr>
          <a:xfrm>
            <a:off x="2686050" y="3238500"/>
            <a:ext cx="37147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3605F48-9161-40BD-AEF3-B1531E083800}"/>
              </a:ext>
            </a:extLst>
          </p:cNvPr>
          <p:cNvSpPr>
            <a:spLocks noGrp="1"/>
          </p:cNvSpPr>
          <p:nvPr/>
        </p:nvSpPr>
        <p:spPr>
          <a:xfrm>
            <a:off x="2800350" y="3352800"/>
            <a:ext cx="3486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课堂行为和多人场景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6507FDC-4686-49DD-BE56-AA55282BC811}"/>
              </a:ext>
            </a:extLst>
          </p:cNvPr>
          <p:cNvSpPr>
            <a:spLocks noGrp="1"/>
          </p:cNvSpPr>
          <p:nvPr/>
        </p:nvSpPr>
        <p:spPr>
          <a:xfrm>
            <a:off x="6400800" y="3238500"/>
            <a:ext cx="3143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8CBEE4C-3A4F-45C3-8766-DE5B572AA3E3}"/>
              </a:ext>
            </a:extLst>
          </p:cNvPr>
          <p:cNvSpPr>
            <a:spLocks noGrp="1"/>
          </p:cNvSpPr>
          <p:nvPr/>
        </p:nvSpPr>
        <p:spPr>
          <a:xfrm>
            <a:off x="6515100" y="335280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8 类课堂行为，含图片和多视角视频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5F5FA10-AB8B-460E-A662-80476A73F7CA}"/>
              </a:ext>
            </a:extLst>
          </p:cNvPr>
          <p:cNvSpPr>
            <a:spLocks noGrp="1"/>
          </p:cNvSpPr>
          <p:nvPr/>
        </p:nvSpPr>
        <p:spPr>
          <a:xfrm>
            <a:off x="9544050" y="3238500"/>
            <a:ext cx="19621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3BD29B2-5840-468A-ADF2-CF4E5E02177A}"/>
              </a:ext>
            </a:extLst>
          </p:cNvPr>
          <p:cNvSpPr>
            <a:spLocks noGrp="1"/>
          </p:cNvSpPr>
          <p:nvPr/>
        </p:nvSpPr>
        <p:spPr>
          <a:xfrm>
            <a:off x="9658350" y="3352800"/>
            <a:ext cx="173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按来源标签解释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A0C1458-9EC2-4138-997E-C6EE3472977B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20002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53D3632-2232-4986-AF59-8683ADCCE6EA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微表情数据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0FC8B9C-87C0-44B7-8944-83033F3A8317}"/>
              </a:ext>
            </a:extLst>
          </p:cNvPr>
          <p:cNvSpPr>
            <a:spLocks noGrp="1"/>
          </p:cNvSpPr>
          <p:nvPr/>
        </p:nvSpPr>
        <p:spPr>
          <a:xfrm>
            <a:off x="2686050" y="3733800"/>
            <a:ext cx="37147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2B3902A-2E79-4C3B-93AD-2FD63111D814}"/>
              </a:ext>
            </a:extLst>
          </p:cNvPr>
          <p:cNvSpPr>
            <a:spLocks noGrp="1"/>
          </p:cNvSpPr>
          <p:nvPr/>
        </p:nvSpPr>
        <p:spPr>
          <a:xfrm>
            <a:off x="2800350" y="3848100"/>
            <a:ext cx="3486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面部微表情识别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0436B61-D9C6-4CF3-B975-9B61AFCFD462}"/>
              </a:ext>
            </a:extLst>
          </p:cNvPr>
          <p:cNvSpPr>
            <a:spLocks noGrp="1"/>
          </p:cNvSpPr>
          <p:nvPr/>
        </p:nvSpPr>
        <p:spPr>
          <a:xfrm>
            <a:off x="6400800" y="3733800"/>
            <a:ext cx="31432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7F6C9DA-02B3-44F7-8451-F75D84DD94F8}"/>
              </a:ext>
            </a:extLst>
          </p:cNvPr>
          <p:cNvSpPr>
            <a:spLocks noGrp="1"/>
          </p:cNvSpPr>
          <p:nvPr/>
        </p:nvSpPr>
        <p:spPr>
          <a:xfrm>
            <a:off x="6515100" y="384810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使用专门的微表情类别和时间片段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3EB786A-5CDF-4271-AC2A-763466D9CA0F}"/>
              </a:ext>
            </a:extLst>
          </p:cNvPr>
          <p:cNvSpPr>
            <a:spLocks noGrp="1"/>
          </p:cNvSpPr>
          <p:nvPr/>
        </p:nvSpPr>
        <p:spPr>
          <a:xfrm>
            <a:off x="9544050" y="3733800"/>
            <a:ext cx="19621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8F4428F-7105-4466-970D-23DBBF6B70BD}"/>
              </a:ext>
            </a:extLst>
          </p:cNvPr>
          <p:cNvSpPr>
            <a:spLocks noGrp="1"/>
          </p:cNvSpPr>
          <p:nvPr/>
        </p:nvSpPr>
        <p:spPr>
          <a:xfrm>
            <a:off x="9658350" y="3848100"/>
            <a:ext cx="1733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与投入度任务分开评估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3EB83C99-8D0F-43B8-B822-5C17C1916747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10820400" cy="838200"/>
          </a:xfrm>
          <a:prstGeom prst="roundRect">
            <a:avLst>
              <a:gd name="adj" fmla="val 13636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AF57746-CCDC-46DF-922E-64F1A4B57F27}"/>
              </a:ext>
            </a:extLst>
          </p:cNvPr>
          <p:cNvSpPr>
            <a:spLocks noGrp="1"/>
          </p:cNvSpPr>
          <p:nvPr/>
        </p:nvSpPr>
        <p:spPr>
          <a:xfrm>
            <a:off x="914400" y="49911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汇报时先说明任务定义，再比较模型性能。相近词语不代表相同标签。</a:t>
            </a:r>
          </a:p>
        </p:txBody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50956F38-76B3-4356-8F14-4EA289F482B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17E8CE6-142C-4882-8A35-0B7B504907A7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研究汇报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9101C79-0121-465B-9190-EF4BE184B775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755303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10BD74DB-6CBD-4E74-8D93-AB245B25F43C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只改变一个条件，观察视觉特征如何退化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85CA6F8-1DAF-4F52-BF27-3908FC7CFEAA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14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8D4598-C410-4D51-9CE0-F7800BF1282A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同一人物的处理前后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A2F7FD9C-51AE-4D83-8764-942E4FF4EF4B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8365A3E-8CE9-42A3-99CC-5777A481FA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02" b="5302"/>
          <a:stretch>
            <a:fillRect/>
          </a:stretch>
        </p:blipFill>
        <p:spPr>
          <a:xfrm>
            <a:off x="685800" y="1733550"/>
            <a:ext cx="3333750" cy="1676400"/>
          </a:xfrm>
          <a:prstGeom prst="roundRect">
            <a:avLst>
              <a:gd name="adj" fmla="val 9091"/>
            </a:avLst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4C7276CB-1F25-4D1C-87DD-6B146571225E}"/>
              </a:ext>
            </a:extLst>
          </p:cNvPr>
          <p:cNvSpPr>
            <a:spLocks noGrp="1"/>
          </p:cNvSpPr>
          <p:nvPr/>
        </p:nvSpPr>
        <p:spPr>
          <a:xfrm>
            <a:off x="819150" y="1866900"/>
            <a:ext cx="438150" cy="304800"/>
          </a:xfrm>
          <a:prstGeom prst="roundRect">
            <a:avLst>
              <a:gd name="adj" fmla="val 37500"/>
            </a:avLst>
          </a:prstGeom>
          <a:solidFill>
            <a:srgbClr val="FFFDF8"/>
          </a:solidFill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原图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75F49A2-AF51-4509-866A-800B3BA08D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302" b="5302"/>
          <a:stretch>
            <a:fillRect/>
          </a:stretch>
        </p:blipFill>
        <p:spPr>
          <a:xfrm>
            <a:off x="4362450" y="1733550"/>
            <a:ext cx="3333750" cy="1676400"/>
          </a:xfrm>
          <a:prstGeom prst="roundRect">
            <a:avLst>
              <a:gd name="adj" fmla="val 9091"/>
            </a:avLst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6F86AE89-FDCD-47A4-AB22-B3B65974D1E5}"/>
              </a:ext>
            </a:extLst>
          </p:cNvPr>
          <p:cNvSpPr>
            <a:spLocks noGrp="1"/>
          </p:cNvSpPr>
          <p:nvPr/>
        </p:nvSpPr>
        <p:spPr>
          <a:xfrm>
            <a:off x="4495800" y="1866900"/>
            <a:ext cx="819150" cy="304800"/>
          </a:xfrm>
          <a:prstGeom prst="roundRect">
            <a:avLst>
              <a:gd name="adj" fmla="val 37500"/>
            </a:avLst>
          </a:prstGeom>
          <a:solidFill>
            <a:srgbClr val="FFFDF8"/>
          </a:solidFill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1/2 分辨率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3F540E5-FD3E-4CEB-A05A-1EEADFBD2E7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102" b="5102"/>
          <a:stretch>
            <a:fillRect/>
          </a:stretch>
        </p:blipFill>
        <p:spPr>
          <a:xfrm>
            <a:off x="8039100" y="1733550"/>
            <a:ext cx="3333750" cy="1676400"/>
          </a:xfrm>
          <a:prstGeom prst="roundRect">
            <a:avLst>
              <a:gd name="adj" fmla="val 9091"/>
            </a:avLst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ECBCFF1-9AF7-4134-8A16-147CC2EE8374}"/>
              </a:ext>
            </a:extLst>
          </p:cNvPr>
          <p:cNvSpPr>
            <a:spLocks noGrp="1"/>
          </p:cNvSpPr>
          <p:nvPr/>
        </p:nvSpPr>
        <p:spPr>
          <a:xfrm>
            <a:off x="8172450" y="1866900"/>
            <a:ext cx="819150" cy="304800"/>
          </a:xfrm>
          <a:prstGeom prst="roundRect">
            <a:avLst>
              <a:gd name="adj" fmla="val 37500"/>
            </a:avLst>
          </a:prstGeom>
          <a:solidFill>
            <a:srgbClr val="FFFDF8"/>
          </a:solidFill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1/4 分辨率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33DFD92-93AB-44BE-8A0A-40BE9892A65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302" b="5302"/>
          <a:stretch>
            <a:fillRect/>
          </a:stretch>
        </p:blipFill>
        <p:spPr>
          <a:xfrm>
            <a:off x="685800" y="3829050"/>
            <a:ext cx="3333750" cy="1676400"/>
          </a:xfrm>
          <a:prstGeom prst="roundRect">
            <a:avLst>
              <a:gd name="adj" fmla="val 9091"/>
            </a:avLst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466CF14-D28B-4CE6-B7AD-EC0F875BF7BE}"/>
              </a:ext>
            </a:extLst>
          </p:cNvPr>
          <p:cNvSpPr>
            <a:spLocks noGrp="1"/>
          </p:cNvSpPr>
          <p:nvPr/>
        </p:nvSpPr>
        <p:spPr>
          <a:xfrm>
            <a:off x="819150" y="3962400"/>
            <a:ext cx="1504950" cy="304800"/>
          </a:xfrm>
          <a:prstGeom prst="roundRect">
            <a:avLst>
              <a:gd name="adj" fmla="val 37500"/>
            </a:avLst>
          </a:prstGeom>
          <a:solidFill>
            <a:srgbClr val="FFFDF8"/>
          </a:solidFill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 dirty="0" err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原图</a:t>
            </a:r>
            <a:r>
              <a:rPr sz="975" b="1" dirty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 + 2% </a:t>
            </a:r>
            <a:r>
              <a:rPr sz="975" b="1" dirty="0" err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黑色矩形遮挡</a:t>
            </a:r>
            <a:endParaRPr sz="975" b="1" dirty="0">
              <a:solidFill>
                <a:srgbClr val="19312E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F0A351B-ECF4-4B07-B8A6-B2823B1A707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302" b="5302"/>
          <a:stretch>
            <a:fillRect/>
          </a:stretch>
        </p:blipFill>
        <p:spPr>
          <a:xfrm>
            <a:off x="4362450" y="3829050"/>
            <a:ext cx="3333750" cy="1676400"/>
          </a:xfrm>
          <a:prstGeom prst="roundRect">
            <a:avLst>
              <a:gd name="adj" fmla="val 9091"/>
            </a:avLst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9966960-0880-4B4E-8639-7440A8552BB8}"/>
              </a:ext>
            </a:extLst>
          </p:cNvPr>
          <p:cNvSpPr>
            <a:spLocks noGrp="1"/>
          </p:cNvSpPr>
          <p:nvPr/>
        </p:nvSpPr>
        <p:spPr>
          <a:xfrm>
            <a:off x="4495800" y="3962400"/>
            <a:ext cx="1200150" cy="304800"/>
          </a:xfrm>
          <a:prstGeom prst="roundRect">
            <a:avLst>
              <a:gd name="adj" fmla="val 37500"/>
            </a:avLst>
          </a:prstGeom>
          <a:solidFill>
            <a:srgbClr val="FFFDF8"/>
          </a:solidFill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1/4 分辨率 + 遮挡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C99AD179-CB47-4CA7-8D88-737F01E4CF9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5302" b="5302"/>
          <a:stretch>
            <a:fillRect/>
          </a:stretch>
        </p:blipFill>
        <p:spPr>
          <a:xfrm>
            <a:off x="8039100" y="3829050"/>
            <a:ext cx="3333750" cy="1676400"/>
          </a:xfrm>
          <a:prstGeom prst="roundRect">
            <a:avLst>
              <a:gd name="adj" fmla="val 9091"/>
            </a:avLst>
          </a:prstGeom>
        </p:spPr>
      </p:pic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F0E12ED-4BF7-4273-8D71-9CD5AACB9012}"/>
              </a:ext>
            </a:extLst>
          </p:cNvPr>
          <p:cNvSpPr>
            <a:spLocks noGrp="1"/>
          </p:cNvSpPr>
          <p:nvPr/>
        </p:nvSpPr>
        <p:spPr>
          <a:xfrm>
            <a:off x="8172450" y="3962400"/>
            <a:ext cx="742950" cy="304800"/>
          </a:xfrm>
          <a:prstGeom prst="roundRect">
            <a:avLst>
              <a:gd name="adj" fmla="val 37500"/>
            </a:avLst>
          </a:prstGeom>
          <a:solidFill>
            <a:srgbClr val="FFFDF8"/>
          </a:solidFill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恢复到原尺寸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302D33C-DE08-4711-96C0-DCB9F5DCD197}"/>
              </a:ext>
            </a:extLst>
          </p:cNvPr>
          <p:cNvSpPr>
            <a:spLocks noGrp="1"/>
          </p:cNvSpPr>
          <p:nvPr/>
        </p:nvSpPr>
        <p:spPr>
          <a:xfrm>
            <a:off x="685800" y="60198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示例来自 SCB 图片。遮挡区域由程序记录，组合条件用于后续模型评估。</a:t>
            </a:r>
          </a:p>
        </p:txBody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468DB05A-48DB-4C01-BA11-123BB740C4E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7CF8D17-F8EC-4FC0-8973-9634D2BB8710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研究汇报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B0D4589-FF39-4FE0-996D-09C0F4E103E4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15031434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72846" y="425450"/>
            <a:ext cx="10833354" cy="936625"/>
            <a:chOff x="672846" y="425450"/>
            <a:chExt cx="10833354" cy="936625"/>
          </a:xfrm>
        </p:grpSpPr>
        <p:sp>
          <p:nvSpPr>
            <p:cNvPr id="2" name="TextBox 2"/>
            <p:cNvSpPr txBox="1"/>
            <p:nvPr/>
          </p:nvSpPr>
          <p:spPr>
            <a:xfrm>
              <a:off x="680466" y="425450"/>
              <a:ext cx="1015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14A · 实测输入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846" y="749300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处理台实际运行：四种视觉条件</a:t>
              </a:r>
            </a:p>
          </p:txBody>
        </p:sp>
        <p:sp>
          <p:nvSpPr>
            <p:cNvPr id="4" name="Freeform 4"/>
            <p:cNvSpPr/>
            <p:nvPr/>
          </p:nvSpPr>
          <p:spPr>
            <a:xfrm>
              <a:off x="685800" y="1352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7DED8"/>
              </a:solidFill>
            </a:ln>
          </p:spPr>
        </p:sp>
      </p:grpSp>
      <p:grpSp>
        <p:nvGrpSpPr>
          <p:cNvPr id="11" name="condition-original"/>
          <p:cNvGrpSpPr/>
          <p:nvPr/>
        </p:nvGrpSpPr>
        <p:grpSpPr>
          <a:xfrm>
            <a:off x="685800" y="1676400"/>
            <a:ext cx="2476500" cy="2000250"/>
            <a:chOff x="685800" y="1676400"/>
            <a:chExt cx="2476500" cy="200025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2476500" cy="2000250"/>
            </a:xfrm>
            <a:prstGeom prst="roundRect">
              <a:avLst>
                <a:gd name="adj" fmla="val 8571"/>
              </a:avLst>
            </a:prstGeom>
            <a:solidFill>
              <a:srgbClr val="FFFDF8"/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9"/>
            <a:srcRect l="0" t="17500" r="0" b="17500"/>
            <a:stretch>
              <a:fillRect/>
            </a:stretch>
          </p:blipFill>
          <p:spPr>
            <a:xfrm>
              <a:off x="781050" y="1771650"/>
              <a:ext cx="2286000" cy="14859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781050" y="1771650"/>
              <a:ext cx="2286000" cy="1485900"/>
            </a:xfrm>
            <a:prstGeom prst="rect">
              <a:avLst/>
            </a:prstGeom>
            <a:noFill/>
            <a:ln w="9525">
              <a:solidFill>
                <a:srgbClr val="D7DED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1723" y="3362325"/>
              <a:ext cx="35758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原图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785472" y="3387725"/>
              <a:ext cx="2297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6张</a:t>
              </a:r>
            </a:p>
          </p:txBody>
        </p:sp>
      </p:grpSp>
      <p:grpSp>
        <p:nvGrpSpPr>
          <p:cNvPr id="17" name="condition-occlusion"/>
          <p:cNvGrpSpPr/>
          <p:nvPr/>
        </p:nvGrpSpPr>
        <p:grpSpPr>
          <a:xfrm>
            <a:off x="3371850" y="1676400"/>
            <a:ext cx="2476500" cy="2000250"/>
            <a:chOff x="3371850" y="1676400"/>
            <a:chExt cx="2476500" cy="2000250"/>
          </a:xfrm>
        </p:grpSpPr>
        <p:sp>
          <p:nvSpPr>
            <p:cNvPr id="12" name="Rectangle 12"/>
            <p:cNvSpPr/>
            <p:nvPr/>
          </p:nvSpPr>
          <p:spPr>
            <a:xfrm>
              <a:off x="3371850" y="1676400"/>
              <a:ext cx="2476500" cy="2000250"/>
            </a:xfrm>
            <a:prstGeom prst="roundRect">
              <a:avLst>
                <a:gd name="adj" fmla="val 8571"/>
              </a:avLst>
            </a:prstGeom>
            <a:solidFill>
              <a:srgbClr val="FFFDF8"/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10"/>
            <a:srcRect l="0" t="17500" r="0" b="17500"/>
            <a:stretch>
              <a:fillRect/>
            </a:stretch>
          </p:blipFill>
          <p:spPr>
            <a:xfrm>
              <a:off x="3467100" y="1771650"/>
              <a:ext cx="2286000" cy="1485900"/>
            </a:xfrm>
            <a:prstGeom prst="rect">
              <a:avLst/>
            </a:prstGeom>
          </p:spPr>
        </p:pic>
        <p:sp>
          <p:nvSpPr>
            <p:cNvPr id="14" name="Rectangle 14"/>
            <p:cNvSpPr/>
            <p:nvPr/>
          </p:nvSpPr>
          <p:spPr>
            <a:xfrm>
              <a:off x="3467100" y="1771650"/>
              <a:ext cx="2286000" cy="1485900"/>
            </a:xfrm>
            <a:prstGeom prst="rect">
              <a:avLst/>
            </a:prstGeom>
            <a:noFill/>
            <a:ln w="9525">
              <a:solidFill>
                <a:srgbClr val="D7DED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517773" y="3362325"/>
              <a:ext cx="59278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1%遮挡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25212" y="338772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黑色方块</a:t>
              </a:r>
            </a:p>
          </p:txBody>
        </p:sp>
      </p:grpSp>
      <p:grpSp>
        <p:nvGrpSpPr>
          <p:cNvPr id="23" name="condition-lowres"/>
          <p:cNvGrpSpPr/>
          <p:nvPr/>
        </p:nvGrpSpPr>
        <p:grpSpPr>
          <a:xfrm>
            <a:off x="6057900" y="1676400"/>
            <a:ext cx="2476500" cy="2000250"/>
            <a:chOff x="6057900" y="1676400"/>
            <a:chExt cx="2476500" cy="2000250"/>
          </a:xfrm>
        </p:grpSpPr>
        <p:sp>
          <p:nvSpPr>
            <p:cNvPr id="18" name="Rectangle 18"/>
            <p:cNvSpPr/>
            <p:nvPr/>
          </p:nvSpPr>
          <p:spPr>
            <a:xfrm>
              <a:off x="6057900" y="1676400"/>
              <a:ext cx="2476500" cy="2000250"/>
            </a:xfrm>
            <a:prstGeom prst="roundRect">
              <a:avLst>
                <a:gd name="adj" fmla="val 8571"/>
              </a:avLst>
            </a:prstGeom>
            <a:solidFill>
              <a:srgbClr val="FFFDF8"/>
            </a:solidFill>
            <a:ln>
              <a:noFill/>
            </a:ln>
          </p:spPr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11"/>
            <a:srcRect l="0" t="17500" r="0" b="17500"/>
            <a:stretch>
              <a:fillRect/>
            </a:stretch>
          </p:blipFill>
          <p:spPr>
            <a:xfrm>
              <a:off x="6153150" y="1771650"/>
              <a:ext cx="2286000" cy="1485900"/>
            </a:xfrm>
            <a:prstGeom prst="rect">
              <a:avLst/>
            </a:prstGeom>
          </p:spPr>
        </p:pic>
        <p:sp>
          <p:nvSpPr>
            <p:cNvPr id="20" name="Rectangle 20"/>
            <p:cNvSpPr/>
            <p:nvPr/>
          </p:nvSpPr>
          <p:spPr>
            <a:xfrm>
              <a:off x="6153150" y="1771650"/>
              <a:ext cx="2286000" cy="1485900"/>
            </a:xfrm>
            <a:prstGeom prst="rect">
              <a:avLst/>
            </a:prstGeom>
            <a:noFill/>
            <a:ln w="9525">
              <a:solidFill>
                <a:srgbClr val="D7DED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03823" y="3362325"/>
              <a:ext cx="100074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1/4低分辨率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69911" y="338772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远距离模拟</a:t>
              </a:r>
            </a:p>
          </p:txBody>
        </p:sp>
      </p:grpSp>
      <p:grpSp>
        <p:nvGrpSpPr>
          <p:cNvPr id="29" name="condition-combo"/>
          <p:cNvGrpSpPr/>
          <p:nvPr/>
        </p:nvGrpSpPr>
        <p:grpSpPr>
          <a:xfrm>
            <a:off x="8743950" y="1676400"/>
            <a:ext cx="2476500" cy="2000250"/>
            <a:chOff x="8743950" y="1676400"/>
            <a:chExt cx="2476500" cy="2000250"/>
          </a:xfrm>
        </p:grpSpPr>
        <p:sp>
          <p:nvSpPr>
            <p:cNvPr id="24" name="Rectangle 24"/>
            <p:cNvSpPr/>
            <p:nvPr/>
          </p:nvSpPr>
          <p:spPr>
            <a:xfrm>
              <a:off x="8743950" y="1676400"/>
              <a:ext cx="2476500" cy="2000250"/>
            </a:xfrm>
            <a:prstGeom prst="roundRect">
              <a:avLst>
                <a:gd name="adj" fmla="val 8571"/>
              </a:avLst>
            </a:prstGeom>
            <a:solidFill>
              <a:srgbClr val="FFFDF8"/>
            </a:solidFill>
            <a:ln>
              <a:noFill/>
            </a:ln>
          </p:spPr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12"/>
            <a:srcRect l="0" t="17500" r="0" b="17500"/>
            <a:stretch>
              <a:fillRect/>
            </a:stretch>
          </p:blipFill>
          <p:spPr>
            <a:xfrm>
              <a:off x="8839200" y="1771650"/>
              <a:ext cx="2286000" cy="1485900"/>
            </a:xfrm>
            <a:prstGeom prst="rect">
              <a:avLst/>
            </a:prstGeom>
          </p:spPr>
        </p:pic>
        <p:sp>
          <p:nvSpPr>
            <p:cNvPr id="26" name="Rectangle 26"/>
            <p:cNvSpPr/>
            <p:nvPr/>
          </p:nvSpPr>
          <p:spPr>
            <a:xfrm>
              <a:off x="8839200" y="1771650"/>
              <a:ext cx="2286000" cy="1485900"/>
            </a:xfrm>
            <a:prstGeom prst="rect">
              <a:avLst/>
            </a:prstGeom>
            <a:noFill/>
            <a:ln w="9525">
              <a:solidFill>
                <a:srgbClr val="D7DED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889873" y="3362325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组合条件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136867" y="3387725"/>
              <a:ext cx="9365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低分辨率+遮挡</a:t>
              </a:r>
            </a:p>
          </p:txBody>
        </p:sp>
      </p:grpSp>
      <p:grpSp>
        <p:nvGrpSpPr>
          <p:cNvPr id="34" name="condition-summary"/>
          <p:cNvGrpSpPr/>
          <p:nvPr/>
        </p:nvGrpSpPr>
        <p:grpSpPr>
          <a:xfrm>
            <a:off x="685800" y="4095750"/>
            <a:ext cx="10820400" cy="1619250"/>
            <a:chOff x="685800" y="4095750"/>
            <a:chExt cx="10820400" cy="1619250"/>
          </a:xfrm>
        </p:grpSpPr>
        <p:sp>
          <p:nvSpPr>
            <p:cNvPr id="30" name="Rectangle 30"/>
            <p:cNvSpPr/>
            <p:nvPr/>
          </p:nvSpPr>
          <p:spPr>
            <a:xfrm>
              <a:off x="685800" y="4095750"/>
              <a:ext cx="10820400" cy="1619250"/>
            </a:xfrm>
            <a:prstGeom prst="roundRect">
              <a:avLst>
                <a:gd name="adj" fmla="val 10588"/>
              </a:avLst>
            </a:prstGeom>
            <a:solidFill>
              <a:srgbClr val="19312E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81075" y="4286250"/>
              <a:ext cx="825280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DF8"/>
                  </a:solidFill>
                  <a:latin typeface="Microsoft YaHei"/>
                  <a:ea typeface="Microsoft YaHei"/>
                  <a:cs typeface="Microsoft YaHei"/>
                </a:rPr>
                <a:t>实际运行：6 张 Tianchi（课堂行为图片集） × 4 种条件 = 24 张模型输入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3742" y="4787900"/>
              <a:ext cx="71287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CEBE6"/>
                  </a:solidFill>
                  <a:latin typeface="Microsoft YaHei"/>
                  <a:ea typeface="Microsoft YaHei"/>
                  <a:cs typeface="Microsoft YaHei"/>
                </a:rPr>
                <a:t>输出原图、1/4 低分辨率、1% 遮挡、组合条件，并保留 样本编号 / 处理条件 / 输出路径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84123" y="5162550"/>
              <a:ext cx="580121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DCEBE6"/>
                  </a:solidFill>
                  <a:latin typeface="Microsoft YaHei"/>
                  <a:ea typeface="Microsoft YaHei"/>
                  <a:cs typeface="Microsoft YaHei"/>
                </a:rPr>
                <a:t>运行目录：D:/classroom_project/presentation_experiment_20261029</a:t>
              </a:r>
            </a:p>
          </p:txBody>
        </p:sp>
      </p:grpSp>
      <p:grpSp>
        <p:nvGrpSpPr>
          <p:cNvPr id="37" name="conclusion-conditions"/>
          <p:cNvGrpSpPr/>
          <p:nvPr/>
        </p:nvGrpSpPr>
        <p:grpSpPr>
          <a:xfrm>
            <a:off x="685800" y="5867400"/>
            <a:ext cx="10820400" cy="400050"/>
            <a:chOff x="685800" y="5867400"/>
            <a:chExt cx="10820400" cy="400050"/>
          </a:xfrm>
        </p:grpSpPr>
        <p:sp>
          <p:nvSpPr>
            <p:cNvPr id="35" name="Rectangle 35"/>
            <p:cNvSpPr/>
            <p:nvPr/>
          </p:nvSpPr>
          <p:spPr>
            <a:xfrm>
              <a:off x="685800" y="5867400"/>
              <a:ext cx="10820400" cy="400050"/>
            </a:xfrm>
            <a:prstGeom prst="roundRect">
              <a:avLst>
                <a:gd name="adj" fmla="val 33333"/>
              </a:avLst>
            </a:prstGeom>
            <a:solidFill>
              <a:srgbClr val="19312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26973" y="5972175"/>
              <a:ext cx="432079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DF8"/>
                  </a:solidFill>
                  <a:latin typeface="Microsoft YaHei"/>
                  <a:ea typeface="Microsoft YaHei"/>
                  <a:cs typeface="Microsoft YaHei"/>
                </a:rPr>
                <a:t>一句话结论：同一批样本只改变处理条件，比较才公平。</a:t>
              </a:r>
            </a:p>
          </p:txBody>
        </p:sp>
      </p:grpSp>
    </p:spTree>
    <p:extLst>
      <p:ext uri="{BB962C8B-B14F-4D97-AF65-F5344CB8AC3E}">
        <p14:creationId val="1503143454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72846" y="425450"/>
            <a:ext cx="10833354" cy="936625"/>
            <a:chOff x="672846" y="425450"/>
            <a:chExt cx="10833354" cy="936625"/>
          </a:xfrm>
        </p:grpSpPr>
        <p:sp>
          <p:nvSpPr>
            <p:cNvPr id="2" name="TextBox 2"/>
            <p:cNvSpPr txBox="1"/>
            <p:nvPr/>
          </p:nvSpPr>
          <p:spPr>
            <a:xfrm>
              <a:off x="680466" y="425450"/>
              <a:ext cx="1156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14B · 数据与方法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846" y="749300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数据集和实验参数：这次到底跑了什么</a:t>
              </a:r>
            </a:p>
          </p:txBody>
        </p:sp>
        <p:sp>
          <p:nvSpPr>
            <p:cNvPr id="4" name="Freeform 4"/>
            <p:cNvSpPr/>
            <p:nvPr/>
          </p:nvSpPr>
          <p:spPr>
            <a:xfrm>
              <a:off x="685800" y="1352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7DED8"/>
              </a:solidFill>
            </a:ln>
          </p:spPr>
        </p:sp>
      </p:grpSp>
      <p:grpSp>
        <p:nvGrpSpPr>
          <p:cNvPr id="11" name="data-1"/>
          <p:cNvGrpSpPr/>
          <p:nvPr/>
        </p:nvGrpSpPr>
        <p:grpSpPr>
          <a:xfrm>
            <a:off x="685800" y="1676400"/>
            <a:ext cx="3333750" cy="2381250"/>
            <a:chOff x="685800" y="1676400"/>
            <a:chExt cx="3333750" cy="238125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3333750" cy="2381250"/>
            </a:xfrm>
            <a:prstGeom prst="roundRect">
              <a:avLst>
                <a:gd name="adj" fmla="val 7200"/>
              </a:avLst>
            </a:prstGeom>
            <a:solidFill>
              <a:srgbClr val="FFFDF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3356" y="1879600"/>
              <a:ext cx="26427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SCB（课堂行为数据集）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4880" y="2298700"/>
              <a:ext cx="29972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26,652 张图片 · 12,836 个视频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5642" y="2711450"/>
              <a:ext cx="27125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8 类课堂行为，适合多人遮挡研究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6023" y="3219450"/>
              <a:ext cx="201179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数据规模：75,027 个文件</a:t>
              </a:r>
            </a:p>
          </p:txBody>
        </p:sp>
      </p:grpSp>
      <p:grpSp>
        <p:nvGrpSpPr>
          <p:cNvPr id="17" name="data-2"/>
          <p:cNvGrpSpPr/>
          <p:nvPr/>
        </p:nvGrpSpPr>
        <p:grpSpPr>
          <a:xfrm>
            <a:off x="4429125" y="1676400"/>
            <a:ext cx="3333750" cy="2381250"/>
            <a:chOff x="4429125" y="1676400"/>
            <a:chExt cx="3333750" cy="2381250"/>
          </a:xfrm>
        </p:grpSpPr>
        <p:sp>
          <p:nvSpPr>
            <p:cNvPr id="12" name="Rectangle 12"/>
            <p:cNvSpPr/>
            <p:nvPr/>
          </p:nvSpPr>
          <p:spPr>
            <a:xfrm>
              <a:off x="4429125" y="1676400"/>
              <a:ext cx="3333750" cy="2381250"/>
            </a:xfrm>
            <a:prstGeom prst="roundRect">
              <a:avLst>
                <a:gd name="adj" fmla="val 7200"/>
              </a:avLst>
            </a:prstGeom>
            <a:solidFill>
              <a:srgbClr val="FFFDF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686681" y="1879600"/>
              <a:ext cx="19237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Tianchi 课堂行为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88205" y="2298700"/>
              <a:ext cx="24141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4,065 张图片 · 12 类标签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88967" y="271145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本次实测数据来源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89348" y="3219450"/>
              <a:ext cx="158962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处理台试跑 6 张图片</a:t>
              </a:r>
            </a:p>
          </p:txBody>
        </p:sp>
      </p:grpSp>
      <p:grpSp>
        <p:nvGrpSpPr>
          <p:cNvPr id="23" name="data-3"/>
          <p:cNvGrpSpPr/>
          <p:nvPr/>
        </p:nvGrpSpPr>
        <p:grpSpPr>
          <a:xfrm>
            <a:off x="8172450" y="1676400"/>
            <a:ext cx="3333750" cy="2381250"/>
            <a:chOff x="8172450" y="1676400"/>
            <a:chExt cx="3333750" cy="2381250"/>
          </a:xfrm>
        </p:grpSpPr>
        <p:sp>
          <p:nvSpPr>
            <p:cNvPr id="18" name="Rectangle 18"/>
            <p:cNvSpPr/>
            <p:nvPr/>
          </p:nvSpPr>
          <p:spPr>
            <a:xfrm>
              <a:off x="8172450" y="1676400"/>
              <a:ext cx="3333750" cy="2381250"/>
            </a:xfrm>
            <a:prstGeom prst="roundRect">
              <a:avLst>
                <a:gd name="adj" fmla="val 7200"/>
              </a:avLst>
            </a:prstGeom>
            <a:solidFill>
              <a:srgbClr val="FFFDF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30006" y="1879600"/>
              <a:ext cx="27694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DAiSEE（投入度视频集）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31530" y="2298700"/>
              <a:ext cx="27529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9,067 视频 · 4 状态 · 0–3 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32292" y="271145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投入度基线可运行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32673" y="3219450"/>
              <a:ext cx="173609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正式结论仍需时序评估</a:t>
              </a:r>
            </a:p>
          </p:txBody>
        </p:sp>
      </p:grpSp>
      <p:grpSp>
        <p:nvGrpSpPr>
          <p:cNvPr id="27" name="data-note"/>
          <p:cNvGrpSpPr/>
          <p:nvPr/>
        </p:nvGrpSpPr>
        <p:grpSpPr>
          <a:xfrm>
            <a:off x="685800" y="4457700"/>
            <a:ext cx="10820400" cy="1143000"/>
            <a:chOff x="685800" y="4457700"/>
            <a:chExt cx="10820400" cy="1143000"/>
          </a:xfrm>
        </p:grpSpPr>
        <p:sp>
          <p:nvSpPr>
            <p:cNvPr id="24" name="Rectangle 24"/>
            <p:cNvSpPr/>
            <p:nvPr/>
          </p:nvSpPr>
          <p:spPr>
            <a:xfrm>
              <a:off x="685800" y="4457700"/>
              <a:ext cx="10820400" cy="1143000"/>
            </a:xfrm>
            <a:prstGeom prst="roundRect">
              <a:avLst>
                <a:gd name="adj" fmla="val 15000"/>
              </a:avLst>
            </a:prstGeom>
            <a:solidFill>
              <a:srgbClr val="E5E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83361" y="4679950"/>
              <a:ext cx="59041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固定随机种子 20261029 · 原图/1⁄4 分辨率 · 0/1% 像素和方块干扰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3742" y="5073650"/>
              <a:ext cx="47025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处理清单写入 样本清单表.xlsx；模型明细写入各模型目录</a:t>
              </a:r>
            </a:p>
          </p:txBody>
        </p:sp>
      </p:grpSp>
      <p:grpSp>
        <p:nvGrpSpPr>
          <p:cNvPr id="30" name="conclusion-data"/>
          <p:cNvGrpSpPr/>
          <p:nvPr/>
        </p:nvGrpSpPr>
        <p:grpSpPr>
          <a:xfrm>
            <a:off x="685800" y="5772150"/>
            <a:ext cx="10820400" cy="400050"/>
            <a:chOff x="685800" y="5772150"/>
            <a:chExt cx="10820400" cy="400050"/>
          </a:xfrm>
        </p:grpSpPr>
        <p:sp>
          <p:nvSpPr>
            <p:cNvPr id="28" name="Rectangle 28"/>
            <p:cNvSpPr/>
            <p:nvPr/>
          </p:nvSpPr>
          <p:spPr>
            <a:xfrm>
              <a:off x="685800" y="5772150"/>
              <a:ext cx="10820400" cy="400050"/>
            </a:xfrm>
            <a:prstGeom prst="roundRect">
              <a:avLst>
                <a:gd name="adj" fmla="val 33333"/>
              </a:avLst>
            </a:prstGeom>
            <a:solidFill>
              <a:srgbClr val="19312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6973" y="5876925"/>
              <a:ext cx="44931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DF8"/>
                  </a:solidFill>
                  <a:latin typeface="Microsoft YaHei"/>
                  <a:ea typeface="Microsoft YaHei"/>
                  <a:cs typeface="Microsoft YaHei"/>
                </a:rPr>
                <a:t>一句话结论：数据集提供真实标签，处理台制造可控干扰。</a:t>
              </a:r>
            </a:p>
          </p:txBody>
        </p:sp>
      </p:grpSp>
    </p:spTree>
    <p:extLst>
      <p:ext uri="{BB962C8B-B14F-4D97-AF65-F5344CB8AC3E}">
        <p14:creationId val="1503143454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4CD5AFE-1CC0-4BAA-A324-DC30A6AAAA40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先确认数据可靠，再进入模型实验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AD1F0FE-E663-42AD-AB87-3FFE2D9BCF67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rPr>
              <a:t>15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9B368B-0BDF-4FC9-A51F-4FA5DD2C8175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rPr>
              <a:t>数据质量与标注转换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23AC4D39-05B2-4AC7-87CC-8315181D4484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6B8C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6673D6-50C6-4285-A531-4B9E48E4B907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质量检查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95746F9-F0CB-4360-87FB-F79F4ABE9B1F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40005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损坏图片和视频</a:t>
            </a:r>
          </a:p>
          <a:p>
            <a:pPr algn="l">
              <a:def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分辨率过小</a:t>
            </a:r>
          </a:p>
          <a:p>
            <a:pPr algn="l">
              <a:def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缺失标签</a:t>
            </a:r>
          </a:p>
          <a:p>
            <a:pPr algn="l">
              <a:def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重复文件</a:t>
            </a:r>
          </a:p>
          <a:p>
            <a:pPr algn="l">
              <a:def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训练集与测试集泄漏</a:t>
            </a:r>
          </a:p>
          <a:p>
            <a:pPr algn="l">
              <a:def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ZIP 内媒体是否完整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525D76C-1F36-4326-8529-7D9811A6A196}"/>
              </a:ext>
            </a:extLst>
          </p:cNvPr>
          <p:cNvSpPr>
            <a:spLocks noGrp="1"/>
          </p:cNvSpPr>
          <p:nvPr/>
        </p:nvSpPr>
        <p:spPr>
          <a:xfrm>
            <a:off x="6191250" y="17907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统一标注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FDEA2CF-C352-40BF-B4D3-766BEB089620}"/>
              </a:ext>
            </a:extLst>
          </p:cNvPr>
          <p:cNvSpPr>
            <a:spLocks noGrp="1"/>
          </p:cNvSpPr>
          <p:nvPr/>
        </p:nvSpPr>
        <p:spPr>
          <a:xfrm>
            <a:off x="6191250" y="2209800"/>
            <a:ext cx="44767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VOC XML → unified_annotations.csv</a:t>
            </a:r>
          </a:p>
          <a:p>
            <a:pPr algn="l">
              <a:def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YOLO TXT → unified_annotations.csv</a:t>
            </a:r>
          </a:p>
          <a:p>
            <a:pPr algn="l">
              <a:def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COCO JSON → unified_annotations.csv</a:t>
            </a:r>
          </a:p>
          <a:p>
            <a:pPr algn="l">
              <a:def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关键点 JSON / CSV → 统一关键点字段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10D1F27-AF7A-467E-974B-AEB8D2DC44DC}"/>
              </a:ext>
            </a:extLst>
          </p:cNvPr>
          <p:cNvSpPr>
            <a:spLocks noGrp="1"/>
          </p:cNvSpPr>
          <p:nvPr/>
        </p:nvSpPr>
        <p:spPr>
          <a:xfrm>
            <a:off x="6191250" y="4248150"/>
            <a:ext cx="4476750" cy="800100"/>
          </a:xfrm>
          <a:prstGeom prst="roundRect">
            <a:avLst>
              <a:gd name="adj" fmla="val 14286"/>
            </a:avLst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BCD0DB8-34C6-426E-8998-E585EF4E7FCD}"/>
              </a:ext>
            </a:extLst>
          </p:cNvPr>
          <p:cNvSpPr>
            <a:spLocks noGrp="1"/>
          </p:cNvSpPr>
          <p:nvPr/>
        </p:nvSpPr>
        <p:spPr>
          <a:xfrm>
            <a:off x="6438900" y="4410075"/>
            <a:ext cx="3905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输出：quality_report.csv</a:t>
            </a:r>
          </a:p>
          <a:p>
            <a: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unified_annotations.csv</a:t>
            </a:r>
          </a:p>
          <a:p>
            <a:pPr algn="l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label_registry sheet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6A8E156-CF83-4A8D-B41E-EEF1756ECE12}"/>
              </a:ext>
            </a:extLst>
          </p:cNvPr>
          <p:cNvSpPr>
            <a:spLocks noGrp="1"/>
          </p:cNvSpPr>
          <p:nvPr/>
        </p:nvSpPr>
        <p:spPr>
          <a:xfrm>
            <a:off x="685800" y="5467350"/>
            <a:ext cx="1000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质量报告和标注转换结果与原始数据分开保存，便于追溯。</a:t>
            </a: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C947391F-1B88-41FF-B13C-2E84CE7FC22E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2599140-D8E2-49BE-9383-578F28F08120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数据质量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080B233-1FF3-4165-8ED0-05A4DDAE16DB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16324493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C0D29A4D-060C-4FDC-AE23-FBF131A34E4D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程序把原始媒体变成可重复实验条件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58FF659-42A5-4661-B7B2-08F1827A7B5E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rPr>
              <a:t>16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82AFFB7-9932-4637-AD82-6D1A7E2A8518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rPr>
              <a:t>数据预处理流程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E7BDC934-6CF5-4873-95D4-5CD357B850DE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6B8C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3DF7C33-4B42-4618-A129-6C5A779CFC9B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1104900" cy="800100"/>
          </a:xfrm>
          <a:prstGeom prst="roundRect">
            <a:avLst>
              <a:gd name="adj" fmla="val 14286"/>
            </a:avLst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285167-B1C5-4E52-AC70-2F8CD4909D57}"/>
              </a:ext>
            </a:extLst>
          </p:cNvPr>
          <p:cNvSpPr>
            <a:spLocks noGrp="1"/>
          </p:cNvSpPr>
          <p:nvPr/>
        </p:nvSpPr>
        <p:spPr>
          <a:xfrm>
            <a:off x="800100" y="25146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19EF10D-97D2-4D30-BA15-AD5552C8A2EF}"/>
              </a:ext>
            </a:extLst>
          </p:cNvPr>
          <p:cNvSpPr>
            <a:spLocks noGrp="1"/>
          </p:cNvSpPr>
          <p:nvPr/>
        </p:nvSpPr>
        <p:spPr>
          <a:xfrm>
            <a:off x="800100" y="2781300"/>
            <a:ext cx="87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扫描媒体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4CBCFECA-AA02-47ED-8757-08EC0C0C166E}"/>
              </a:ext>
            </a:extLst>
          </p:cNvPr>
          <p:cNvSpPr>
            <a:spLocks noGrp="1"/>
          </p:cNvSpPr>
          <p:nvPr/>
        </p:nvSpPr>
        <p:spPr>
          <a:xfrm>
            <a:off x="1809750" y="2781300"/>
            <a:ext cx="190500" cy="0"/>
          </a:xfrm>
          <a:prstGeom prst="line">
            <a:avLst/>
          </a:prstGeom>
          <a:noFill/>
          <a:ln w="19050">
            <a:solidFill>
              <a:srgbClr val="6B8C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A7A54E2-9A0B-498A-999C-B59327A3F301}"/>
              </a:ext>
            </a:extLst>
          </p:cNvPr>
          <p:cNvSpPr>
            <a:spLocks noGrp="1"/>
          </p:cNvSpPr>
          <p:nvPr/>
        </p:nvSpPr>
        <p:spPr>
          <a:xfrm>
            <a:off x="2038350" y="2381250"/>
            <a:ext cx="1104900" cy="800100"/>
          </a:xfrm>
          <a:prstGeom prst="roundRect">
            <a:avLst>
              <a:gd name="adj" fmla="val 14286"/>
            </a:avLst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E47D084-0815-4FC5-9C25-2897742B7E63}"/>
              </a:ext>
            </a:extLst>
          </p:cNvPr>
          <p:cNvSpPr>
            <a:spLocks noGrp="1"/>
          </p:cNvSpPr>
          <p:nvPr/>
        </p:nvSpPr>
        <p:spPr>
          <a:xfrm>
            <a:off x="2152650" y="25146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919090B-728B-45B0-92A1-DA8201A7DAFC}"/>
              </a:ext>
            </a:extLst>
          </p:cNvPr>
          <p:cNvSpPr>
            <a:spLocks noGrp="1"/>
          </p:cNvSpPr>
          <p:nvPr/>
        </p:nvSpPr>
        <p:spPr>
          <a:xfrm>
            <a:off x="2152650" y="2781300"/>
            <a:ext cx="87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图片/视频分类</a:t>
            </a: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BE0176EA-242B-45E9-BF5C-F92606CF4918}"/>
              </a:ext>
            </a:extLst>
          </p:cNvPr>
          <p:cNvSpPr>
            <a:spLocks noGrp="1"/>
          </p:cNvSpPr>
          <p:nvPr/>
        </p:nvSpPr>
        <p:spPr>
          <a:xfrm>
            <a:off x="3162300" y="2781300"/>
            <a:ext cx="190500" cy="0"/>
          </a:xfrm>
          <a:prstGeom prst="line">
            <a:avLst/>
          </a:prstGeom>
          <a:noFill/>
          <a:ln w="19050">
            <a:solidFill>
              <a:srgbClr val="6B8C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BE1AEA1-A242-4C69-B8EE-F17A33108AE9}"/>
              </a:ext>
            </a:extLst>
          </p:cNvPr>
          <p:cNvSpPr>
            <a:spLocks noGrp="1"/>
          </p:cNvSpPr>
          <p:nvPr/>
        </p:nvSpPr>
        <p:spPr>
          <a:xfrm>
            <a:off x="3390900" y="2381250"/>
            <a:ext cx="1104900" cy="800100"/>
          </a:xfrm>
          <a:prstGeom prst="roundRect">
            <a:avLst>
              <a:gd name="adj" fmla="val 14286"/>
            </a:avLst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6F1661F-D982-4781-89AE-C574FD156095}"/>
              </a:ext>
            </a:extLst>
          </p:cNvPr>
          <p:cNvSpPr>
            <a:spLocks noGrp="1"/>
          </p:cNvSpPr>
          <p:nvPr/>
        </p:nvSpPr>
        <p:spPr>
          <a:xfrm>
            <a:off x="3505200" y="25146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59D5E56-B142-45F5-833A-ED576954592F}"/>
              </a:ext>
            </a:extLst>
          </p:cNvPr>
          <p:cNvSpPr>
            <a:spLocks noGrp="1"/>
          </p:cNvSpPr>
          <p:nvPr/>
        </p:nvSpPr>
        <p:spPr>
          <a:xfrm>
            <a:off x="3505200" y="2781300"/>
            <a:ext cx="87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标签与标注整理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09D6F55C-83D9-41B2-8EEC-1811A57686A3}"/>
              </a:ext>
            </a:extLst>
          </p:cNvPr>
          <p:cNvSpPr>
            <a:spLocks noGrp="1"/>
          </p:cNvSpPr>
          <p:nvPr/>
        </p:nvSpPr>
        <p:spPr>
          <a:xfrm>
            <a:off x="4514850" y="2781300"/>
            <a:ext cx="190500" cy="0"/>
          </a:xfrm>
          <a:prstGeom prst="line">
            <a:avLst/>
          </a:prstGeom>
          <a:noFill/>
          <a:ln w="19050">
            <a:solidFill>
              <a:srgbClr val="6B8C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F5C29AB-84C0-4FB0-8209-E53B6C67E7B3}"/>
              </a:ext>
            </a:extLst>
          </p:cNvPr>
          <p:cNvSpPr>
            <a:spLocks noGrp="1"/>
          </p:cNvSpPr>
          <p:nvPr/>
        </p:nvSpPr>
        <p:spPr>
          <a:xfrm>
            <a:off x="4743450" y="2381250"/>
            <a:ext cx="1104900" cy="800100"/>
          </a:xfrm>
          <a:prstGeom prst="roundRect">
            <a:avLst>
              <a:gd name="adj" fmla="val 14286"/>
            </a:avLst>
          </a:prstGeom>
          <a:solidFill>
            <a:srgbClr val="D27A5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9F22ADF-C563-45AD-9D9E-B7D5F98CE655}"/>
              </a:ext>
            </a:extLst>
          </p:cNvPr>
          <p:cNvSpPr>
            <a:spLocks noGrp="1"/>
          </p:cNvSpPr>
          <p:nvPr/>
        </p:nvSpPr>
        <p:spPr>
          <a:xfrm>
            <a:off x="4857750" y="25146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4A9DFA5-80EC-43AE-B3EF-83AF215FBCEF}"/>
              </a:ext>
            </a:extLst>
          </p:cNvPr>
          <p:cNvSpPr>
            <a:spLocks noGrp="1"/>
          </p:cNvSpPr>
          <p:nvPr/>
        </p:nvSpPr>
        <p:spPr>
          <a:xfrm>
            <a:off x="4857750" y="2781300"/>
            <a:ext cx="87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抽样或手选</a:t>
            </a:r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E7ABE597-CA4F-4BB3-A3CB-E6E6E735F6F9}"/>
              </a:ext>
            </a:extLst>
          </p:cNvPr>
          <p:cNvSpPr>
            <a:spLocks noGrp="1"/>
          </p:cNvSpPr>
          <p:nvPr/>
        </p:nvSpPr>
        <p:spPr>
          <a:xfrm>
            <a:off x="5867400" y="2781300"/>
            <a:ext cx="190500" cy="0"/>
          </a:xfrm>
          <a:prstGeom prst="line">
            <a:avLst/>
          </a:prstGeom>
          <a:noFill/>
          <a:ln w="19050">
            <a:solidFill>
              <a:srgbClr val="6B8C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33DE795-F433-455A-81E1-A0606A8BFAF0}"/>
              </a:ext>
            </a:extLst>
          </p:cNvPr>
          <p:cNvSpPr>
            <a:spLocks noGrp="1"/>
          </p:cNvSpPr>
          <p:nvPr/>
        </p:nvSpPr>
        <p:spPr>
          <a:xfrm>
            <a:off x="6096000" y="2381250"/>
            <a:ext cx="1104900" cy="800100"/>
          </a:xfrm>
          <a:prstGeom prst="roundRect">
            <a:avLst>
              <a:gd name="adj" fmla="val 14286"/>
            </a:avLst>
          </a:prstGeom>
          <a:solidFill>
            <a:srgbClr val="D27A5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D5E2616-DAD8-435B-90A8-0798FB75E518}"/>
              </a:ext>
            </a:extLst>
          </p:cNvPr>
          <p:cNvSpPr>
            <a:spLocks noGrp="1"/>
          </p:cNvSpPr>
          <p:nvPr/>
        </p:nvSpPr>
        <p:spPr>
          <a:xfrm>
            <a:off x="6210300" y="25146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D01DBE4-E1F4-48C3-B0CF-57938A72ADC4}"/>
              </a:ext>
            </a:extLst>
          </p:cNvPr>
          <p:cNvSpPr>
            <a:spLocks noGrp="1"/>
          </p:cNvSpPr>
          <p:nvPr/>
        </p:nvSpPr>
        <p:spPr>
          <a:xfrm>
            <a:off x="6210300" y="2781300"/>
            <a:ext cx="87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分辨率缩放</a:t>
            </a:r>
          </a:p>
        </p:txBody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8623D653-CBFE-4671-8AB8-C374A2E76FD5}"/>
              </a:ext>
            </a:extLst>
          </p:cNvPr>
          <p:cNvSpPr>
            <a:spLocks noGrp="1"/>
          </p:cNvSpPr>
          <p:nvPr/>
        </p:nvSpPr>
        <p:spPr>
          <a:xfrm>
            <a:off x="7219950" y="2781300"/>
            <a:ext cx="190500" cy="0"/>
          </a:xfrm>
          <a:prstGeom prst="line">
            <a:avLst/>
          </a:prstGeom>
          <a:noFill/>
          <a:ln w="19050">
            <a:solidFill>
              <a:srgbClr val="6B8C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4E086072-FD02-441F-AAEF-CF73A12D2BA2}"/>
              </a:ext>
            </a:extLst>
          </p:cNvPr>
          <p:cNvSpPr>
            <a:spLocks noGrp="1"/>
          </p:cNvSpPr>
          <p:nvPr/>
        </p:nvSpPr>
        <p:spPr>
          <a:xfrm>
            <a:off x="7448550" y="2381250"/>
            <a:ext cx="1104900" cy="800100"/>
          </a:xfrm>
          <a:prstGeom prst="roundRect">
            <a:avLst>
              <a:gd name="adj" fmla="val 14286"/>
            </a:avLst>
          </a:prstGeom>
          <a:solidFill>
            <a:srgbClr val="C86B6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17F425F-A195-417F-8F5C-C7CDC736BCEA}"/>
              </a:ext>
            </a:extLst>
          </p:cNvPr>
          <p:cNvSpPr>
            <a:spLocks noGrp="1"/>
          </p:cNvSpPr>
          <p:nvPr/>
        </p:nvSpPr>
        <p:spPr>
          <a:xfrm>
            <a:off x="7562850" y="25146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AFD8839-B4DC-4F51-8FE9-E0E53440E010}"/>
              </a:ext>
            </a:extLst>
          </p:cNvPr>
          <p:cNvSpPr>
            <a:spLocks noGrp="1"/>
          </p:cNvSpPr>
          <p:nvPr/>
        </p:nvSpPr>
        <p:spPr>
          <a:xfrm>
            <a:off x="7562850" y="2781300"/>
            <a:ext cx="87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遮挡与隐私处理</a:t>
            </a:r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D1D9BF6A-083D-4BBA-9E45-F3B24A96591B}"/>
              </a:ext>
            </a:extLst>
          </p:cNvPr>
          <p:cNvSpPr>
            <a:spLocks noGrp="1"/>
          </p:cNvSpPr>
          <p:nvPr/>
        </p:nvSpPr>
        <p:spPr>
          <a:xfrm>
            <a:off x="8572500" y="2781300"/>
            <a:ext cx="190500" cy="0"/>
          </a:xfrm>
          <a:prstGeom prst="line">
            <a:avLst/>
          </a:prstGeom>
          <a:noFill/>
          <a:ln w="19050">
            <a:solidFill>
              <a:srgbClr val="6B8C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09E922A7-7870-4289-8F43-28598F1486CF}"/>
              </a:ext>
            </a:extLst>
          </p:cNvPr>
          <p:cNvSpPr>
            <a:spLocks noGrp="1"/>
          </p:cNvSpPr>
          <p:nvPr/>
        </p:nvSpPr>
        <p:spPr>
          <a:xfrm>
            <a:off x="8801100" y="2381250"/>
            <a:ext cx="1104900" cy="800100"/>
          </a:xfrm>
          <a:prstGeom prst="roundRect">
            <a:avLst>
              <a:gd name="adj" fmla="val 14286"/>
            </a:avLst>
          </a:prstGeom>
          <a:solidFill>
            <a:srgbClr val="6E947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885EE65-53B4-48BD-A5AE-F4DC18BCEBE7}"/>
              </a:ext>
            </a:extLst>
          </p:cNvPr>
          <p:cNvSpPr>
            <a:spLocks noGrp="1"/>
          </p:cNvSpPr>
          <p:nvPr/>
        </p:nvSpPr>
        <p:spPr>
          <a:xfrm>
            <a:off x="8915400" y="25146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E9F13D2-2107-408B-A447-2D8BA5F38DA4}"/>
              </a:ext>
            </a:extLst>
          </p:cNvPr>
          <p:cNvSpPr>
            <a:spLocks noGrp="1"/>
          </p:cNvSpPr>
          <p:nvPr/>
        </p:nvSpPr>
        <p:spPr>
          <a:xfrm>
            <a:off x="8915400" y="2781300"/>
            <a:ext cx="87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人物聚焦与跟踪</a:t>
            </a:r>
          </a:p>
        </p:txBody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5C36743C-0B4A-4969-94A8-C44095E35AEB}"/>
              </a:ext>
            </a:extLst>
          </p:cNvPr>
          <p:cNvSpPr>
            <a:spLocks noGrp="1"/>
          </p:cNvSpPr>
          <p:nvPr/>
        </p:nvSpPr>
        <p:spPr>
          <a:xfrm>
            <a:off x="9925050" y="2781300"/>
            <a:ext cx="190500" cy="0"/>
          </a:xfrm>
          <a:prstGeom prst="line">
            <a:avLst/>
          </a:prstGeom>
          <a:noFill/>
          <a:ln w="19050">
            <a:solidFill>
              <a:srgbClr val="6B8C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D6E4192D-43D7-4919-A035-8C44BE0F130A}"/>
              </a:ext>
            </a:extLst>
          </p:cNvPr>
          <p:cNvSpPr>
            <a:spLocks noGrp="1"/>
          </p:cNvSpPr>
          <p:nvPr/>
        </p:nvSpPr>
        <p:spPr>
          <a:xfrm>
            <a:off x="10153650" y="2381250"/>
            <a:ext cx="1104900" cy="800100"/>
          </a:xfrm>
          <a:prstGeom prst="roundRect">
            <a:avLst>
              <a:gd name="adj" fmla="val 14286"/>
            </a:avLst>
          </a:prstGeom>
          <a:solidFill>
            <a:srgbClr val="D7AA5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C763333-BBAE-43F7-BF12-73A4ED9869D9}"/>
              </a:ext>
            </a:extLst>
          </p:cNvPr>
          <p:cNvSpPr>
            <a:spLocks noGrp="1"/>
          </p:cNvSpPr>
          <p:nvPr/>
        </p:nvSpPr>
        <p:spPr>
          <a:xfrm>
            <a:off x="10267950" y="25146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B6FAA25-9868-4F43-8A44-C8F6347D240B}"/>
              </a:ext>
            </a:extLst>
          </p:cNvPr>
          <p:cNvSpPr>
            <a:spLocks noGrp="1"/>
          </p:cNvSpPr>
          <p:nvPr/>
        </p:nvSpPr>
        <p:spPr>
          <a:xfrm>
            <a:off x="10267950" y="2781300"/>
            <a:ext cx="87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模型评估与导出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54A3517-3F6A-4F8A-B18B-62B854A97B68}"/>
              </a:ext>
            </a:extLst>
          </p:cNvPr>
          <p:cNvSpPr>
            <a:spLocks noGrp="1"/>
          </p:cNvSpPr>
          <p:nvPr/>
        </p:nvSpPr>
        <p:spPr>
          <a:xfrm>
            <a:off x="685800" y="4076700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输出不只是处理后的媒体，还包括实验配置、断点记录、哈希和统计报告。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BA2ABCC-D48F-4067-8A50-7438EDE36869}"/>
              </a:ext>
            </a:extLst>
          </p:cNvPr>
          <p:cNvSpPr>
            <a:spLocks noGrp="1"/>
          </p:cNvSpPr>
          <p:nvPr/>
        </p:nvSpPr>
        <p:spPr>
          <a:xfrm>
            <a:off x="685800" y="459105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35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同一数据、同一参数、同一随机种子，可以重新得到同一组实验条件。</a:t>
            </a:r>
          </a:p>
        </p:txBody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CA45E148-A142-4820-9E10-F5431F1AAF9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4D55B75-141F-46AE-AB1B-B41DA7E5A4B7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流程概览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53FFF53-D45A-4E0D-8DFF-5CDFB870FD73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4095998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C30A69CA-B479-479B-8483-52B70C2DCE5F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用比例控制远距离视角的视觉信息量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47ECB72-38F7-4D71-BD27-39656C45EEB6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17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388DFDF-AE51-4DD0-9965-13F2885AB701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分辨率退化实验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924E4CA3-EC44-4807-9A5B-92934C723364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D20DB4-B151-4C8F-801E-DD7DF334DB97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5715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程序支持把原图缩放到多个比例，再选择是否恢复到目标尺寸。实验比较图像质量和人物分析性能的变化。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23723D-37DB-422F-932B-D6190C55E3F0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1333500" cy="1809750"/>
          </a:xfrm>
          <a:prstGeom prst="rect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955B43E-8D23-4368-A409-A60656BEBBE2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原图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946A3305-4535-4416-9FAF-6EDF09B9E3FB}"/>
              </a:ext>
            </a:extLst>
          </p:cNvPr>
          <p:cNvSpPr>
            <a:spLocks noGrp="1"/>
          </p:cNvSpPr>
          <p:nvPr/>
        </p:nvSpPr>
        <p:spPr>
          <a:xfrm>
            <a:off x="2076450" y="4191000"/>
            <a:ext cx="285750" cy="0"/>
          </a:xfrm>
          <a:prstGeom prst="line">
            <a:avLst/>
          </a:prstGeom>
          <a:noFill/>
          <a:ln w="1905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155593F-B38C-4AAD-8DA5-B3341F5011B5}"/>
              </a:ext>
            </a:extLst>
          </p:cNvPr>
          <p:cNvSpPr>
            <a:spLocks noGrp="1"/>
          </p:cNvSpPr>
          <p:nvPr/>
        </p:nvSpPr>
        <p:spPr>
          <a:xfrm>
            <a:off x="2476500" y="3333750"/>
            <a:ext cx="1333500" cy="1428750"/>
          </a:xfrm>
          <a:prstGeom prst="rect">
            <a:avLst/>
          </a:prstGeom>
          <a:solidFill>
            <a:srgbClr val="D27A5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F0DD59-EC17-4427-B484-A09E9C7E9374}"/>
              </a:ext>
            </a:extLst>
          </p:cNvPr>
          <p:cNvSpPr>
            <a:spLocks noGrp="1"/>
          </p:cNvSpPr>
          <p:nvPr/>
        </p:nvSpPr>
        <p:spPr>
          <a:xfrm>
            <a:off x="2476500" y="49530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1/2</a:t>
            </a: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EF5FB965-5388-4533-8208-5DF29B712BE9}"/>
              </a:ext>
            </a:extLst>
          </p:cNvPr>
          <p:cNvSpPr>
            <a:spLocks noGrp="1"/>
          </p:cNvSpPr>
          <p:nvPr/>
        </p:nvSpPr>
        <p:spPr>
          <a:xfrm>
            <a:off x="3867150" y="4191000"/>
            <a:ext cx="285750" cy="0"/>
          </a:xfrm>
          <a:prstGeom prst="line">
            <a:avLst/>
          </a:prstGeom>
          <a:noFill/>
          <a:ln w="1905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BD2D713-D1BF-4991-9789-A0521E1CAD8E}"/>
              </a:ext>
            </a:extLst>
          </p:cNvPr>
          <p:cNvSpPr>
            <a:spLocks noGrp="1"/>
          </p:cNvSpPr>
          <p:nvPr/>
        </p:nvSpPr>
        <p:spPr>
          <a:xfrm>
            <a:off x="4267200" y="3714750"/>
            <a:ext cx="1333500" cy="1047750"/>
          </a:xfrm>
          <a:prstGeom prst="rect">
            <a:avLst/>
          </a:prstGeom>
          <a:solidFill>
            <a:srgbClr val="D27A5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494B7F3-11D4-4412-A5D6-0BFF5BAF68F4}"/>
              </a:ext>
            </a:extLst>
          </p:cNvPr>
          <p:cNvSpPr>
            <a:spLocks noGrp="1"/>
          </p:cNvSpPr>
          <p:nvPr/>
        </p:nvSpPr>
        <p:spPr>
          <a:xfrm>
            <a:off x="4267200" y="49530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1/4</a:t>
            </a:r>
          </a:p>
        </p:txBody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65E5BE3F-A6B1-4CE4-ADE0-CF295E4576CF}"/>
              </a:ext>
            </a:extLst>
          </p:cNvPr>
          <p:cNvSpPr>
            <a:spLocks noGrp="1"/>
          </p:cNvSpPr>
          <p:nvPr/>
        </p:nvSpPr>
        <p:spPr>
          <a:xfrm>
            <a:off x="5657850" y="4191000"/>
            <a:ext cx="285750" cy="0"/>
          </a:xfrm>
          <a:prstGeom prst="line">
            <a:avLst/>
          </a:prstGeom>
          <a:noFill/>
          <a:ln w="1905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5E95B91-1C06-48AC-B9DE-BA4CBC3E040A}"/>
              </a:ext>
            </a:extLst>
          </p:cNvPr>
          <p:cNvSpPr>
            <a:spLocks noGrp="1"/>
          </p:cNvSpPr>
          <p:nvPr/>
        </p:nvSpPr>
        <p:spPr>
          <a:xfrm>
            <a:off x="6057900" y="4095750"/>
            <a:ext cx="1333500" cy="666750"/>
          </a:xfrm>
          <a:prstGeom prst="rect">
            <a:avLst/>
          </a:prstGeom>
          <a:solidFill>
            <a:srgbClr val="C86B6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AE9D10D-1149-47F4-84F0-79954B93171F}"/>
              </a:ext>
            </a:extLst>
          </p:cNvPr>
          <p:cNvSpPr>
            <a:spLocks noGrp="1"/>
          </p:cNvSpPr>
          <p:nvPr/>
        </p:nvSpPr>
        <p:spPr>
          <a:xfrm>
            <a:off x="6057900" y="49530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1/8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ABD46AE-2A79-4F43-A062-6DB78CAC8E13}"/>
              </a:ext>
            </a:extLst>
          </p:cNvPr>
          <p:cNvSpPr>
            <a:spLocks noGrp="1"/>
          </p:cNvSpPr>
          <p:nvPr/>
        </p:nvSpPr>
        <p:spPr>
          <a:xfrm>
            <a:off x="7448550" y="4191000"/>
            <a:ext cx="285750" cy="0"/>
          </a:xfrm>
          <a:prstGeom prst="line">
            <a:avLst/>
          </a:prstGeom>
          <a:noFill/>
          <a:ln w="1905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78B2F81-F0FC-4D77-985A-6187D90E1379}"/>
              </a:ext>
            </a:extLst>
          </p:cNvPr>
          <p:cNvSpPr>
            <a:spLocks noGrp="1"/>
          </p:cNvSpPr>
          <p:nvPr/>
        </p:nvSpPr>
        <p:spPr>
          <a:xfrm>
            <a:off x="7848600" y="3333750"/>
            <a:ext cx="1333500" cy="1428750"/>
          </a:xfrm>
          <a:prstGeom prst="rect">
            <a:avLst/>
          </a:prstGeom>
          <a:solidFill>
            <a:srgbClr val="6E947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7E94EF9-5443-4AAF-BB9C-D143DFB42F69}"/>
              </a:ext>
            </a:extLst>
          </p:cNvPr>
          <p:cNvSpPr>
            <a:spLocks noGrp="1"/>
          </p:cNvSpPr>
          <p:nvPr/>
        </p:nvSpPr>
        <p:spPr>
          <a:xfrm>
            <a:off x="7848600" y="49530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恢复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DF1AB2C-1247-4888-AB53-BE93B5FE6C12}"/>
              </a:ext>
            </a:extLst>
          </p:cNvPr>
          <p:cNvSpPr>
            <a:spLocks noGrp="1"/>
          </p:cNvSpPr>
          <p:nvPr/>
        </p:nvSpPr>
        <p:spPr>
          <a:xfrm>
            <a:off x="9525000" y="23812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实验记录字段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FB031B7-056F-43DB-97A4-9788B1E03778}"/>
              </a:ext>
            </a:extLst>
          </p:cNvPr>
          <p:cNvSpPr>
            <a:spLocks noGrp="1"/>
          </p:cNvSpPr>
          <p:nvPr/>
        </p:nvSpPr>
        <p:spPr>
          <a:xfrm>
            <a:off x="9525000" y="2743200"/>
            <a:ext cx="18097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整体分辨率</a:t>
            </a:r>
          </a:p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人物目标大小</a:t>
            </a:r>
          </a:p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人脸区域大小</a:t>
            </a:r>
          </a:p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缩放比例</a:t>
            </a:r>
          </a:p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恢复方式</a:t>
            </a:r>
          </a:p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处理前后文件大小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CCEB9C3-08E3-4CD9-BAE2-3859D60B213B}"/>
              </a:ext>
            </a:extLst>
          </p:cNvPr>
          <p:cNvSpPr>
            <a:spLocks noGrp="1"/>
          </p:cNvSpPr>
          <p:nvPr/>
        </p:nvSpPr>
        <p:spPr>
          <a:xfrm>
            <a:off x="7048500" y="5410200"/>
            <a:ext cx="4476750" cy="590550"/>
          </a:xfrm>
          <a:prstGeom prst="roundRect">
            <a:avLst>
              <a:gd name="adj" fmla="val 19355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D51CFBF-A5A7-417B-9398-BEE653FDAC97}"/>
              </a:ext>
            </a:extLst>
          </p:cNvPr>
          <p:cNvSpPr>
            <a:spLocks noGrp="1"/>
          </p:cNvSpPr>
          <p:nvPr/>
        </p:nvSpPr>
        <p:spPr>
          <a:xfrm>
            <a:off x="7239000" y="55626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恢复分辨率改善尺寸，不等于恢复已经丢失的真实信息。</a:t>
            </a:r>
          </a:p>
        </p:txBody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204CBCF5-6316-42F4-901D-32EFBDC6627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276A21B-64F4-492A-BF7B-4C4AF8F4D1C0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研究汇报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3577EA9-8068-4EE9-8F76-464565DA663C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73343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mc="http://schemas.openxmlformats.org/markup-compatibility/2006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ns2:creationId id="{9D1524D5-AB31-4C12-91ED-C01139EC23F9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论文证据与原有板块结合</a:t>
            </a:r>
          </a:p>
        </p:txBody>
      </p:sp>
      <p:sp>
        <p:nvSpPr>
          <p:cNvPr id="2" name="矩形 1">
            <a:extLst>
              <a:ext uri="{FF2B5EF4-FFF2-40B4-BE49-F238E27FC236}">
                <ns2:creationId id="{42C5ECFE-44A8-49F0-9581-5FFF72DF3D7A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18</a:t>
            </a:r>
          </a:p>
        </p:txBody>
      </p:sp>
      <p:sp>
        <p:nvSpPr>
          <p:cNvPr id="3" name="矩形 2">
            <a:extLst>
              <a:ext uri="{FF2B5EF4-FFF2-40B4-BE49-F238E27FC236}">
                <ns2:creationId id="{A998C4A3-AB64-4A76-AA8C-6193C6672DDF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低分辨率表情识别：FSR-FER</a:t>
            </a:r>
          </a:p>
        </p:txBody>
      </p:sp>
      <p:sp>
        <p:nvSpPr>
          <p:cNvPr id="4" name="直接连接符 3">
            <a:extLst>
              <a:ext uri="{FF2B5EF4-FFF2-40B4-BE49-F238E27FC236}">
                <ns2:creationId id="{40E1381F-AB0B-4BAA-A41D-610FF5A33F83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ns2:creationId id="{F85CB403-121D-4C50-B076-CD53DC14F080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低分辨率输入在 x2-x8 下逐渐丢失表情特征；特征超分辨率可以直接改善识别特征。</a:t>
            </a:r>
          </a:p>
        </p:txBody>
      </p:sp>
      <p:sp>
        <p:nvSpPr>
          <p:cNvPr id="6" name="矩形: 圆角 5">
            <a:extLst>
              <a:ext uri="{FF2B5EF4-FFF2-40B4-BE49-F238E27FC236}">
                <ns2:creationId id="{D33FEDDF-DE0D-4E32-9DAC-593373296E5C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5715000" cy="3276600"/>
          </a:xfrm>
          <a:prstGeom prst="roundRect">
            <a:avLst>
              <a:gd name="adj" fmla="val 4651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ns2:creationId id="{B1B8212A-C621-4AC6-9470-955C18792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54175" y="2667000"/>
            <a:ext cx="3778250" cy="2400300"/>
          </a:xfrm>
          <a:prstGeom prst="roundRect">
            <a:avLst>
              <a:gd name="adj" fmla="val 6349"/>
            </a:avLst>
          </a:prstGeom>
        </p:spPr>
      </p:pic>
      <p:sp>
        <p:nvSpPr>
          <p:cNvPr id="8" name="矩形: 圆角 7"/>
          <p:cNvSpPr/>
          <p:nvPr/>
        </p:nvSpPr>
        <p:spPr>
          <a:xfrm>
            <a:off x="1028700" y="2381250"/>
            <a:ext cx="1685925" cy="304800"/>
          </a:xfrm>
          <a:prstGeom prst="roundRect">
            <a:avLst>
              <a:gd name="adj" fmla="val 37500"/>
            </a:avLst>
          </a:prstGeom>
          <a:solidFill>
            <a:srgbClr val="FFFDF8"/>
          </a:solidFill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98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PDF p.2 · 重点：低清丢细节</a:t>
            </a:r>
          </a:p>
        </p:txBody>
      </p:sp>
      <p:sp>
        <p:nvSpPr>
          <p:cNvPr id="9" name="矩形 8">
            <a:extLst>
              <a:ext uri="{FF2B5EF4-FFF2-40B4-BE49-F238E27FC236}">
                <ns2:creationId id="{BDE46485-D6DF-4DA4-85E8-5A1F5E038E5A}"/>
              </a:ext>
            </a:extLst>
          </p:cNvPr>
          <p:cNvSpPr>
            <a:spLocks noGrp="1"/>
          </p:cNvSpPr>
          <p:nvPr/>
        </p:nvSpPr>
        <p:spPr>
          <a:xfrm>
            <a:off x="895350" y="5181600"/>
            <a:ext cx="5257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Jing et al., Feature Super-Resolution Based Facial Expression Recognition, arXiv:2004.02234v1</a:t>
            </a:r>
          </a:p>
        </p:txBody>
      </p:sp>
      <p:sp>
        <p:nvSpPr>
          <p:cNvPr id="10" name="矩形 9">
            <a:extLst>
              <a:ext uri="{FF2B5EF4-FFF2-40B4-BE49-F238E27FC236}">
                <ns2:creationId id="{1DF96BAB-33C0-443A-AE11-3A89284DAB79}"/>
              </a:ext>
            </a:extLst>
          </p:cNvPr>
          <p:cNvSpPr>
            <a:spLocks noGrp="1"/>
          </p:cNvSpPr>
          <p:nvPr/>
        </p:nvSpPr>
        <p:spPr>
          <a:xfrm>
            <a:off x="6858000" y="24574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数据与退化</a:t>
            </a:r>
          </a:p>
        </p:txBody>
      </p:sp>
      <p:sp>
        <p:nvSpPr>
          <p:cNvPr id="11" name="矩形 10">
            <a:extLst>
              <a:ext uri="{FF2B5EF4-FFF2-40B4-BE49-F238E27FC236}">
                <ns2:creationId id="{226B480A-C769-433A-AEB4-1771E6A21BBB}"/>
              </a:ext>
            </a:extLst>
          </p:cNvPr>
          <p:cNvSpPr>
            <a:spLocks noGrp="1"/>
          </p:cNvSpPr>
          <p:nvPr/>
        </p:nvSpPr>
        <p:spPr>
          <a:xfrm>
            <a:off x="8001000" y="24384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RAF-DB，统一到 100×100；Bicubic x2-x8</a:t>
            </a:r>
          </a:p>
        </p:txBody>
      </p:sp>
      <p:sp>
        <p:nvSpPr>
          <p:cNvPr id="12" name="矩形 11">
            <a:extLst>
              <a:ext uri="{FF2B5EF4-FFF2-40B4-BE49-F238E27FC236}">
                <ns2:creationId id="{49A954F3-2815-455B-9EBD-44256B9414B2}"/>
              </a:ext>
            </a:extLst>
          </p:cNvPr>
          <p:cNvSpPr>
            <a:spLocks noGrp="1"/>
          </p:cNvSpPr>
          <p:nvPr/>
        </p:nvSpPr>
        <p:spPr>
          <a:xfrm>
            <a:off x="6858000" y="31432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基线</a:t>
            </a:r>
          </a:p>
        </p:txBody>
      </p:sp>
      <p:sp>
        <p:nvSpPr>
          <p:cNvPr id="13" name="矩形 12">
            <a:extLst>
              <a:ext uri="{FF2B5EF4-FFF2-40B4-BE49-F238E27FC236}">
                <ns2:creationId id="{16446A05-595D-4331-8746-9719C919E46F}"/>
              </a:ext>
            </a:extLst>
          </p:cNvPr>
          <p:cNvSpPr>
            <a:spLocks noGrp="1"/>
          </p:cNvSpPr>
          <p:nvPr/>
        </p:nvSpPr>
        <p:spPr>
          <a:xfrm>
            <a:off x="8001000" y="31242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Bicubic、RCAN、Meta-SR 与 FSR-FER</a:t>
            </a:r>
          </a:p>
        </p:txBody>
      </p:sp>
      <p:sp>
        <p:nvSpPr>
          <p:cNvPr id="14" name="矩形 13">
            <a:extLst>
              <a:ext uri="{FF2B5EF4-FFF2-40B4-BE49-F238E27FC236}">
                <ns2:creationId id="{55B9D325-E174-4734-95FD-1310B9A3B492}"/>
              </a:ext>
            </a:extLst>
          </p:cNvPr>
          <p:cNvSpPr>
            <a:spLocks noGrp="1"/>
          </p:cNvSpPr>
          <p:nvPr/>
        </p:nvSpPr>
        <p:spPr>
          <a:xfrm>
            <a:off x="6858000" y="38290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核心指标</a:t>
            </a:r>
          </a:p>
        </p:txBody>
      </p:sp>
      <p:sp>
        <p:nvSpPr>
          <p:cNvPr id="15" name="矩形 14">
            <a:extLst>
              <a:ext uri="{FF2B5EF4-FFF2-40B4-BE49-F238E27FC236}">
                <ns2:creationId id="{2646E64C-5400-4103-B3A8-ECECA435D86B}"/>
              </a:ext>
            </a:extLst>
          </p:cNvPr>
          <p:cNvSpPr>
            <a:spLocks noGrp="1"/>
          </p:cNvSpPr>
          <p:nvPr/>
        </p:nvSpPr>
        <p:spPr>
          <a:xfrm>
            <a:off x="8001000" y="38100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各下采样尺度的 Total Accuracy 与平均准确率</a:t>
            </a:r>
          </a:p>
        </p:txBody>
      </p:sp>
      <p:sp>
        <p:nvSpPr>
          <p:cNvPr id="16" name="矩形 15">
            <a:extLst>
              <a:ext uri="{FF2B5EF4-FFF2-40B4-BE49-F238E27FC236}">
                <ns2:creationId id="{835F0813-75BB-4644-AF47-8763285EBC26}"/>
              </a:ext>
            </a:extLst>
          </p:cNvPr>
          <p:cNvSpPr>
            <a:spLocks noGrp="1"/>
          </p:cNvSpPr>
          <p:nvPr/>
        </p:nvSpPr>
        <p:spPr>
          <a:xfrm>
            <a:off x="6858000" y="45148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主要结果</a:t>
            </a:r>
          </a:p>
        </p:txBody>
      </p:sp>
      <p:sp>
        <p:nvSpPr>
          <p:cNvPr id="17" name="矩形 16">
            <a:extLst>
              <a:ext uri="{FF2B5EF4-FFF2-40B4-BE49-F238E27FC236}">
                <ns2:creationId id="{CF2DF223-9AA5-4BD0-9584-6D7A341F3832}"/>
              </a:ext>
            </a:extLst>
          </p:cNvPr>
          <p:cNvSpPr>
            <a:spLocks noGrp="1"/>
          </p:cNvSpPr>
          <p:nvPr/>
        </p:nvSpPr>
        <p:spPr>
          <a:xfrm>
            <a:off x="8001000" y="44958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x5/x8 下 FSR-FER 比直接放大更稳定；论文没有做真实遮挡实验</a:t>
            </a:r>
          </a:p>
        </p:txBody>
      </p:sp>
      <p:sp>
        <p:nvSpPr>
          <p:cNvPr id="18" name="矩形: 圆角 17">
            <a:extLst>
              <a:ext uri="{FF2B5EF4-FFF2-40B4-BE49-F238E27FC236}">
                <ns2:creationId id="{9275BB5A-F4E1-415E-99C3-DF2167A9C987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820400" cy="533400"/>
          </a:xfrm>
          <a:prstGeom prst="roundRect">
            <a:avLst>
              <a:gd name="adj" fmla="val 21429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95350" y="5924550"/>
            <a:ext cx="16192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98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这一页只记住一句话</a:t>
            </a:r>
          </a:p>
        </p:txBody>
      </p:sp>
      <p:sp>
        <p:nvSpPr>
          <p:cNvPr id="20" name="矩形 19"/>
          <p:cNvSpPr/>
          <p:nvPr/>
        </p:nvSpPr>
        <p:spPr>
          <a:xfrm>
            <a:off x="2667000" y="59055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低分辨率越严重，表情细节丢得越多；放大不等于恢复真实细节。</a:t>
            </a:r>
          </a:p>
        </p:txBody>
      </p:sp>
      <p:sp>
        <p:nvSpPr>
          <p:cNvPr id="21" name="直接连接符 20">
            <a:extLst>
              <a:ext uri="{FF2B5EF4-FFF2-40B4-BE49-F238E27FC236}">
                <ns2:creationId id="{3A2C31C1-BE07-4F43-B759-6CD782A808EE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ns2:creationId id="{503CF57D-507B-4574-ADF2-21A3EBBAE88A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论文证据 05</a:t>
            </a:r>
          </a:p>
        </p:txBody>
      </p:sp>
      <p:sp>
        <p:nvSpPr>
          <p:cNvPr id="23" name="矩形 22">
            <a:extLst>
              <a:ext uri="{FF2B5EF4-FFF2-40B4-BE49-F238E27FC236}">
                <ns2:creationId id="{1B6B67F8-A8D4-47BE-8102-A6D4A0CEC3E8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val="1172956347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3DCC7F04-6D21-4BC7-9531-50E442459924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论文证据与原有板块结合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A503A45-C53E-4711-9DC9-55FDECB496BD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19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9E7965-F789-4128-B98C-C310EAAE0D42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多尺度低分辨率表情识别：期刊扩展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15BD83F5-1360-4552-9155-BCF03FA002DF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A5F48FF-0B96-4A3A-BEDB-144B85B85AAB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期刊版在 RAF-DB 和 SFEW 2.0 上验证一个模型覆盖多尺度输入，并用特征距离观察恢复效果。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FE1D186-799E-4613-B81A-C1691CEC01DC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5715000" cy="3276600"/>
          </a:xfrm>
          <a:prstGeom prst="roundRect">
            <a:avLst>
              <a:gd name="adj" fmla="val 4651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C2AC266-AB5B-469A-86C5-314D0C492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43063" y="2667000"/>
            <a:ext cx="3800475" cy="2400300"/>
          </a:xfrm>
          <a:prstGeom prst="roundRect">
            <a:avLst>
              <a:gd name="adj" fmla="val 6349"/>
            </a:avLst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79384E52-589C-4172-979C-AB9B95E84863}"/>
              </a:ext>
            </a:extLst>
          </p:cNvPr>
          <p:cNvSpPr>
            <a:spLocks noGrp="1"/>
          </p:cNvSpPr>
          <p:nvPr/>
        </p:nvSpPr>
        <p:spPr>
          <a:xfrm>
            <a:off x="1028700" y="2381250"/>
            <a:ext cx="1619250" cy="304800"/>
          </a:xfrm>
          <a:prstGeom prst="roundRect">
            <a:avLst>
              <a:gd name="adj" fmla="val 37500"/>
            </a:avLst>
          </a:prstGeom>
          <a:solidFill>
            <a:srgbClr val="FFFDF8"/>
          </a:solidFill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PDF p.2 多尺度人脸与特征距离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D0CDC6-DE88-45C5-85D6-8BE3A8780109}"/>
              </a:ext>
            </a:extLst>
          </p:cNvPr>
          <p:cNvSpPr>
            <a:spLocks noGrp="1"/>
          </p:cNvSpPr>
          <p:nvPr/>
        </p:nvSpPr>
        <p:spPr>
          <a:xfrm>
            <a:off x="895350" y="5181600"/>
            <a:ext cx="5257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Nan et al., Feature Super Resolution Based Facial Expression Recognition for Multi-scale Low Resolution Images, Knowledge-Based Systems 236 (2022) 107678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46A737-9CD3-4336-AA28-A2366EC01211}"/>
              </a:ext>
            </a:extLst>
          </p:cNvPr>
          <p:cNvSpPr>
            <a:spLocks noGrp="1"/>
          </p:cNvSpPr>
          <p:nvPr/>
        </p:nvSpPr>
        <p:spPr>
          <a:xfrm>
            <a:off x="6858000" y="24574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数据集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AA565C-C017-4312-A33F-8944AC5CADB1}"/>
              </a:ext>
            </a:extLst>
          </p:cNvPr>
          <p:cNvSpPr>
            <a:spLocks noGrp="1"/>
          </p:cNvSpPr>
          <p:nvPr/>
        </p:nvSpPr>
        <p:spPr>
          <a:xfrm>
            <a:off x="8001000" y="24384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RAF-DB、SFEW 2.0，静态表情图像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4724376-D1AE-4D3D-92FD-9885CA289963}"/>
              </a:ext>
            </a:extLst>
          </p:cNvPr>
          <p:cNvSpPr>
            <a:spLocks noGrp="1"/>
          </p:cNvSpPr>
          <p:nvPr/>
        </p:nvSpPr>
        <p:spPr>
          <a:xfrm>
            <a:off x="6858000" y="31432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处理方式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4504EAA-0F66-490C-9404-510E4A2C7E75}"/>
              </a:ext>
            </a:extLst>
          </p:cNvPr>
          <p:cNvSpPr>
            <a:spLocks noGrp="1"/>
          </p:cNvSpPr>
          <p:nvPr/>
        </p:nvSpPr>
        <p:spPr>
          <a:xfrm>
            <a:off x="8001000" y="31242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100×100 输入，Bicubic x2-x8；没有真实遮挡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0084B20-AE93-494C-A9B4-4D464177E565}"/>
              </a:ext>
            </a:extLst>
          </p:cNvPr>
          <p:cNvSpPr>
            <a:spLocks noGrp="1"/>
          </p:cNvSpPr>
          <p:nvPr/>
        </p:nvSpPr>
        <p:spPr>
          <a:xfrm>
            <a:off x="6858000" y="38290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比较方法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92BF66-7F73-4A21-B90D-B5B3BA3E2506}"/>
              </a:ext>
            </a:extLst>
          </p:cNvPr>
          <p:cNvSpPr>
            <a:spLocks noGrp="1"/>
          </p:cNvSpPr>
          <p:nvPr/>
        </p:nvSpPr>
        <p:spPr>
          <a:xfrm>
            <a:off x="8001000" y="38100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FSR-FER、RCAN、Meta-SR、Bicubic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C3CF068-68D1-47FD-B5EB-44872BF471BB}"/>
              </a:ext>
            </a:extLst>
          </p:cNvPr>
          <p:cNvSpPr>
            <a:spLocks noGrp="1"/>
          </p:cNvSpPr>
          <p:nvPr/>
        </p:nvSpPr>
        <p:spPr>
          <a:xfrm>
            <a:off x="6858000" y="45148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主要结果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A4F5AF4-74BB-4551-8C18-12A0CE775C9E}"/>
              </a:ext>
            </a:extLst>
          </p:cNvPr>
          <p:cNvSpPr>
            <a:spLocks noGrp="1"/>
          </p:cNvSpPr>
          <p:nvPr/>
        </p:nvSpPr>
        <p:spPr>
          <a:xfrm>
            <a:off x="8001000" y="44958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FSR-FER 在较低尺度更稳定，示例 Total Accuracy 达 74.637%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A15E70D-9527-4768-B039-CE0879D37DB3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820400" cy="533400"/>
          </a:xfrm>
          <a:prstGeom prst="roundRect">
            <a:avLst>
              <a:gd name="adj" fmla="val 21429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E5576DD-6FBD-4BCB-A8E9-269278790CAE}"/>
              </a:ext>
            </a:extLst>
          </p:cNvPr>
          <p:cNvSpPr>
            <a:spLocks noGrp="1"/>
          </p:cNvSpPr>
          <p:nvPr/>
        </p:nvSpPr>
        <p:spPr>
          <a:xfrm>
            <a:off x="895350" y="59245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对本课题的直接启发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AF6B50-5308-4F52-B2CA-C05C83D30D25}"/>
              </a:ext>
            </a:extLst>
          </p:cNvPr>
          <p:cNvSpPr>
            <a:spLocks noGrp="1"/>
          </p:cNvSpPr>
          <p:nvPr/>
        </p:nvSpPr>
        <p:spPr>
          <a:xfrm>
            <a:off x="2667000" y="5905500"/>
            <a:ext cx="857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在学生行为数据上补充跨数据集验证，并把特征距离或可视化作为性能曲线的辅助证据。</a:t>
            </a:r>
          </a:p>
        </p:txBody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0F55430A-E2FB-4FFA-B1D8-149FBD932BD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459B2DB-1943-49CB-AE0D-6FDC6A9A3E5E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论文证据 06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5DDF1BA-8A1C-4F4F-837E-CDA1D1603085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2206398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055A3D62-AA54-4635-8966-2FD7AAF0E7A2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从简单噪声逐步接近课堂中的真实遮挡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822551E-5255-4781-A922-D7424D97D4D5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20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61B11C-48B5-4CE6-9F77-A49A663B9AD1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遮挡与隐私处理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5DDF8C36-BE26-4C62-B56C-1695FAAD5A8D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90D6AAD-3172-4F1A-8F84-644F675CEEA9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428750" cy="1409700"/>
          </a:xfrm>
          <a:prstGeom prst="roundRect">
            <a:avLst>
              <a:gd name="adj" fmla="val 10811"/>
            </a:avLst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0FDF94D-F9BA-4482-B043-4B9DD35B6B16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895350" cy="457200"/>
          </a:xfrm>
          <a:prstGeom prst="rect">
            <a:avLst/>
          </a:prstGeom>
          <a:solidFill>
            <a:srgbClr val="FFFD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15DF273-0E42-4033-96A2-05E169E38A48}"/>
              </a:ext>
            </a:extLst>
          </p:cNvPr>
          <p:cNvSpPr>
            <a:spLocks noGrp="1"/>
          </p:cNvSpPr>
          <p:nvPr/>
        </p:nvSpPr>
        <p:spPr>
          <a:xfrm>
            <a:off x="1009650" y="2324100"/>
            <a:ext cx="66675" cy="66675"/>
          </a:xfrm>
          <a:prstGeom prst="ellipse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E4FCFBA-6391-47D6-8BAA-7730676B9DB1}"/>
              </a:ext>
            </a:extLst>
          </p:cNvPr>
          <p:cNvSpPr>
            <a:spLocks noGrp="1"/>
          </p:cNvSpPr>
          <p:nvPr/>
        </p:nvSpPr>
        <p:spPr>
          <a:xfrm>
            <a:off x="1171575" y="2324100"/>
            <a:ext cx="66675" cy="66675"/>
          </a:xfrm>
          <a:prstGeom prst="ellipse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0F52B87-B14F-4D98-94F1-913FB99ED87F}"/>
              </a:ext>
            </a:extLst>
          </p:cNvPr>
          <p:cNvSpPr>
            <a:spLocks noGrp="1"/>
          </p:cNvSpPr>
          <p:nvPr/>
        </p:nvSpPr>
        <p:spPr>
          <a:xfrm>
            <a:off x="1333500" y="2324100"/>
            <a:ext cx="66675" cy="66675"/>
          </a:xfrm>
          <a:prstGeom prst="ellipse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054A867-454E-4A94-8593-D5B8BB8515A0}"/>
              </a:ext>
            </a:extLst>
          </p:cNvPr>
          <p:cNvSpPr>
            <a:spLocks noGrp="1"/>
          </p:cNvSpPr>
          <p:nvPr/>
        </p:nvSpPr>
        <p:spPr>
          <a:xfrm>
            <a:off x="1495425" y="2324100"/>
            <a:ext cx="66675" cy="66675"/>
          </a:xfrm>
          <a:prstGeom prst="ellipse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655B05D-44FC-4FE7-83F0-C20A00CB943D}"/>
              </a:ext>
            </a:extLst>
          </p:cNvPr>
          <p:cNvSpPr>
            <a:spLocks noGrp="1"/>
          </p:cNvSpPr>
          <p:nvPr/>
        </p:nvSpPr>
        <p:spPr>
          <a:xfrm>
            <a:off x="1657350" y="2324100"/>
            <a:ext cx="66675" cy="66675"/>
          </a:xfrm>
          <a:prstGeom prst="ellipse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31763D5-CA2C-473A-8C6F-3F0E52D57B10}"/>
              </a:ext>
            </a:extLst>
          </p:cNvPr>
          <p:cNvSpPr>
            <a:spLocks noGrp="1"/>
          </p:cNvSpPr>
          <p:nvPr/>
        </p:nvSpPr>
        <p:spPr>
          <a:xfrm>
            <a:off x="1009650" y="2486025"/>
            <a:ext cx="66675" cy="66675"/>
          </a:xfrm>
          <a:prstGeom prst="ellipse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0B1FC26-6DE0-4BEA-B8C5-431664A5CF96}"/>
              </a:ext>
            </a:extLst>
          </p:cNvPr>
          <p:cNvSpPr>
            <a:spLocks noGrp="1"/>
          </p:cNvSpPr>
          <p:nvPr/>
        </p:nvSpPr>
        <p:spPr>
          <a:xfrm>
            <a:off x="1171575" y="2486025"/>
            <a:ext cx="66675" cy="66675"/>
          </a:xfrm>
          <a:prstGeom prst="ellipse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AE59C77-0874-443F-8138-3DA86FE707B5}"/>
              </a:ext>
            </a:extLst>
          </p:cNvPr>
          <p:cNvSpPr>
            <a:spLocks noGrp="1"/>
          </p:cNvSpPr>
          <p:nvPr/>
        </p:nvSpPr>
        <p:spPr>
          <a:xfrm>
            <a:off x="1333500" y="2486025"/>
            <a:ext cx="66675" cy="66675"/>
          </a:xfrm>
          <a:prstGeom prst="ellipse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E2B676C-EECB-4DC2-8615-B0C2BF07F1D4}"/>
              </a:ext>
            </a:extLst>
          </p:cNvPr>
          <p:cNvSpPr>
            <a:spLocks noGrp="1"/>
          </p:cNvSpPr>
          <p:nvPr/>
        </p:nvSpPr>
        <p:spPr>
          <a:xfrm>
            <a:off x="1495425" y="2486025"/>
            <a:ext cx="66675" cy="66675"/>
          </a:xfrm>
          <a:prstGeom prst="ellipse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36E6C5B3-FC83-4A38-8D03-838932CB69F8}"/>
              </a:ext>
            </a:extLst>
          </p:cNvPr>
          <p:cNvSpPr>
            <a:spLocks noGrp="1"/>
          </p:cNvSpPr>
          <p:nvPr/>
        </p:nvSpPr>
        <p:spPr>
          <a:xfrm>
            <a:off x="1657350" y="2486025"/>
            <a:ext cx="66675" cy="66675"/>
          </a:xfrm>
          <a:prstGeom prst="ellipse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6C38346-499D-4630-85FF-B910BFFFB360}"/>
              </a:ext>
            </a:extLst>
          </p:cNvPr>
          <p:cNvSpPr>
            <a:spLocks noGrp="1"/>
          </p:cNvSpPr>
          <p:nvPr/>
        </p:nvSpPr>
        <p:spPr>
          <a:xfrm>
            <a:off x="781050" y="35242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黑色像素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095ECEC-EADC-42C9-8442-615189DF20EA}"/>
              </a:ext>
            </a:extLst>
          </p:cNvPr>
          <p:cNvSpPr>
            <a:spLocks noGrp="1"/>
          </p:cNvSpPr>
          <p:nvPr/>
        </p:nvSpPr>
        <p:spPr>
          <a:xfrm>
            <a:off x="781050" y="38100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随机小点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73DB553-769B-4E28-BE54-6AA3CF344BD9}"/>
              </a:ext>
            </a:extLst>
          </p:cNvPr>
          <p:cNvSpPr>
            <a:spLocks noGrp="1"/>
          </p:cNvSpPr>
          <p:nvPr/>
        </p:nvSpPr>
        <p:spPr>
          <a:xfrm>
            <a:off x="2352675" y="1905000"/>
            <a:ext cx="1428750" cy="1409700"/>
          </a:xfrm>
          <a:prstGeom prst="roundRect">
            <a:avLst>
              <a:gd name="adj" fmla="val 10811"/>
            </a:avLst>
          </a:prstGeom>
          <a:solidFill>
            <a:srgbClr val="D27A5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BC17F99-FFFE-42E7-B25A-9514ED2A1BA6}"/>
              </a:ext>
            </a:extLst>
          </p:cNvPr>
          <p:cNvSpPr>
            <a:spLocks noGrp="1"/>
          </p:cNvSpPr>
          <p:nvPr/>
        </p:nvSpPr>
        <p:spPr>
          <a:xfrm>
            <a:off x="2619375" y="2266950"/>
            <a:ext cx="895350" cy="457200"/>
          </a:xfrm>
          <a:prstGeom prst="rect">
            <a:avLst/>
          </a:prstGeom>
          <a:solidFill>
            <a:srgbClr val="FFFD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A7E2239-C175-4198-9264-C55404C55B08}"/>
              </a:ext>
            </a:extLst>
          </p:cNvPr>
          <p:cNvSpPr>
            <a:spLocks noGrp="1"/>
          </p:cNvSpPr>
          <p:nvPr/>
        </p:nvSpPr>
        <p:spPr>
          <a:xfrm>
            <a:off x="2847975" y="2343150"/>
            <a:ext cx="45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BA53674-ABC4-4CA6-97CE-C130C2F60286}"/>
              </a:ext>
            </a:extLst>
          </p:cNvPr>
          <p:cNvSpPr>
            <a:spLocks noGrp="1"/>
          </p:cNvSpPr>
          <p:nvPr/>
        </p:nvSpPr>
        <p:spPr>
          <a:xfrm>
            <a:off x="2447925" y="35242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黑色矩形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EC6518D-683B-4AD3-B7F6-F5E660FC5DFA}"/>
              </a:ext>
            </a:extLst>
          </p:cNvPr>
          <p:cNvSpPr>
            <a:spLocks noGrp="1"/>
          </p:cNvSpPr>
          <p:nvPr/>
        </p:nvSpPr>
        <p:spPr>
          <a:xfrm>
            <a:off x="2447925" y="38100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可控面积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E7938BF-864E-4A58-B09D-8506F93651D4}"/>
              </a:ext>
            </a:extLst>
          </p:cNvPr>
          <p:cNvSpPr>
            <a:spLocks noGrp="1"/>
          </p:cNvSpPr>
          <p:nvPr/>
        </p:nvSpPr>
        <p:spPr>
          <a:xfrm>
            <a:off x="4019550" y="1905000"/>
            <a:ext cx="1428750" cy="1409700"/>
          </a:xfrm>
          <a:prstGeom prst="roundRect">
            <a:avLst>
              <a:gd name="adj" fmla="val 10811"/>
            </a:avLst>
          </a:prstGeom>
          <a:solidFill>
            <a:srgbClr val="C86B6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82F9DFC-9B3F-466A-8F71-2E2E1A0A9AF9}"/>
              </a:ext>
            </a:extLst>
          </p:cNvPr>
          <p:cNvSpPr>
            <a:spLocks noGrp="1"/>
          </p:cNvSpPr>
          <p:nvPr/>
        </p:nvSpPr>
        <p:spPr>
          <a:xfrm>
            <a:off x="4286250" y="2266950"/>
            <a:ext cx="895350" cy="457200"/>
          </a:xfrm>
          <a:prstGeom prst="rect">
            <a:avLst/>
          </a:prstGeom>
          <a:solidFill>
            <a:srgbClr val="FFFD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2094D451-2A06-4FE0-88C0-D414B4C33578}"/>
              </a:ext>
            </a:extLst>
          </p:cNvPr>
          <p:cNvSpPr>
            <a:spLocks noGrp="1"/>
          </p:cNvSpPr>
          <p:nvPr/>
        </p:nvSpPr>
        <p:spPr>
          <a:xfrm>
            <a:off x="4600575" y="2343150"/>
            <a:ext cx="266700" cy="266700"/>
          </a:xfrm>
          <a:prstGeom prst="ellipse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071B4BE-2DEF-4E37-9128-7E751664C510}"/>
              </a:ext>
            </a:extLst>
          </p:cNvPr>
          <p:cNvSpPr>
            <a:spLocks noGrp="1"/>
          </p:cNvSpPr>
          <p:nvPr/>
        </p:nvSpPr>
        <p:spPr>
          <a:xfrm>
            <a:off x="4495800" y="2590800"/>
            <a:ext cx="476250" cy="76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BD9459F-870A-4E50-AB91-571C425315B8}"/>
              </a:ext>
            </a:extLst>
          </p:cNvPr>
          <p:cNvSpPr>
            <a:spLocks noGrp="1"/>
          </p:cNvSpPr>
          <p:nvPr/>
        </p:nvSpPr>
        <p:spPr>
          <a:xfrm>
            <a:off x="4114800" y="35242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脸部/关键点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8E4602C-9BE4-49E9-B259-CA381FD94093}"/>
              </a:ext>
            </a:extLst>
          </p:cNvPr>
          <p:cNvSpPr>
            <a:spLocks noGrp="1"/>
          </p:cNvSpPr>
          <p:nvPr/>
        </p:nvSpPr>
        <p:spPr>
          <a:xfrm>
            <a:off x="4114800" y="38100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结构化遮挡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4DD931E9-47DC-430B-967B-0AC3889DC135}"/>
              </a:ext>
            </a:extLst>
          </p:cNvPr>
          <p:cNvSpPr>
            <a:spLocks noGrp="1"/>
          </p:cNvSpPr>
          <p:nvPr/>
        </p:nvSpPr>
        <p:spPr>
          <a:xfrm>
            <a:off x="5686425" y="1905000"/>
            <a:ext cx="1428750" cy="1409700"/>
          </a:xfrm>
          <a:prstGeom prst="roundRect">
            <a:avLst>
              <a:gd name="adj" fmla="val 10811"/>
            </a:avLst>
          </a:prstGeom>
          <a:solidFill>
            <a:srgbClr val="6E947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93E698F-44AA-4E54-8ED9-9DDE4C120931}"/>
              </a:ext>
            </a:extLst>
          </p:cNvPr>
          <p:cNvSpPr>
            <a:spLocks noGrp="1"/>
          </p:cNvSpPr>
          <p:nvPr/>
        </p:nvSpPr>
        <p:spPr>
          <a:xfrm>
            <a:off x="5953125" y="2266950"/>
            <a:ext cx="895350" cy="457200"/>
          </a:xfrm>
          <a:prstGeom prst="rect">
            <a:avLst/>
          </a:prstGeom>
          <a:solidFill>
            <a:srgbClr val="FFFDF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FF1F7DC-0AC3-4B21-AA90-7E12A975E35B}"/>
              </a:ext>
            </a:extLst>
          </p:cNvPr>
          <p:cNvSpPr>
            <a:spLocks noGrp="1"/>
          </p:cNvSpPr>
          <p:nvPr/>
        </p:nvSpPr>
        <p:spPr>
          <a:xfrm>
            <a:off x="6115050" y="2152650"/>
            <a:ext cx="514350" cy="685800"/>
          </a:xfrm>
          <a:prstGeom prst="rect">
            <a:avLst/>
          </a:prstGeom>
          <a:solidFill>
            <a:srgbClr val="89A49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C3A46EE-EA23-4C46-8704-AD52F11574A7}"/>
              </a:ext>
            </a:extLst>
          </p:cNvPr>
          <p:cNvSpPr>
            <a:spLocks noGrp="1"/>
          </p:cNvSpPr>
          <p:nvPr/>
        </p:nvSpPr>
        <p:spPr>
          <a:xfrm>
            <a:off x="5781675" y="35242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前景学生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680D1FD-F517-48C4-A10F-957B06AEAC9A}"/>
              </a:ext>
            </a:extLst>
          </p:cNvPr>
          <p:cNvSpPr>
            <a:spLocks noGrp="1"/>
          </p:cNvSpPr>
          <p:nvPr/>
        </p:nvSpPr>
        <p:spPr>
          <a:xfrm>
            <a:off x="5781675" y="38100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模拟层级遮挡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04559D83-ED0E-4543-BA07-F2A608223C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56" r="10156"/>
          <a:stretch>
            <a:fillRect/>
          </a:stretch>
        </p:blipFill>
        <p:spPr>
          <a:xfrm>
            <a:off x="7810500" y="1905000"/>
            <a:ext cx="3238500" cy="2286000"/>
          </a:xfrm>
          <a:prstGeom prst="roundRect">
            <a:avLst>
              <a:gd name="adj" fmla="val 6667"/>
            </a:avLst>
          </a:prstGeom>
        </p:spPr>
      </p:pic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DA62A6C6-F856-4A5C-872E-32BCD7906C09}"/>
              </a:ext>
            </a:extLst>
          </p:cNvPr>
          <p:cNvSpPr>
            <a:spLocks noGrp="1"/>
          </p:cNvSpPr>
          <p:nvPr/>
        </p:nvSpPr>
        <p:spPr>
          <a:xfrm>
            <a:off x="8001000" y="2076450"/>
            <a:ext cx="1143000" cy="304800"/>
          </a:xfrm>
          <a:prstGeom prst="roundRect">
            <a:avLst>
              <a:gd name="adj" fmla="val 37500"/>
            </a:avLst>
          </a:prstGeom>
          <a:solidFill>
            <a:srgbClr val="DDEAE5"/>
          </a:solidFill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视频帧样例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61ED95A-19A9-410E-9986-5DDB0153D20D}"/>
              </a:ext>
            </a:extLst>
          </p:cNvPr>
          <p:cNvSpPr>
            <a:spLocks noGrp="1"/>
          </p:cNvSpPr>
          <p:nvPr/>
        </p:nvSpPr>
        <p:spPr>
          <a:xfrm>
            <a:off x="685800" y="49720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每次处理都记录：遮挡类型、面积、位置、是否真实遮挡、是否影响关键点。</a:t>
            </a:r>
          </a:p>
        </p:txBody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0C2DD1A0-7C94-423B-BE10-8A104B2C6B4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420D34-E56F-4284-81A3-90872A1FDAA2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研究汇报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D702FF6-7786-4544-BF38-724427FDF644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1932053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32.xml><?xml version="1.0" encoding="utf-8"?>
<p:sld xmlns:a="http://schemas.openxmlformats.org/drawingml/2006/main" xmlns:mc="http://schemas.openxmlformats.org/markup-compatibility/2006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ns2:creationId id="{B2DCE535-ACEA-4779-8D54-92E04B4EF6DD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论文证据与原有板块结合</a:t>
            </a:r>
          </a:p>
        </p:txBody>
      </p:sp>
      <p:sp>
        <p:nvSpPr>
          <p:cNvPr id="2" name="矩形 1">
            <a:extLst>
              <a:ext uri="{FF2B5EF4-FFF2-40B4-BE49-F238E27FC236}">
                <ns2:creationId id="{9FF78DC0-AE63-4D9E-8F71-F2739727A697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21</a:t>
            </a:r>
          </a:p>
        </p:txBody>
      </p:sp>
      <p:sp>
        <p:nvSpPr>
          <p:cNvPr id="3" name="矩形 2">
            <a:extLst>
              <a:ext uri="{FF2B5EF4-FFF2-40B4-BE49-F238E27FC236}">
                <ns2:creationId id="{4E85ECD6-E9EC-4190-BEA9-6276B56EEEFC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显式遮挡推理：可见点与遮挡点分开建模</a:t>
            </a:r>
          </a:p>
        </p:txBody>
      </p:sp>
      <p:sp>
        <p:nvSpPr>
          <p:cNvPr id="4" name="直接连接符 3">
            <a:extLst>
              <a:ext uri="{FF2B5EF4-FFF2-40B4-BE49-F238E27FC236}">
                <ns2:creationId id="{CD6E6522-5B53-4E0D-8301-DF4662F35505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ns2:creationId id="{03C67904-8D9C-4E43-A940-FC41BCE5B978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HUPOR 把可见关键点检测和被遮挡关键点推理分成两个步骤，减少多人遮挡下的错误骨架组装。</a:t>
            </a:r>
          </a:p>
        </p:txBody>
      </p:sp>
      <p:sp>
        <p:nvSpPr>
          <p:cNvPr id="6" name="矩形: 圆角 5">
            <a:extLst>
              <a:ext uri="{FF2B5EF4-FFF2-40B4-BE49-F238E27FC236}">
                <ns2:creationId id="{123C58AD-70BF-4E2B-858A-4990ED8C2043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5715000" cy="3276600"/>
          </a:xfrm>
          <a:prstGeom prst="roundRect">
            <a:avLst>
              <a:gd name="adj" fmla="val 4651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ns2:creationId id="{6AFEF7A0-371E-4509-A843-F717B3AF1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43000" y="2667000"/>
            <a:ext cx="4800600" cy="2400300"/>
          </a:xfrm>
          <a:prstGeom prst="roundRect">
            <a:avLst>
              <a:gd name="adj" fmla="val 6349"/>
            </a:avLst>
          </a:prstGeom>
        </p:spPr>
      </p:pic>
      <p:sp>
        <p:nvSpPr>
          <p:cNvPr id="8" name="矩形: 圆角 7"/>
          <p:cNvSpPr/>
          <p:nvPr/>
        </p:nvSpPr>
        <p:spPr>
          <a:xfrm>
            <a:off x="1028700" y="2381250"/>
            <a:ext cx="1752600" cy="304800"/>
          </a:xfrm>
          <a:prstGeom prst="roundRect">
            <a:avLst>
              <a:gd name="adj" fmla="val 37500"/>
            </a:avLst>
          </a:prstGeom>
          <a:solidFill>
            <a:srgbClr val="FFFDF8"/>
          </a:solidFill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98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PDF p.2 · 重点：可见点/遮挡点</a:t>
            </a:r>
          </a:p>
        </p:txBody>
      </p:sp>
      <p:sp>
        <p:nvSpPr>
          <p:cNvPr id="9" name="矩形 8">
            <a:extLst>
              <a:ext uri="{FF2B5EF4-FFF2-40B4-BE49-F238E27FC236}">
                <ns2:creationId id="{1403CC4A-07B6-4946-AC4F-F917953DD659}"/>
              </a:ext>
            </a:extLst>
          </p:cNvPr>
          <p:cNvSpPr>
            <a:spLocks noGrp="1"/>
          </p:cNvSpPr>
          <p:nvPr/>
        </p:nvSpPr>
        <p:spPr>
          <a:xfrm>
            <a:off x="895350" y="5181600"/>
            <a:ext cx="5257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Liu et al., Explicit Occlusion Reasoning for Multi-person 3D Human Pose Estimation, arXiv:2208.00090v1</a:t>
            </a:r>
          </a:p>
        </p:txBody>
      </p:sp>
      <p:sp>
        <p:nvSpPr>
          <p:cNvPr id="10" name="矩形 9">
            <a:extLst>
              <a:ext uri="{FF2B5EF4-FFF2-40B4-BE49-F238E27FC236}">
                <ns2:creationId id="{D9EFD3C4-C9BD-48DF-ACC6-4C83BD4F7DE5}"/>
              </a:ext>
            </a:extLst>
          </p:cNvPr>
          <p:cNvSpPr>
            <a:spLocks noGrp="1"/>
          </p:cNvSpPr>
          <p:nvPr/>
        </p:nvSpPr>
        <p:spPr>
          <a:xfrm>
            <a:off x="6858000" y="24574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数据集</a:t>
            </a:r>
          </a:p>
        </p:txBody>
      </p:sp>
      <p:sp>
        <p:nvSpPr>
          <p:cNvPr id="11" name="矩形 10">
            <a:extLst>
              <a:ext uri="{FF2B5EF4-FFF2-40B4-BE49-F238E27FC236}">
                <ns2:creationId id="{F501A6A9-6A1B-4801-97FD-1C6CA7AA4ADB}"/>
              </a:ext>
            </a:extLst>
          </p:cNvPr>
          <p:cNvSpPr>
            <a:spLocks noGrp="1"/>
          </p:cNvSpPr>
          <p:nvPr/>
        </p:nvSpPr>
        <p:spPr>
          <a:xfrm>
            <a:off x="8001000" y="24384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MuPoTS-3D、3DPW-OCC、CMU Panoptic</a:t>
            </a:r>
          </a:p>
        </p:txBody>
      </p:sp>
      <p:sp>
        <p:nvSpPr>
          <p:cNvPr id="12" name="矩形 11">
            <a:extLst>
              <a:ext uri="{FF2B5EF4-FFF2-40B4-BE49-F238E27FC236}">
                <ns2:creationId id="{859D3EDC-29AF-4211-AE38-ADD59CB53C5E}"/>
              </a:ext>
            </a:extLst>
          </p:cNvPr>
          <p:cNvSpPr>
            <a:spLocks noGrp="1"/>
          </p:cNvSpPr>
          <p:nvPr/>
        </p:nvSpPr>
        <p:spPr>
          <a:xfrm>
            <a:off x="6858000" y="31432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标签</a:t>
            </a:r>
          </a:p>
        </p:txBody>
      </p:sp>
      <p:sp>
        <p:nvSpPr>
          <p:cNvPr id="13" name="矩形 12">
            <a:extLst>
              <a:ext uri="{FF2B5EF4-FFF2-40B4-BE49-F238E27FC236}">
                <ns2:creationId id="{FD36AF05-BFF6-478E-8397-68A2524DA069}"/>
              </a:ext>
            </a:extLst>
          </p:cNvPr>
          <p:cNvSpPr>
            <a:spLocks noGrp="1"/>
          </p:cNvSpPr>
          <p:nvPr/>
        </p:nvSpPr>
        <p:spPr>
          <a:xfrm>
            <a:off x="8001000" y="31242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可见、被遮挡、截断；SSF 生成合成遮挡标签</a:t>
            </a:r>
          </a:p>
        </p:txBody>
      </p:sp>
      <p:sp>
        <p:nvSpPr>
          <p:cNvPr id="14" name="矩形 13">
            <a:extLst>
              <a:ext uri="{FF2B5EF4-FFF2-40B4-BE49-F238E27FC236}">
                <ns2:creationId id="{2E73D6A6-9804-4005-BBA1-AF0BD69AA4D0}"/>
              </a:ext>
            </a:extLst>
          </p:cNvPr>
          <p:cNvSpPr>
            <a:spLocks noGrp="1"/>
          </p:cNvSpPr>
          <p:nvPr/>
        </p:nvSpPr>
        <p:spPr>
          <a:xfrm>
            <a:off x="6858000" y="38290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模型</a:t>
            </a:r>
          </a:p>
        </p:txBody>
      </p:sp>
      <p:sp>
        <p:nvSpPr>
          <p:cNvPr id="15" name="矩形 14">
            <a:extLst>
              <a:ext uri="{FF2B5EF4-FFF2-40B4-BE49-F238E27FC236}">
                <ns2:creationId id="{F9BD9D68-6C7D-4FB5-9B92-283F0A8993A9}"/>
              </a:ext>
            </a:extLst>
          </p:cNvPr>
          <p:cNvSpPr>
            <a:spLocks noGrp="1"/>
          </p:cNvSpPr>
          <p:nvPr/>
        </p:nvSpPr>
        <p:spPr>
          <a:xfrm>
            <a:off x="8001000" y="38100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HUPOR、DSED，先检测可见点，再推理遮挡点</a:t>
            </a:r>
          </a:p>
        </p:txBody>
      </p:sp>
      <p:sp>
        <p:nvSpPr>
          <p:cNvPr id="16" name="矩形 15">
            <a:extLst>
              <a:ext uri="{FF2B5EF4-FFF2-40B4-BE49-F238E27FC236}">
                <ns2:creationId id="{4B562A04-8895-443C-A93B-4AF68A5FA8CE}"/>
              </a:ext>
            </a:extLst>
          </p:cNvPr>
          <p:cNvSpPr>
            <a:spLocks noGrp="1"/>
          </p:cNvSpPr>
          <p:nvPr/>
        </p:nvSpPr>
        <p:spPr>
          <a:xfrm>
            <a:off x="6858000" y="45148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指标与结果</a:t>
            </a:r>
          </a:p>
        </p:txBody>
      </p:sp>
      <p:sp>
        <p:nvSpPr>
          <p:cNvPr id="17" name="矩形 16">
            <a:extLst>
              <a:ext uri="{FF2B5EF4-FFF2-40B4-BE49-F238E27FC236}">
                <ns2:creationId id="{AD28E62C-7FCC-440A-9FD8-1CAE82886573}"/>
              </a:ext>
            </a:extLst>
          </p:cNvPr>
          <p:cNvSpPr>
            <a:spLocks noGrp="1"/>
          </p:cNvSpPr>
          <p:nvPr/>
        </p:nvSpPr>
        <p:spPr>
          <a:xfrm>
            <a:off x="8001000" y="44958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PCKrel、PCKocc、MPJPE、Precision/Recall/F1；PCKrel 约提升 3.8 个百分点</a:t>
            </a:r>
          </a:p>
        </p:txBody>
      </p:sp>
      <p:sp>
        <p:nvSpPr>
          <p:cNvPr id="18" name="矩形: 圆角 17">
            <a:extLst>
              <a:ext uri="{FF2B5EF4-FFF2-40B4-BE49-F238E27FC236}">
                <ns2:creationId id="{915DA363-430D-4866-AEFC-87FAA0742ABE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820400" cy="533400"/>
          </a:xfrm>
          <a:prstGeom prst="roundRect">
            <a:avLst>
              <a:gd name="adj" fmla="val 21429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95350" y="5924550"/>
            <a:ext cx="16192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98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这一页只记住一句话</a:t>
            </a:r>
          </a:p>
        </p:txBody>
      </p:sp>
      <p:sp>
        <p:nvSpPr>
          <p:cNvPr id="20" name="矩形 19"/>
          <p:cNvSpPr/>
          <p:nvPr/>
        </p:nvSpPr>
        <p:spPr>
          <a:xfrm>
            <a:off x="2667000" y="59055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可见关键点和被遮挡关键点要分开统计。</a:t>
            </a:r>
          </a:p>
        </p:txBody>
      </p:sp>
      <p:sp>
        <p:nvSpPr>
          <p:cNvPr id="21" name="直接连接符 20">
            <a:extLst>
              <a:ext uri="{FF2B5EF4-FFF2-40B4-BE49-F238E27FC236}">
                <ns2:creationId id="{6454611C-FB14-423A-A3BA-55494A555C6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ns2:creationId id="{0D416C08-F415-4710-8CF6-83B1F9321DB6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论文证据 07</a:t>
            </a:r>
          </a:p>
        </p:txBody>
      </p:sp>
      <p:sp>
        <p:nvSpPr>
          <p:cNvPr id="23" name="矩形 22">
            <a:extLst>
              <a:ext uri="{FF2B5EF4-FFF2-40B4-BE49-F238E27FC236}">
                <ns2:creationId id="{E5B7AD41-8BC9-4841-B482-D7990AF54773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val="20778255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01A4B845-F288-49B9-9FEF-B64CFA2018DD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从数据输入到实验报告的完整闭环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8EBEE1C-319B-4584-95BA-6776AD7B83C2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22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D5B7971-501A-4511-831B-D16322E6A000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程序功能地图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4DFD4C28-7EAC-463F-A62A-A0537AFDC63D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0E6E2E5-2436-4181-B5AC-91D0BA00EC18}"/>
              </a:ext>
            </a:extLst>
          </p:cNvPr>
          <p:cNvSpPr>
            <a:spLocks noGrp="1"/>
          </p:cNvSpPr>
          <p:nvPr/>
        </p:nvSpPr>
        <p:spPr>
          <a:xfrm>
            <a:off x="685800" y="1905000"/>
            <a:ext cx="10820400" cy="2667000"/>
          </a:xfrm>
          <a:prstGeom prst="roundRect">
            <a:avLst>
              <a:gd name="adj" fmla="val 5714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8CD80B5-03F4-446C-B413-5EDDE245790D}"/>
              </a:ext>
            </a:extLst>
          </p:cNvPr>
          <p:cNvSpPr>
            <a:spLocks noGrp="1"/>
          </p:cNvSpPr>
          <p:nvPr/>
        </p:nvSpPr>
        <p:spPr>
          <a:xfrm>
            <a:off x="1047750" y="2266950"/>
            <a:ext cx="685800" cy="685800"/>
          </a:xfrm>
          <a:prstGeom prst="ellipse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951A67-AB06-4C72-B4F0-D8BA76BD0E50}"/>
              </a:ext>
            </a:extLst>
          </p:cNvPr>
          <p:cNvSpPr>
            <a:spLocks noGrp="1"/>
          </p:cNvSpPr>
          <p:nvPr/>
        </p:nvSpPr>
        <p:spPr>
          <a:xfrm>
            <a:off x="1266825" y="2476500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FECF43F-D7FF-4E73-B311-0E5E9E34AD23}"/>
              </a:ext>
            </a:extLst>
          </p:cNvPr>
          <p:cNvSpPr>
            <a:spLocks noGrp="1"/>
          </p:cNvSpPr>
          <p:nvPr/>
        </p:nvSpPr>
        <p:spPr>
          <a:xfrm>
            <a:off x="895350" y="31051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数据入口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6FF468E-E4D0-47F4-B398-FF549E5AF8F5}"/>
              </a:ext>
            </a:extLst>
          </p:cNvPr>
          <p:cNvSpPr>
            <a:spLocks noGrp="1"/>
          </p:cNvSpPr>
          <p:nvPr/>
        </p:nvSpPr>
        <p:spPr>
          <a:xfrm>
            <a:off x="742950" y="3467100"/>
            <a:ext cx="13811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扫描文件夹</a:t>
            </a:r>
          </a:p>
          <a:p>
            <a: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读取 ZIP</a:t>
            </a:r>
          </a:p>
          <a:p>
            <a: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识别图片/视频</a:t>
            </a: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43601143-FD5A-45FA-BB87-2CE6B91276EB}"/>
              </a:ext>
            </a:extLst>
          </p:cNvPr>
          <p:cNvSpPr>
            <a:spLocks noGrp="1"/>
          </p:cNvSpPr>
          <p:nvPr/>
        </p:nvSpPr>
        <p:spPr>
          <a:xfrm>
            <a:off x="1790700" y="2609850"/>
            <a:ext cx="1543050" cy="0"/>
          </a:xfrm>
          <a:prstGeom prst="line">
            <a:avLst/>
          </a:prstGeom>
          <a:noFill/>
          <a:ln w="1905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ABA11B4-E00A-47AE-9641-539B79E19660}"/>
              </a:ext>
            </a:extLst>
          </p:cNvPr>
          <p:cNvSpPr>
            <a:spLocks noGrp="1"/>
          </p:cNvSpPr>
          <p:nvPr/>
        </p:nvSpPr>
        <p:spPr>
          <a:xfrm>
            <a:off x="3429000" y="2266950"/>
            <a:ext cx="685800" cy="685800"/>
          </a:xfrm>
          <a:prstGeom prst="ellipse">
            <a:avLst/>
          </a:prstGeom>
          <a:solidFill>
            <a:srgbClr val="D27A5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783D9A5-FE48-4F36-9D51-A3A976CFDEB8}"/>
              </a:ext>
            </a:extLst>
          </p:cNvPr>
          <p:cNvSpPr>
            <a:spLocks noGrp="1"/>
          </p:cNvSpPr>
          <p:nvPr/>
        </p:nvSpPr>
        <p:spPr>
          <a:xfrm>
            <a:off x="3648075" y="2476500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1D3958-0725-442D-B718-F03561657CC0}"/>
              </a:ext>
            </a:extLst>
          </p:cNvPr>
          <p:cNvSpPr>
            <a:spLocks noGrp="1"/>
          </p:cNvSpPr>
          <p:nvPr/>
        </p:nvSpPr>
        <p:spPr>
          <a:xfrm>
            <a:off x="3276600" y="31051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处理控制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8BA55F1-785A-437B-B1AD-AB9A67035D38}"/>
              </a:ext>
            </a:extLst>
          </p:cNvPr>
          <p:cNvSpPr>
            <a:spLocks noGrp="1"/>
          </p:cNvSpPr>
          <p:nvPr/>
        </p:nvSpPr>
        <p:spPr>
          <a:xfrm>
            <a:off x="3124200" y="3467100"/>
            <a:ext cx="13811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随机抽样</a:t>
            </a:r>
          </a:p>
          <a:p>
            <a: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手动选择</a:t>
            </a:r>
          </a:p>
          <a:p>
            <a: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自定义输出路径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948903ED-A662-4E43-B389-9ABE80CC7308}"/>
              </a:ext>
            </a:extLst>
          </p:cNvPr>
          <p:cNvSpPr>
            <a:spLocks noGrp="1"/>
          </p:cNvSpPr>
          <p:nvPr/>
        </p:nvSpPr>
        <p:spPr>
          <a:xfrm>
            <a:off x="4171950" y="2609850"/>
            <a:ext cx="1543050" cy="0"/>
          </a:xfrm>
          <a:prstGeom prst="line">
            <a:avLst/>
          </a:prstGeom>
          <a:noFill/>
          <a:ln w="1905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0E6EC98-8493-4B03-A6AC-EF1245ADD687}"/>
              </a:ext>
            </a:extLst>
          </p:cNvPr>
          <p:cNvSpPr>
            <a:spLocks noGrp="1"/>
          </p:cNvSpPr>
          <p:nvPr/>
        </p:nvSpPr>
        <p:spPr>
          <a:xfrm>
            <a:off x="5810250" y="2266950"/>
            <a:ext cx="685800" cy="685800"/>
          </a:xfrm>
          <a:prstGeom prst="ellipse">
            <a:avLst/>
          </a:prstGeom>
          <a:solidFill>
            <a:srgbClr val="C86B6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63DDD4B-0DC7-43B9-A8BF-59EB00CE6AD7}"/>
              </a:ext>
            </a:extLst>
          </p:cNvPr>
          <p:cNvSpPr>
            <a:spLocks noGrp="1"/>
          </p:cNvSpPr>
          <p:nvPr/>
        </p:nvSpPr>
        <p:spPr>
          <a:xfrm>
            <a:off x="6029325" y="2476500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EA6996D-8871-4E38-8CD1-1E2CBE0DDDD1}"/>
              </a:ext>
            </a:extLst>
          </p:cNvPr>
          <p:cNvSpPr>
            <a:spLocks noGrp="1"/>
          </p:cNvSpPr>
          <p:nvPr/>
        </p:nvSpPr>
        <p:spPr>
          <a:xfrm>
            <a:off x="5657850" y="31051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视觉处理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5EAABC3-51AE-4D6E-982C-3F65EC76272E}"/>
              </a:ext>
            </a:extLst>
          </p:cNvPr>
          <p:cNvSpPr>
            <a:spLocks noGrp="1"/>
          </p:cNvSpPr>
          <p:nvPr/>
        </p:nvSpPr>
        <p:spPr>
          <a:xfrm>
            <a:off x="5505450" y="3467100"/>
            <a:ext cx="13811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缩放与恢复</a:t>
            </a:r>
          </a:p>
          <a:p>
            <a: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噪声与遮挡</a:t>
            </a:r>
          </a:p>
          <a:p>
            <a: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隐私保护</a:t>
            </a:r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8B5C2F6F-5C2B-4C72-9220-389EAB7BC696}"/>
              </a:ext>
            </a:extLst>
          </p:cNvPr>
          <p:cNvSpPr>
            <a:spLocks noGrp="1"/>
          </p:cNvSpPr>
          <p:nvPr/>
        </p:nvSpPr>
        <p:spPr>
          <a:xfrm>
            <a:off x="6553200" y="2609850"/>
            <a:ext cx="1543050" cy="0"/>
          </a:xfrm>
          <a:prstGeom prst="line">
            <a:avLst/>
          </a:prstGeom>
          <a:noFill/>
          <a:ln w="1905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724D47F7-DFD0-4EF3-928D-12DE5F9263D6}"/>
              </a:ext>
            </a:extLst>
          </p:cNvPr>
          <p:cNvSpPr>
            <a:spLocks noGrp="1"/>
          </p:cNvSpPr>
          <p:nvPr/>
        </p:nvSpPr>
        <p:spPr>
          <a:xfrm>
            <a:off x="8191500" y="2266950"/>
            <a:ext cx="685800" cy="685800"/>
          </a:xfrm>
          <a:prstGeom prst="ellipse">
            <a:avLst/>
          </a:prstGeom>
          <a:solidFill>
            <a:srgbClr val="6E947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87A25D7-51A1-486E-9289-9F8AB97741E6}"/>
              </a:ext>
            </a:extLst>
          </p:cNvPr>
          <p:cNvSpPr>
            <a:spLocks noGrp="1"/>
          </p:cNvSpPr>
          <p:nvPr/>
        </p:nvSpPr>
        <p:spPr>
          <a:xfrm>
            <a:off x="8410575" y="2476500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335809F-E81A-4003-8B1A-99575FC40410}"/>
              </a:ext>
            </a:extLst>
          </p:cNvPr>
          <p:cNvSpPr>
            <a:spLocks noGrp="1"/>
          </p:cNvSpPr>
          <p:nvPr/>
        </p:nvSpPr>
        <p:spPr>
          <a:xfrm>
            <a:off x="8039100" y="31051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人物分析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33AD9FF-1457-44D2-83BA-B6E87374570E}"/>
              </a:ext>
            </a:extLst>
          </p:cNvPr>
          <p:cNvSpPr>
            <a:spLocks noGrp="1"/>
          </p:cNvSpPr>
          <p:nvPr/>
        </p:nvSpPr>
        <p:spPr>
          <a:xfrm>
            <a:off x="7886700" y="3467100"/>
            <a:ext cx="13811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ROI 聚焦</a:t>
            </a:r>
          </a:p>
          <a:p>
            <a: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多人跟踪</a:t>
            </a:r>
          </a:p>
          <a:p>
            <a: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person_id</a:t>
            </a:r>
          </a:p>
        </p:txBody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D475A302-F687-4AAF-BF57-3547F206279E}"/>
              </a:ext>
            </a:extLst>
          </p:cNvPr>
          <p:cNvSpPr>
            <a:spLocks noGrp="1"/>
          </p:cNvSpPr>
          <p:nvPr/>
        </p:nvSpPr>
        <p:spPr>
          <a:xfrm>
            <a:off x="8934450" y="2609850"/>
            <a:ext cx="1066800" cy="0"/>
          </a:xfrm>
          <a:prstGeom prst="line">
            <a:avLst/>
          </a:prstGeom>
          <a:noFill/>
          <a:ln w="1905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B3B5D008-9801-4D05-B13F-A19C98D51CDF}"/>
              </a:ext>
            </a:extLst>
          </p:cNvPr>
          <p:cNvSpPr>
            <a:spLocks noGrp="1"/>
          </p:cNvSpPr>
          <p:nvPr/>
        </p:nvSpPr>
        <p:spPr>
          <a:xfrm>
            <a:off x="10096500" y="2266950"/>
            <a:ext cx="685800" cy="685800"/>
          </a:xfrm>
          <a:prstGeom prst="ellipse">
            <a:avLst/>
          </a:prstGeom>
          <a:solidFill>
            <a:srgbClr val="D7AA5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CF76008-9A13-4476-AA4A-13E5A81CE454}"/>
              </a:ext>
            </a:extLst>
          </p:cNvPr>
          <p:cNvSpPr>
            <a:spLocks noGrp="1"/>
          </p:cNvSpPr>
          <p:nvPr/>
        </p:nvSpPr>
        <p:spPr>
          <a:xfrm>
            <a:off x="10315575" y="2476500"/>
            <a:ext cx="247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C182CA0-F0D3-4FF6-888B-73E30AC203F9}"/>
              </a:ext>
            </a:extLst>
          </p:cNvPr>
          <p:cNvSpPr>
            <a:spLocks noGrp="1"/>
          </p:cNvSpPr>
          <p:nvPr/>
        </p:nvSpPr>
        <p:spPr>
          <a:xfrm>
            <a:off x="9944100" y="31051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结果导出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B4E283F-EE77-443E-9A2C-55D273EDC6A6}"/>
              </a:ext>
            </a:extLst>
          </p:cNvPr>
          <p:cNvSpPr>
            <a:spLocks noGrp="1"/>
          </p:cNvSpPr>
          <p:nvPr/>
        </p:nvSpPr>
        <p:spPr>
          <a:xfrm>
            <a:off x="9791700" y="3467100"/>
            <a:ext cx="13811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Excel / CSV</a:t>
            </a:r>
          </a:p>
          <a:p>
            <a: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JSON / 报告</a:t>
            </a:r>
          </a:p>
          <a:p>
            <a:pPr algn="ctr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图表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AC8FF11-56D8-480C-A39B-7B02EE5D7A71}"/>
              </a:ext>
            </a:extLst>
          </p:cNvPr>
          <p:cNvSpPr>
            <a:spLocks noGrp="1"/>
          </p:cNvSpPr>
          <p:nvPr/>
        </p:nvSpPr>
        <p:spPr>
          <a:xfrm>
            <a:off x="685800" y="5200650"/>
            <a:ext cx="1009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程序价值：让“复杂场景”从主观描述变成可以重复、可以比较、可以导出的实验条件。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3114A57-69F0-464C-90AF-BAFD11EED88B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1009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界面标签：数据概览  /  处理设置  /  结果与导出  /  汇报三表  /  多人跟踪  /  数据质量</a:t>
            </a:r>
          </a:p>
        </p:txBody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67DA0729-446E-4BFC-A715-3F882784F57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1DB62D5-2692-45E9-8A22-D668AC6A6F51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研究汇报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AB1A100-6ABF-4A17-B420-1A867E08CDE0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1547298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AE9059FB-0547-4C69-8F30-C5A4690EF0B5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连续视频中保持同一个人物身份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2DC03B9-D7B3-429F-91E4-39BAA9145E94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rPr>
              <a:t>23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C021562-A1F1-4404-B677-195895BC0048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rPr>
              <a:t>多人跟踪与人物聚焦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15D390A7-7B29-4E81-8BD5-74AE7E6A23FE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6B8C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1010BDC-1AAB-4F63-9A6A-3070B05A5F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" b="36"/>
          <a:stretch>
            <a:fillRect/>
          </a:stretch>
        </p:blipFill>
        <p:spPr>
          <a:xfrm>
            <a:off x="685800" y="1752600"/>
            <a:ext cx="5829300" cy="3276600"/>
          </a:xfrm>
          <a:prstGeom prst="roundRect">
            <a:avLst>
              <a:gd name="adj" fmla="val 4651"/>
            </a:avLst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50C0875-163C-4289-B376-92059D1749A3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示意：固定一个人物 ID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794661F-16E2-44D8-8851-6303ABEC284B}"/>
              </a:ext>
            </a:extLst>
          </p:cNvPr>
          <p:cNvSpPr>
            <a:spLocks noGrp="1"/>
          </p:cNvSpPr>
          <p:nvPr/>
        </p:nvSpPr>
        <p:spPr>
          <a:xfrm>
            <a:off x="2038350" y="3695700"/>
            <a:ext cx="685800" cy="876300"/>
          </a:xfrm>
          <a:prstGeom prst="rect">
            <a:avLst/>
          </a:prstGeom>
          <a:noFill/>
          <a:ln w="28575">
            <a:solidFill>
              <a:srgbClr val="D27A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648A0F3-67C4-4F71-A7A0-30BDF1C8805E}"/>
              </a:ext>
            </a:extLst>
          </p:cNvPr>
          <p:cNvSpPr>
            <a:spLocks noGrp="1"/>
          </p:cNvSpPr>
          <p:nvPr/>
        </p:nvSpPr>
        <p:spPr>
          <a:xfrm>
            <a:off x="1962150" y="3371850"/>
            <a:ext cx="1066800" cy="304800"/>
          </a:xfrm>
          <a:prstGeom prst="roundRect">
            <a:avLst>
              <a:gd name="adj" fmla="val 37500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person_id=1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B40AEC-A812-4EA9-8BBF-D12CC26269D7}"/>
              </a:ext>
            </a:extLst>
          </p:cNvPr>
          <p:cNvSpPr>
            <a:spLocks noGrp="1"/>
          </p:cNvSpPr>
          <p:nvPr/>
        </p:nvSpPr>
        <p:spPr>
          <a:xfrm>
            <a:off x="4048125" y="3333750"/>
            <a:ext cx="685800" cy="876300"/>
          </a:xfrm>
          <a:prstGeom prst="rect">
            <a:avLst/>
          </a:prstGeom>
          <a:noFill/>
          <a:ln w="28575">
            <a:solidFill>
              <a:srgbClr val="2B6D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866389E-D9D4-4062-A952-7B7FB9980125}"/>
              </a:ext>
            </a:extLst>
          </p:cNvPr>
          <p:cNvSpPr>
            <a:spLocks noGrp="1"/>
          </p:cNvSpPr>
          <p:nvPr/>
        </p:nvSpPr>
        <p:spPr>
          <a:xfrm>
            <a:off x="3971925" y="3009900"/>
            <a:ext cx="1066800" cy="304800"/>
          </a:xfrm>
          <a:prstGeom prst="roundRect">
            <a:avLst>
              <a:gd name="adj" fmla="val 37500"/>
            </a:avLst>
          </a:prstGeom>
          <a:solidFill>
            <a:srgbClr val="DDEAE5"/>
          </a:solidFill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person_id=2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5EC565F-505F-48E4-92E5-DAA11BC497E4}"/>
              </a:ext>
            </a:extLst>
          </p:cNvPr>
          <p:cNvSpPr>
            <a:spLocks noGrp="1"/>
          </p:cNvSpPr>
          <p:nvPr/>
        </p:nvSpPr>
        <p:spPr>
          <a:xfrm>
            <a:off x="4953000" y="4095750"/>
            <a:ext cx="685800" cy="876300"/>
          </a:xfrm>
          <a:prstGeom prst="rect">
            <a:avLst/>
          </a:prstGeom>
          <a:noFill/>
          <a:ln w="28575">
            <a:solidFill>
              <a:srgbClr val="D7AA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74DD3C6-ED74-46C2-A7A2-BA466D0427BA}"/>
              </a:ext>
            </a:extLst>
          </p:cNvPr>
          <p:cNvSpPr>
            <a:spLocks noGrp="1"/>
          </p:cNvSpPr>
          <p:nvPr/>
        </p:nvSpPr>
        <p:spPr>
          <a:xfrm>
            <a:off x="4876800" y="3771900"/>
            <a:ext cx="1066800" cy="304800"/>
          </a:xfrm>
          <a:prstGeom prst="roundRect">
            <a:avLst>
              <a:gd name="adj" fmla="val 37500"/>
            </a:avLst>
          </a:prstGeom>
          <a:solidFill>
            <a:srgbClr val="F6EAC9"/>
          </a:solidFill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person_id=3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857CC3C-7ACA-4C37-ACA2-005892159889}"/>
              </a:ext>
            </a:extLst>
          </p:cNvPr>
          <p:cNvSpPr>
            <a:spLocks noGrp="1"/>
          </p:cNvSpPr>
          <p:nvPr/>
        </p:nvSpPr>
        <p:spPr>
          <a:xfrm>
            <a:off x="7334250" y="19050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程序流程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2D25088-3677-4D75-BDAE-10DF0F6DA20A}"/>
              </a:ext>
            </a:extLst>
          </p:cNvPr>
          <p:cNvSpPr>
            <a:spLocks noGrp="1"/>
          </p:cNvSpPr>
          <p:nvPr/>
        </p:nvSpPr>
        <p:spPr>
          <a:xfrm>
            <a:off x="7334250" y="2305050"/>
            <a:ext cx="3429000" cy="2266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多人检测</a:t>
            </a:r>
          </a:p>
          <a:p>
            <a:pPr algn="l">
              <a:def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↓</a:t>
            </a:r>
          </a:p>
          <a:p>
            <a:pPr algn="l">
              <a:def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分配 person_id</a:t>
            </a:r>
          </a:p>
          <a:p>
            <a:pPr algn="l">
              <a:def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↓</a:t>
            </a:r>
          </a:p>
          <a:p>
            <a:pPr algn="l">
              <a:def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跨帧跟踪</a:t>
            </a:r>
          </a:p>
          <a:p>
            <a:pPr algn="l">
              <a:def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↓</a:t>
            </a:r>
          </a:p>
          <a:p>
            <a:pPr algn="l">
              <a:def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对指定人物做分辨率、遮挡和行为分析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77A90DD-D4C9-43B0-A90C-76317DEEA93D}"/>
              </a:ext>
            </a:extLst>
          </p:cNvPr>
          <p:cNvSpPr>
            <a:spLocks noGrp="1"/>
          </p:cNvSpPr>
          <p:nvPr/>
        </p:nvSpPr>
        <p:spPr>
          <a:xfrm>
            <a:off x="7334250" y="5010150"/>
            <a:ext cx="361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跟踪指标：IDF1、MOTA、HOTA、ID Switch、遮挡恢复率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ADC5F356-C616-4D9A-BD11-8ADF85D066D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ED63272-DF30-4BE0-AE96-12D401B5E467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人物分析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D90D5AD-93E0-4AA4-9905-5655A594AA2E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1605109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35.xml><?xml version="1.0" encoding="utf-8"?>
<p:sld xmlns:a="http://schemas.openxmlformats.org/drawingml/2006/main" xmlns:mc="http://schemas.openxmlformats.org/markup-compatibility/2006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ns2:creationId id="{977C6F2A-5604-42B4-91AA-2281A7216011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论文证据与原有板块结合</a:t>
            </a:r>
          </a:p>
        </p:txBody>
      </p:sp>
      <p:sp>
        <p:nvSpPr>
          <p:cNvPr id="2" name="矩形 1">
            <a:extLst>
              <a:ext uri="{FF2B5EF4-FFF2-40B4-BE49-F238E27FC236}">
                <ns2:creationId id="{1E984517-25A4-43CC-9EC6-D79BEF7DE412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24</a:t>
            </a:r>
          </a:p>
        </p:txBody>
      </p:sp>
      <p:sp>
        <p:nvSpPr>
          <p:cNvPr id="3" name="矩形 2">
            <a:extLst>
              <a:ext uri="{FF2B5EF4-FFF2-40B4-BE49-F238E27FC236}">
                <ns2:creationId id="{0E176EDA-2D91-4C6B-9A42-AD989568CF8F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PoseTrack：姿态和跟踪必须一起评价</a:t>
            </a:r>
          </a:p>
        </p:txBody>
      </p:sp>
      <p:sp>
        <p:nvSpPr>
          <p:cNvPr id="4" name="直接连接符 3">
            <a:extLst>
              <a:ext uri="{FF2B5EF4-FFF2-40B4-BE49-F238E27FC236}">
                <ns2:creationId id="{7321F2AB-5CF0-4C15-B3FC-0D402E8D5036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ns2:creationId id="{0CC9B30D-A111-409A-9DB5-C5EB431E171E}"/>
              </a:ext>
            </a:extLst>
          </p:cNvPr>
          <p:cNvSpPr>
            <a:spLocks noGrp="1"/>
          </p:cNvSpPr>
          <p:nvPr/>
        </p:nvSpPr>
        <p:spPr>
          <a:xfrm>
            <a:off x="685800" y="16383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PoseTrack 把视频中的姿态估计、人物轨迹和身份一致性放到同一套基准中。</a:t>
            </a:r>
          </a:p>
        </p:txBody>
      </p:sp>
      <p:sp>
        <p:nvSpPr>
          <p:cNvPr id="6" name="矩形: 圆角 5">
            <a:extLst>
              <a:ext uri="{FF2B5EF4-FFF2-40B4-BE49-F238E27FC236}">
                <ns2:creationId id="{456605FA-1C02-4239-9928-8257D6D1C8EB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5715000" cy="3276600"/>
          </a:xfrm>
          <a:prstGeom prst="roundRect">
            <a:avLst>
              <a:gd name="adj" fmla="val 4651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ns2:creationId id="{CF2B24AA-1A09-4D0D-89E4-DA4C0DCFA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55514" y="2667000"/>
            <a:ext cx="4575572" cy="2400300"/>
          </a:xfrm>
          <a:prstGeom prst="roundRect">
            <a:avLst>
              <a:gd name="adj" fmla="val 6349"/>
            </a:avLst>
          </a:prstGeom>
        </p:spPr>
      </p:pic>
      <p:sp>
        <p:nvSpPr>
          <p:cNvPr id="8" name="矩形: 圆角 7"/>
          <p:cNvSpPr/>
          <p:nvPr/>
        </p:nvSpPr>
        <p:spPr>
          <a:xfrm>
            <a:off x="1028700" y="2381250"/>
            <a:ext cx="1552575" cy="304800"/>
          </a:xfrm>
          <a:prstGeom prst="roundRect">
            <a:avLst>
              <a:gd name="adj" fmla="val 37500"/>
            </a:avLst>
          </a:prstGeom>
          <a:solidFill>
            <a:srgbClr val="FFFDF8"/>
          </a:solidFill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98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PDF p.2 · 重点：姿态+跟踪</a:t>
            </a:r>
          </a:p>
        </p:txBody>
      </p:sp>
      <p:sp>
        <p:nvSpPr>
          <p:cNvPr id="9" name="矩形 8">
            <a:extLst>
              <a:ext uri="{FF2B5EF4-FFF2-40B4-BE49-F238E27FC236}">
                <ns2:creationId id="{AF2A0CAC-4653-4C9D-9BF6-BC05BA4EA65F}"/>
              </a:ext>
            </a:extLst>
          </p:cNvPr>
          <p:cNvSpPr>
            <a:spLocks noGrp="1"/>
          </p:cNvSpPr>
          <p:nvPr/>
        </p:nvSpPr>
        <p:spPr>
          <a:xfrm>
            <a:off x="895350" y="5181600"/>
            <a:ext cx="5257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Andriluka et al., PoseTrack: A Benchmark for Human Pose Estimation and Tracking, CVPR 2018</a:t>
            </a:r>
          </a:p>
        </p:txBody>
      </p:sp>
      <p:sp>
        <p:nvSpPr>
          <p:cNvPr id="10" name="矩形 9">
            <a:extLst>
              <a:ext uri="{FF2B5EF4-FFF2-40B4-BE49-F238E27FC236}">
                <ns2:creationId id="{3ECBE2A0-691D-4E81-8672-3F145959DDD3}"/>
              </a:ext>
            </a:extLst>
          </p:cNvPr>
          <p:cNvSpPr>
            <a:spLocks noGrp="1"/>
          </p:cNvSpPr>
          <p:nvPr/>
        </p:nvSpPr>
        <p:spPr>
          <a:xfrm>
            <a:off x="6858000" y="24574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数据与标注</a:t>
            </a:r>
          </a:p>
        </p:txBody>
      </p:sp>
      <p:sp>
        <p:nvSpPr>
          <p:cNvPr id="11" name="矩形 10">
            <a:extLst>
              <a:ext uri="{FF2B5EF4-FFF2-40B4-BE49-F238E27FC236}">
                <ns2:creationId id="{C324A524-106E-43A9-9210-DB41509FE80E}"/>
              </a:ext>
            </a:extLst>
          </p:cNvPr>
          <p:cNvSpPr>
            <a:spLocks noGrp="1"/>
          </p:cNvSpPr>
          <p:nvPr/>
        </p:nvSpPr>
        <p:spPr>
          <a:xfrm>
            <a:off x="8001000" y="24384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视频约 41-151 帧，每人 15 个关键点，每人有 track ID</a:t>
            </a:r>
          </a:p>
        </p:txBody>
      </p:sp>
      <p:sp>
        <p:nvSpPr>
          <p:cNvPr id="12" name="矩形 11">
            <a:extLst>
              <a:ext uri="{FF2B5EF4-FFF2-40B4-BE49-F238E27FC236}">
                <ns2:creationId id="{B932AE32-97F6-4489-B229-D36DD74FD31E}"/>
              </a:ext>
            </a:extLst>
          </p:cNvPr>
          <p:cNvSpPr>
            <a:spLocks noGrp="1"/>
          </p:cNvSpPr>
          <p:nvPr/>
        </p:nvSpPr>
        <p:spPr>
          <a:xfrm>
            <a:off x="6858000" y="31432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复杂因素</a:t>
            </a:r>
          </a:p>
        </p:txBody>
      </p:sp>
      <p:sp>
        <p:nvSpPr>
          <p:cNvPr id="13" name="矩形 12">
            <a:extLst>
              <a:ext uri="{FF2B5EF4-FFF2-40B4-BE49-F238E27FC236}">
                <ns2:creationId id="{C11E88D0-E139-444E-9376-89F50CF29070}"/>
              </a:ext>
            </a:extLst>
          </p:cNvPr>
          <p:cNvSpPr>
            <a:spLocks noGrp="1"/>
          </p:cNvSpPr>
          <p:nvPr/>
        </p:nvSpPr>
        <p:spPr>
          <a:xfrm>
            <a:off x="8001000" y="31242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遮挡、截断、相机运动和 ignore regions</a:t>
            </a:r>
          </a:p>
        </p:txBody>
      </p:sp>
      <p:sp>
        <p:nvSpPr>
          <p:cNvPr id="14" name="矩形 13">
            <a:extLst>
              <a:ext uri="{FF2B5EF4-FFF2-40B4-BE49-F238E27FC236}">
                <ns2:creationId id="{BF94DA4B-EDD4-48BC-A302-A37B5633F6EF}"/>
              </a:ext>
            </a:extLst>
          </p:cNvPr>
          <p:cNvSpPr>
            <a:spLocks noGrp="1"/>
          </p:cNvSpPr>
          <p:nvPr/>
        </p:nvSpPr>
        <p:spPr>
          <a:xfrm>
            <a:off x="6858000" y="38290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指标</a:t>
            </a:r>
          </a:p>
        </p:txBody>
      </p:sp>
      <p:sp>
        <p:nvSpPr>
          <p:cNvPr id="15" name="矩形 14">
            <a:extLst>
              <a:ext uri="{FF2B5EF4-FFF2-40B4-BE49-F238E27FC236}">
                <ns2:creationId id="{BB71BEF5-E24B-4ED4-97B4-5ED1802E3002}"/>
              </a:ext>
            </a:extLst>
          </p:cNvPr>
          <p:cNvSpPr>
            <a:spLocks noGrp="1"/>
          </p:cNvSpPr>
          <p:nvPr/>
        </p:nvSpPr>
        <p:spPr>
          <a:xfrm>
            <a:off x="8001000" y="38100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PCKh/mAP 评价姿态，MOTA/MOTP 评价跟踪</a:t>
            </a:r>
          </a:p>
        </p:txBody>
      </p:sp>
      <p:sp>
        <p:nvSpPr>
          <p:cNvPr id="16" name="矩形 15">
            <a:extLst>
              <a:ext uri="{FF2B5EF4-FFF2-40B4-BE49-F238E27FC236}">
                <ns2:creationId id="{98B46AEA-C360-49DE-A094-C0A847BDD9D4}"/>
              </a:ext>
            </a:extLst>
          </p:cNvPr>
          <p:cNvSpPr>
            <a:spLocks noGrp="1"/>
          </p:cNvSpPr>
          <p:nvPr/>
        </p:nvSpPr>
        <p:spPr>
          <a:xfrm>
            <a:off x="6858000" y="45148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实验启示</a:t>
            </a:r>
          </a:p>
        </p:txBody>
      </p:sp>
      <p:sp>
        <p:nvSpPr>
          <p:cNvPr id="17" name="矩形 16">
            <a:extLst>
              <a:ext uri="{FF2B5EF4-FFF2-40B4-BE49-F238E27FC236}">
                <ns2:creationId id="{50DB267E-580B-411C-8395-C407755C7584}"/>
              </a:ext>
            </a:extLst>
          </p:cNvPr>
          <p:cNvSpPr>
            <a:spLocks noGrp="1"/>
          </p:cNvSpPr>
          <p:nvPr/>
        </p:nvSpPr>
        <p:spPr>
          <a:xfrm>
            <a:off x="8001000" y="44958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拥挤、快速运动和镜头运动会显著降低 MOTA</a:t>
            </a:r>
          </a:p>
        </p:txBody>
      </p:sp>
      <p:sp>
        <p:nvSpPr>
          <p:cNvPr id="18" name="矩形: 圆角 17">
            <a:extLst>
              <a:ext uri="{FF2B5EF4-FFF2-40B4-BE49-F238E27FC236}">
                <ns2:creationId id="{6095C8AF-9060-4B46-8DFF-B05D48C9468F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820400" cy="533400"/>
          </a:xfrm>
          <a:prstGeom prst="roundRect">
            <a:avLst>
              <a:gd name="adj" fmla="val 21429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95350" y="5924550"/>
            <a:ext cx="16192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98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这一页只记住一句话</a:t>
            </a:r>
          </a:p>
        </p:txBody>
      </p:sp>
      <p:sp>
        <p:nvSpPr>
          <p:cNvPr id="20" name="矩形 19"/>
          <p:cNvSpPr/>
          <p:nvPr/>
        </p:nvSpPr>
        <p:spPr>
          <a:xfrm>
            <a:off x="2667000" y="590550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多人视频要同时看姿态、身份和轨迹是否连续。</a:t>
            </a:r>
          </a:p>
        </p:txBody>
      </p:sp>
      <p:sp>
        <p:nvSpPr>
          <p:cNvPr id="21" name="直接连接符 20">
            <a:extLst>
              <a:ext uri="{FF2B5EF4-FFF2-40B4-BE49-F238E27FC236}">
                <ns2:creationId id="{779982A0-E35F-4200-B17A-4AEF50E48426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ns2:creationId id="{D89CC157-EA56-4548-A8ED-94465671A0F8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论文证据 08</a:t>
            </a:r>
          </a:p>
        </p:txBody>
      </p:sp>
      <p:sp>
        <p:nvSpPr>
          <p:cNvPr id="23" name="矩形 22">
            <a:extLst>
              <a:ext uri="{FF2B5EF4-FFF2-40B4-BE49-F238E27FC236}">
                <ns2:creationId id="{975EFF87-CA15-4B2E-8927-E11F665EF30B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val="1428776364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36.xml><?xml version="1.0" encoding="utf-8"?>
<p:sld xmlns:a="http://schemas.openxmlformats.org/drawingml/2006/main" xmlns:mc="http://schemas.openxmlformats.org/markup-compatibility/2006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ns2:creationId id="{39E59433-9E73-4173-AC03-8FB17C0979DA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同一组条件对应不同任务指标</a:t>
            </a:r>
          </a:p>
        </p:txBody>
      </p:sp>
      <p:sp>
        <p:nvSpPr>
          <p:cNvPr id="2" name="矩形 1">
            <a:extLst>
              <a:ext uri="{FF2B5EF4-FFF2-40B4-BE49-F238E27FC236}">
                <ns2:creationId id="{EC919F40-197D-4EEF-A611-DCBAF0E92F90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25</a:t>
            </a:r>
          </a:p>
        </p:txBody>
      </p:sp>
      <p:sp>
        <p:nvSpPr>
          <p:cNvPr id="3" name="矩形 2"/>
          <p:cNvSpPr/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-25400" rIns="0" bIns="0" anchor="t" anchorCtr="0">
            <a:noAutofit/>
          </a:bodyPr>
          <a:lstStyle/>
          <a:p>
            <a:pPr algn="l"/>
            <a:r>
              <a:rPr lang="zh-CN" sz="2550" b="1" dirty="0">
                <a:solidFill>
                  <a:srgbClr val="19312E"/>
                </a:solidFill>
                <a:latin typeface="SimSun"/>
                <a:ea typeface="SimSun"/>
                <a:cs typeface="SimSun"/>
              </a:rPr>
              <a:t>模型到底在评价什么？（英文只作论文对照）</a:t>
            </a:r>
          </a:p>
        </p:txBody>
      </p:sp>
      <p:sp>
        <p:nvSpPr>
          <p:cNvPr id="4" name="直接连接符 3">
            <a:extLst>
              <a:ext uri="{FF2B5EF4-FFF2-40B4-BE49-F238E27FC236}">
                <ns2:creationId id="{2E4950CD-0797-4A5D-8E02-9EDF658600D6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ns2:creationId id="{C76EF0C9-6584-4C3C-808D-1B0CA224FB7B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2381250" cy="4953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ns2:creationId id="{A3F6C785-40AB-4F6D-A27A-4959D98351B5}"/>
              </a:ext>
            </a:extLst>
          </p:cNvPr>
          <p:cNvSpPr>
            <a:spLocks noGrp="1"/>
          </p:cNvSpPr>
          <p:nvPr/>
        </p:nvSpPr>
        <p:spPr>
          <a:xfrm>
            <a:off x="800100" y="186690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任务</a:t>
            </a:r>
          </a:p>
        </p:txBody>
      </p:sp>
      <p:sp>
        <p:nvSpPr>
          <p:cNvPr id="7" name="矩形 6">
            <a:extLst>
              <a:ext uri="{FF2B5EF4-FFF2-40B4-BE49-F238E27FC236}">
                <ns2:creationId id="{24997E94-F8F0-4E83-8035-38128C74A831}"/>
              </a:ext>
            </a:extLst>
          </p:cNvPr>
          <p:cNvSpPr>
            <a:spLocks noGrp="1"/>
          </p:cNvSpPr>
          <p:nvPr/>
        </p:nvSpPr>
        <p:spPr>
          <a:xfrm>
            <a:off x="3067050" y="1752600"/>
            <a:ext cx="4476750" cy="4953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181350" y="1866900"/>
            <a:ext cx="42481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98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用来回答什么问题</a:t>
            </a:r>
          </a:p>
        </p:txBody>
      </p:sp>
      <p:sp>
        <p:nvSpPr>
          <p:cNvPr id="9" name="矩形 8">
            <a:extLst>
              <a:ext uri="{FF2B5EF4-FFF2-40B4-BE49-F238E27FC236}">
                <ns2:creationId id="{469202A0-59CA-4BC7-9D8A-C61EE5EBD7E8}"/>
              </a:ext>
            </a:extLst>
          </p:cNvPr>
          <p:cNvSpPr>
            <a:spLocks noGrp="1"/>
          </p:cNvSpPr>
          <p:nvPr/>
        </p:nvSpPr>
        <p:spPr>
          <a:xfrm>
            <a:off x="7543800" y="1752600"/>
            <a:ext cx="3524250" cy="4953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658100" y="1866900"/>
            <a:ext cx="32956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980" b="1" dirty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用大白话说</a:t>
            </a:r>
          </a:p>
        </p:txBody>
      </p:sp>
      <p:sp>
        <p:nvSpPr>
          <p:cNvPr id="11" name="矩形 10">
            <a:extLst>
              <a:ext uri="{FF2B5EF4-FFF2-40B4-BE49-F238E27FC236}">
                <ns2:creationId id="{CCD099C4-803F-4C55-BB5F-BE32C665F49D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2381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ns2:creationId id="{5D7EB044-DF08-4B27-AE52-5000B555B2F3}"/>
              </a:ext>
            </a:extLst>
          </p:cNvPr>
          <p:cNvSpPr>
            <a:spLocks noGrp="1"/>
          </p:cNvSpPr>
          <p:nvPr/>
        </p:nvSpPr>
        <p:spPr>
          <a:xfrm>
            <a:off x="800100" y="236220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分类识别</a:t>
            </a:r>
          </a:p>
        </p:txBody>
      </p:sp>
      <p:sp>
        <p:nvSpPr>
          <p:cNvPr id="13" name="矩形 12">
            <a:extLst>
              <a:ext uri="{FF2B5EF4-FFF2-40B4-BE49-F238E27FC236}">
                <ns2:creationId id="{0CEC0AFF-F21B-43AE-9207-B96D36D5AB12}"/>
              </a:ext>
            </a:extLst>
          </p:cNvPr>
          <p:cNvSpPr>
            <a:spLocks noGrp="1"/>
          </p:cNvSpPr>
          <p:nvPr/>
        </p:nvSpPr>
        <p:spPr>
          <a:xfrm>
            <a:off x="3067050" y="2247900"/>
            <a:ext cx="44767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181350" y="2362200"/>
            <a:ext cx="42481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答对率↑ / 报真率↑ / 找全率↑ / 各类平均↑</a:t>
            </a:r>
          </a:p>
        </p:txBody>
      </p:sp>
      <p:sp>
        <p:nvSpPr>
          <p:cNvPr id="15" name="矩形 14">
            <a:extLst>
              <a:ext uri="{FF2B5EF4-FFF2-40B4-BE49-F238E27FC236}">
                <ns2:creationId id="{8EB2A7D7-F2B5-4915-831C-8F0CBF87EF45}"/>
              </a:ext>
            </a:extLst>
          </p:cNvPr>
          <p:cNvSpPr>
            <a:spLocks noGrp="1"/>
          </p:cNvSpPr>
          <p:nvPr/>
        </p:nvSpPr>
        <p:spPr>
          <a:xfrm>
            <a:off x="7543800" y="2247900"/>
            <a:ext cx="3524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658100" y="2362200"/>
            <a:ext cx="32956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行为有没有答对，少数类别有没有被漏掉</a:t>
            </a:r>
          </a:p>
        </p:txBody>
      </p:sp>
      <p:sp>
        <p:nvSpPr>
          <p:cNvPr id="17" name="矩形 16">
            <a:extLst>
              <a:ext uri="{FF2B5EF4-FFF2-40B4-BE49-F238E27FC236}">
                <ns2:creationId id="{1B71A222-0896-4847-871B-506DEF77FFA4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23812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ns2:creationId id="{BCB003EF-4D6F-4219-BA80-B0DAA65ECF24}"/>
              </a:ext>
            </a:extLst>
          </p:cNvPr>
          <p:cNvSpPr>
            <a:spLocks noGrp="1"/>
          </p:cNvSpPr>
          <p:nvPr/>
        </p:nvSpPr>
        <p:spPr>
          <a:xfrm>
            <a:off x="800100" y="285750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投入度估计</a:t>
            </a:r>
          </a:p>
        </p:txBody>
      </p:sp>
      <p:sp>
        <p:nvSpPr>
          <p:cNvPr id="19" name="矩形 18">
            <a:extLst>
              <a:ext uri="{FF2B5EF4-FFF2-40B4-BE49-F238E27FC236}">
                <ns2:creationId id="{D7C8E998-7209-492D-A5CE-8A30D5708798}"/>
              </a:ext>
            </a:extLst>
          </p:cNvPr>
          <p:cNvSpPr>
            <a:spLocks noGrp="1"/>
          </p:cNvSpPr>
          <p:nvPr/>
        </p:nvSpPr>
        <p:spPr>
          <a:xfrm>
            <a:off x="3067050" y="2743200"/>
            <a:ext cx="44767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3181350" y="2857500"/>
            <a:ext cx="42481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平均差多少分↓ / 大错惩罚更重↓</a:t>
            </a:r>
          </a:p>
        </p:txBody>
      </p:sp>
      <p:sp>
        <p:nvSpPr>
          <p:cNvPr id="21" name="矩形 20">
            <a:extLst>
              <a:ext uri="{FF2B5EF4-FFF2-40B4-BE49-F238E27FC236}">
                <ns2:creationId id="{5D09F628-5C1C-4AA5-8CFB-F6C2AA8BB4CC}"/>
              </a:ext>
            </a:extLst>
          </p:cNvPr>
          <p:cNvSpPr>
            <a:spLocks noGrp="1"/>
          </p:cNvSpPr>
          <p:nvPr/>
        </p:nvSpPr>
        <p:spPr>
          <a:xfrm>
            <a:off x="7543800" y="2743200"/>
            <a:ext cx="35242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7658100" y="2857500"/>
            <a:ext cx="32956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模型给的分数，和真实分数差几级</a:t>
            </a:r>
          </a:p>
        </p:txBody>
      </p:sp>
      <p:sp>
        <p:nvSpPr>
          <p:cNvPr id="23" name="矩形 22">
            <a:extLst>
              <a:ext uri="{FF2B5EF4-FFF2-40B4-BE49-F238E27FC236}">
                <ns2:creationId id="{8F2CF754-450C-4C45-A64B-F37AAF2BFE23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2381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ns2:creationId id="{49717959-C0EC-4F02-BE83-33432F5BE3B0}"/>
              </a:ext>
            </a:extLst>
          </p:cNvPr>
          <p:cNvSpPr>
            <a:spLocks noGrp="1"/>
          </p:cNvSpPr>
          <p:nvPr/>
        </p:nvSpPr>
        <p:spPr>
          <a:xfrm>
            <a:off x="800100" y="335280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目标检测</a:t>
            </a:r>
          </a:p>
        </p:txBody>
      </p:sp>
      <p:sp>
        <p:nvSpPr>
          <p:cNvPr id="25" name="矩形 24">
            <a:extLst>
              <a:ext uri="{FF2B5EF4-FFF2-40B4-BE49-F238E27FC236}">
                <ns2:creationId id="{819DE350-2F56-4099-A18E-213711BA7546}"/>
              </a:ext>
            </a:extLst>
          </p:cNvPr>
          <p:cNvSpPr>
            <a:spLocks noGrp="1"/>
          </p:cNvSpPr>
          <p:nvPr/>
        </p:nvSpPr>
        <p:spPr>
          <a:xfrm>
            <a:off x="3067050" y="3238500"/>
            <a:ext cx="44767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3181350" y="3352800"/>
            <a:ext cx="42481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报真率↑ / 找全率↑ / 框的位置+类别综合分↑</a:t>
            </a:r>
          </a:p>
        </p:txBody>
      </p:sp>
      <p:sp>
        <p:nvSpPr>
          <p:cNvPr id="27" name="矩形 26">
            <a:extLst>
              <a:ext uri="{FF2B5EF4-FFF2-40B4-BE49-F238E27FC236}">
                <ns2:creationId id="{730CF30B-0435-4119-987F-51C448F6F666}"/>
              </a:ext>
            </a:extLst>
          </p:cNvPr>
          <p:cNvSpPr>
            <a:spLocks noGrp="1"/>
          </p:cNvSpPr>
          <p:nvPr/>
        </p:nvSpPr>
        <p:spPr>
          <a:xfrm>
            <a:off x="7543800" y="3238500"/>
            <a:ext cx="3524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7658100" y="3352800"/>
            <a:ext cx="32956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人和行为有没有框准</a:t>
            </a:r>
          </a:p>
        </p:txBody>
      </p:sp>
      <p:sp>
        <p:nvSpPr>
          <p:cNvPr id="29" name="矩形 28">
            <a:extLst>
              <a:ext uri="{FF2B5EF4-FFF2-40B4-BE49-F238E27FC236}">
                <ns2:creationId id="{B7E1FF2A-0FDE-4F9C-B3C4-14BB9B57EA4C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23812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ns2:creationId id="{FE803F8D-E47B-4868-8183-86A30BBC5755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姿态估计</a:t>
            </a:r>
          </a:p>
        </p:txBody>
      </p:sp>
      <p:sp>
        <p:nvSpPr>
          <p:cNvPr id="31" name="矩形 30">
            <a:extLst>
              <a:ext uri="{FF2B5EF4-FFF2-40B4-BE49-F238E27FC236}">
                <ns2:creationId id="{ED2FA4C1-7E83-4260-92E7-767388677B64}"/>
              </a:ext>
            </a:extLst>
          </p:cNvPr>
          <p:cNvSpPr>
            <a:spLocks noGrp="1"/>
          </p:cNvSpPr>
          <p:nvPr/>
        </p:nvSpPr>
        <p:spPr>
          <a:xfrm>
            <a:off x="3067050" y="3733800"/>
            <a:ext cx="44767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3181350" y="3848100"/>
            <a:ext cx="42481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单类得分↑ / 找全率↑ / 关键点接近度↑ / 人体尺度匹配↑</a:t>
            </a:r>
          </a:p>
        </p:txBody>
      </p:sp>
      <p:sp>
        <p:nvSpPr>
          <p:cNvPr id="33" name="矩形 32">
            <a:extLst>
              <a:ext uri="{FF2B5EF4-FFF2-40B4-BE49-F238E27FC236}">
                <ns2:creationId id="{5A8CCD4B-B129-49E6-9693-9D8142FC3EA2}"/>
              </a:ext>
            </a:extLst>
          </p:cNvPr>
          <p:cNvSpPr>
            <a:spLocks noGrp="1"/>
          </p:cNvSpPr>
          <p:nvPr/>
        </p:nvSpPr>
        <p:spPr>
          <a:xfrm>
            <a:off x="7543800" y="3733800"/>
            <a:ext cx="35242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7658100" y="3848100"/>
            <a:ext cx="32956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肩、肘、腕等点有没有对准</a:t>
            </a:r>
          </a:p>
        </p:txBody>
      </p:sp>
      <p:sp>
        <p:nvSpPr>
          <p:cNvPr id="35" name="矩形 34">
            <a:extLst>
              <a:ext uri="{FF2B5EF4-FFF2-40B4-BE49-F238E27FC236}">
                <ns2:creationId id="{D38B929F-B44B-45C2-A8C0-6A50612E8C84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2381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ns2:creationId id="{13485986-63A1-4B58-AC3A-2DB7D412E9C7}"/>
              </a:ext>
            </a:extLst>
          </p:cNvPr>
          <p:cNvSpPr>
            <a:spLocks noGrp="1"/>
          </p:cNvSpPr>
          <p:nvPr/>
        </p:nvSpPr>
        <p:spPr>
          <a:xfrm>
            <a:off x="800100" y="434340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多人跟踪</a:t>
            </a:r>
          </a:p>
        </p:txBody>
      </p:sp>
      <p:sp>
        <p:nvSpPr>
          <p:cNvPr id="37" name="矩形 36">
            <a:extLst>
              <a:ext uri="{FF2B5EF4-FFF2-40B4-BE49-F238E27FC236}">
                <ns2:creationId id="{2A4091EA-C7B9-4963-A5B5-88FC8D4C8132}"/>
              </a:ext>
            </a:extLst>
          </p:cNvPr>
          <p:cNvSpPr>
            <a:spLocks noGrp="1"/>
          </p:cNvSpPr>
          <p:nvPr/>
        </p:nvSpPr>
        <p:spPr>
          <a:xfrm>
            <a:off x="3067050" y="4229100"/>
            <a:ext cx="44767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3181350" y="4343400"/>
            <a:ext cx="42481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同一人跟对↑ / 漏检误检↓ / 综合分↑ / 换号次数↓</a:t>
            </a:r>
          </a:p>
        </p:txBody>
      </p:sp>
      <p:sp>
        <p:nvSpPr>
          <p:cNvPr id="39" name="矩形 38">
            <a:extLst>
              <a:ext uri="{FF2B5EF4-FFF2-40B4-BE49-F238E27FC236}">
                <ns2:creationId id="{5E6B8381-7EC8-4427-BD3D-F8143AC3FD67}"/>
              </a:ext>
            </a:extLst>
          </p:cNvPr>
          <p:cNvSpPr>
            <a:spLocks noGrp="1"/>
          </p:cNvSpPr>
          <p:nvPr/>
        </p:nvSpPr>
        <p:spPr>
          <a:xfrm>
            <a:off x="7543800" y="4229100"/>
            <a:ext cx="3524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7658100" y="4343400"/>
            <a:ext cx="329565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zh-CN" sz="105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视频前后是不是同一个人</a:t>
            </a:r>
          </a:p>
        </p:txBody>
      </p:sp>
      <p:sp>
        <p:nvSpPr>
          <p:cNvPr id="41" name="矩形: 圆角 40">
            <a:extLst>
              <a:ext uri="{FF2B5EF4-FFF2-40B4-BE49-F238E27FC236}">
                <ns2:creationId id="{8CC97D4C-7541-4C9C-B575-CB655C9FFD19}"/>
              </a:ext>
            </a:extLst>
          </p:cNvPr>
          <p:cNvSpPr>
            <a:spLocks noGrp="1"/>
          </p:cNvSpPr>
          <p:nvPr/>
        </p:nvSpPr>
        <p:spPr>
          <a:xfrm>
            <a:off x="685800" y="5067300"/>
            <a:ext cx="10820400" cy="723900"/>
          </a:xfrm>
          <a:prstGeom prst="roundRect">
            <a:avLst>
              <a:gd name="adj" fmla="val 15789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ns2:creationId id="{FF43817E-40EA-43BB-BEB3-2AA88F39CF1C}"/>
              </a:ext>
            </a:extLst>
          </p:cNvPr>
          <p:cNvSpPr>
            <a:spLocks noGrp="1"/>
          </p:cNvSpPr>
          <p:nvPr/>
        </p:nvSpPr>
        <p:spPr>
          <a:xfrm>
            <a:off x="895350" y="52387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核心比较</a:t>
            </a:r>
          </a:p>
        </p:txBody>
      </p:sp>
      <p:sp>
        <p:nvSpPr>
          <p:cNvPr id="43" name="矩形 42">
            <a:extLst>
              <a:ext uri="{FF2B5EF4-FFF2-40B4-BE49-F238E27FC236}">
                <ns2:creationId id="{FA75D656-C699-4CF0-A6F2-0D053FBD8D7D}"/>
              </a:ext>
            </a:extLst>
          </p:cNvPr>
          <p:cNvSpPr>
            <a:spLocks noGrp="1"/>
          </p:cNvSpPr>
          <p:nvPr/>
        </p:nvSpPr>
        <p:spPr>
          <a:xfrm>
            <a:off x="2362200" y="5219700"/>
            <a:ext cx="828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原图  ·  低分辨率  ·  遮挡  ·  低分辨率+遮挡  ·  恢复分辨率</a:t>
            </a:r>
          </a:p>
        </p:txBody>
      </p:sp>
      <p:sp>
        <p:nvSpPr>
          <p:cNvPr id="44" name="直接连接符 43">
            <a:extLst>
              <a:ext uri="{FF2B5EF4-FFF2-40B4-BE49-F238E27FC236}">
                <ns2:creationId id="{D169FC64-01B0-4951-A3C7-836683CE114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ns2:creationId id="{60F159AD-B46A-4CCF-A2F9-25E4925F3443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研究汇报</a:t>
            </a:r>
          </a:p>
        </p:txBody>
      </p:sp>
      <p:sp>
        <p:nvSpPr>
          <p:cNvPr id="46" name="矩形 45">
            <a:extLst>
              <a:ext uri="{FF2B5EF4-FFF2-40B4-BE49-F238E27FC236}">
                <ns2:creationId id="{2E92D64F-8274-4ACA-A59A-EA5BB50A973E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  <p:grpSp>
        <p:nvGrpSpPr>
          <p:cNvPr id="96" name="conclusion-metrics"/>
          <p:cNvGrpSpPr/>
          <p:nvPr/>
        </p:nvGrpSpPr>
        <p:grpSpPr>
          <a:xfrm>
            <a:off x="685800" y="5810250"/>
            <a:ext cx="10820400" cy="400050"/>
            <a:chOff x="685800" y="5810250"/>
            <a:chExt cx="10820400" cy="400050"/>
          </a:xfrm>
        </p:grpSpPr>
        <p:sp>
          <p:nvSpPr>
            <p:cNvPr id="94" name="Rectangle 94"/>
            <p:cNvSpPr/>
            <p:nvPr/>
          </p:nvSpPr>
          <p:spPr>
            <a:xfrm>
              <a:off x="685800" y="5810250"/>
              <a:ext cx="10820400" cy="400050"/>
            </a:xfrm>
            <a:prstGeom prst="roundRect">
              <a:avLst>
                <a:gd name="adj" fmla="val 33333"/>
              </a:avLst>
            </a:prstGeom>
            <a:solidFill>
              <a:srgbClr val="19312E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926973" y="5915025"/>
              <a:ext cx="483773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DF8"/>
                  </a:solidFill>
                  <a:latin typeface="Microsoft YaHei"/>
                  <a:ea typeface="Microsoft YaHei"/>
                  <a:cs typeface="Microsoft YaHei"/>
                </a:rPr>
                <a:t>一句话结论：先把每个任务要用大白话说分开，再选评价指标。</a:t>
              </a:r>
            </a:p>
          </p:txBody>
        </p:sp>
      </p:grpSp>
    </p:spTree>
    <p:extLst>
      <p:ext uri="{BB962C8B-B14F-4D97-AF65-F5344CB8AC3E}">
        <p14:creationId val="546804307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37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72846" y="425450"/>
            <a:ext cx="10833354" cy="936625"/>
            <a:chOff x="672846" y="425450"/>
            <a:chExt cx="10833354" cy="936625"/>
          </a:xfrm>
        </p:grpSpPr>
        <p:sp>
          <p:nvSpPr>
            <p:cNvPr id="2" name="TextBox 2"/>
            <p:cNvSpPr txBox="1"/>
            <p:nvPr/>
          </p:nvSpPr>
          <p:spPr>
            <a:xfrm>
              <a:off x="680466" y="425450"/>
              <a:ext cx="1015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25A · 模型运行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846" y="749300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四个模型已经在处理台输出上运行</a:t>
              </a:r>
            </a:p>
          </p:txBody>
        </p:sp>
        <p:sp>
          <p:nvSpPr>
            <p:cNvPr id="4" name="Freeform 4"/>
            <p:cNvSpPr/>
            <p:nvPr/>
          </p:nvSpPr>
          <p:spPr>
            <a:xfrm>
              <a:off x="685800" y="1352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7DED8"/>
              </a:solidFill>
            </a:ln>
          </p:spPr>
        </p:sp>
      </p:grpSp>
      <p:grpSp>
        <p:nvGrpSpPr>
          <p:cNvPr id="10" name="model-1"/>
          <p:cNvGrpSpPr/>
          <p:nvPr/>
        </p:nvGrpSpPr>
        <p:grpSpPr>
          <a:xfrm>
            <a:off x="685800" y="1676400"/>
            <a:ext cx="5048250" cy="1428750"/>
            <a:chOff x="685800" y="1676400"/>
            <a:chExt cx="5048250" cy="142875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5048250" cy="1428750"/>
            </a:xfrm>
            <a:prstGeom prst="roundRect">
              <a:avLst>
                <a:gd name="adj" fmla="val 12000"/>
              </a:avLst>
            </a:prstGeom>
            <a:solidFill>
              <a:srgbClr val="FFFDF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3737" y="1879600"/>
              <a:ext cx="271841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YOLO11n：找出人和物体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5642" y="2292350"/>
              <a:ext cx="21164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6 条记录 · 24 个条件输出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6023" y="2667000"/>
              <a:ext cx="226164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输出框数量：原图平均 13.83</a:t>
              </a:r>
            </a:p>
          </p:txBody>
        </p:sp>
      </p:grpSp>
      <p:grpSp>
        <p:nvGrpSpPr>
          <p:cNvPr id="15" name="model-2"/>
          <p:cNvGrpSpPr/>
          <p:nvPr/>
        </p:nvGrpSpPr>
        <p:grpSpPr>
          <a:xfrm>
            <a:off x="6457950" y="1676400"/>
            <a:ext cx="5048250" cy="1428750"/>
            <a:chOff x="6457950" y="1676400"/>
            <a:chExt cx="5048250" cy="1428750"/>
          </a:xfrm>
        </p:grpSpPr>
        <p:sp>
          <p:nvSpPr>
            <p:cNvPr id="11" name="Rectangle 11"/>
            <p:cNvSpPr/>
            <p:nvPr/>
          </p:nvSpPr>
          <p:spPr>
            <a:xfrm>
              <a:off x="6457950" y="1676400"/>
              <a:ext cx="5048250" cy="1428750"/>
            </a:xfrm>
            <a:prstGeom prst="roundRect">
              <a:avLst>
                <a:gd name="adj" fmla="val 12000"/>
              </a:avLst>
            </a:prstGeom>
            <a:solidFill>
              <a:srgbClr val="FFFDF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15887" y="1879600"/>
              <a:ext cx="385682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YOLO11n-Pose：找肩、肘、腕等点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17792" y="2292350"/>
              <a:ext cx="20864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姿态实例：10.83 → 6.67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18173" y="2667000"/>
              <a:ext cx="190840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姿态实例平均数明显下降</a:t>
              </a:r>
            </a:p>
          </p:txBody>
        </p:sp>
      </p:grpSp>
      <p:grpSp>
        <p:nvGrpSpPr>
          <p:cNvPr id="20" name="model-3"/>
          <p:cNvGrpSpPr/>
          <p:nvPr/>
        </p:nvGrpSpPr>
        <p:grpSpPr>
          <a:xfrm>
            <a:off x="685800" y="3333750"/>
            <a:ext cx="5048250" cy="1428750"/>
            <a:chOff x="685800" y="3333750"/>
            <a:chExt cx="5048250" cy="1428750"/>
          </a:xfrm>
        </p:grpSpPr>
        <p:sp>
          <p:nvSpPr>
            <p:cNvPr id="16" name="Rectangle 16"/>
            <p:cNvSpPr/>
            <p:nvPr/>
          </p:nvSpPr>
          <p:spPr>
            <a:xfrm>
              <a:off x="685800" y="3333750"/>
              <a:ext cx="5048250" cy="1428750"/>
            </a:xfrm>
            <a:prstGeom prst="roundRect">
              <a:avLst>
                <a:gd name="adj" fmla="val 12000"/>
              </a:avLst>
            </a:prstGeom>
            <a:solidFill>
              <a:srgbClr val="FFFD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3737" y="3536950"/>
              <a:ext cx="360457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RT-DETR-L：另一种找目标的方法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3949700"/>
              <a:ext cx="26779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原图 63.67 → 1/4 分辨率 45.83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4324350"/>
              <a:ext cx="173609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通用检测输出数量下降</a:t>
              </a:r>
            </a:p>
          </p:txBody>
        </p:sp>
      </p:grpSp>
      <p:grpSp>
        <p:nvGrpSpPr>
          <p:cNvPr id="25" name="model-4"/>
          <p:cNvGrpSpPr/>
          <p:nvPr/>
        </p:nvGrpSpPr>
        <p:grpSpPr>
          <a:xfrm>
            <a:off x="6457950" y="3333750"/>
            <a:ext cx="5048250" cy="1428750"/>
            <a:chOff x="6457950" y="3333750"/>
            <a:chExt cx="5048250" cy="1428750"/>
          </a:xfrm>
        </p:grpSpPr>
        <p:sp>
          <p:nvSpPr>
            <p:cNvPr id="21" name="Rectangle 21"/>
            <p:cNvSpPr/>
            <p:nvPr/>
          </p:nvSpPr>
          <p:spPr>
            <a:xfrm>
              <a:off x="6457950" y="3333750"/>
              <a:ext cx="5048250" cy="1428750"/>
            </a:xfrm>
            <a:prstGeom prst="roundRect">
              <a:avLst>
                <a:gd name="adj" fmla="val 12000"/>
              </a:avLst>
            </a:prstGeom>
            <a:solidFill>
              <a:srgbClr val="FFFDF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15887" y="3536950"/>
              <a:ext cx="264640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DAiSEE：投入度参考模型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17792" y="3949700"/>
              <a:ext cx="1792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85B4A"/>
                  </a:solidFill>
                  <a:latin typeface="Microsoft YaHei"/>
                  <a:ea typeface="Microsoft YaHei"/>
                  <a:cs typeface="Microsoft YaHei"/>
                </a:rPr>
                <a:t>所有条件预测均值 = 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18173" y="4324350"/>
              <a:ext cx="190840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训练场景与课堂场景不同</a:t>
              </a:r>
            </a:p>
          </p:txBody>
        </p:sp>
      </p:grpSp>
      <p:grpSp>
        <p:nvGrpSpPr>
          <p:cNvPr id="27" name="model-note"/>
          <p:cNvGrpSpPr/>
          <p:nvPr/>
        </p:nvGrpSpPr>
        <p:grpSpPr>
          <a:xfrm>
            <a:off x="678942" y="5359400"/>
            <a:ext cx="6252953" cy="264033"/>
            <a:chOff x="678942" y="5359400"/>
            <a:chExt cx="6252953" cy="264033"/>
          </a:xfrm>
        </p:grpSpPr>
        <p:sp>
          <p:nvSpPr>
            <p:cNvPr id="26" name="TextBox 26"/>
            <p:cNvSpPr txBox="1"/>
            <p:nvPr/>
          </p:nvSpPr>
          <p:spPr>
            <a:xfrm>
              <a:off x="678942" y="5359400"/>
              <a:ext cx="62529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这里先看模型输出有没有变化；没有真实答案对照，不能叫“准确率”或 mAP。</a:t>
              </a:r>
            </a:p>
          </p:txBody>
        </p:sp>
      </p:grpSp>
      <p:grpSp>
        <p:nvGrpSpPr>
          <p:cNvPr id="30" name="conclusion-models"/>
          <p:cNvGrpSpPr/>
          <p:nvPr/>
        </p:nvGrpSpPr>
        <p:grpSpPr>
          <a:xfrm>
            <a:off x="685800" y="5905500"/>
            <a:ext cx="10820400" cy="400050"/>
            <a:chOff x="685800" y="5905500"/>
            <a:chExt cx="10820400" cy="400050"/>
          </a:xfrm>
        </p:grpSpPr>
        <p:sp>
          <p:nvSpPr>
            <p:cNvPr id="28" name="Rectangle 28"/>
            <p:cNvSpPr/>
            <p:nvPr/>
          </p:nvSpPr>
          <p:spPr>
            <a:xfrm>
              <a:off x="685800" y="5905500"/>
              <a:ext cx="10820400" cy="400050"/>
            </a:xfrm>
            <a:prstGeom prst="roundRect">
              <a:avLst>
                <a:gd name="adj" fmla="val 33333"/>
              </a:avLst>
            </a:prstGeom>
            <a:solidFill>
              <a:srgbClr val="19312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6973" y="6010275"/>
              <a:ext cx="53546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DF8"/>
                  </a:solidFill>
                  <a:latin typeface="Microsoft YaHei"/>
                  <a:ea typeface="Microsoft YaHei"/>
                  <a:cs typeface="Microsoft YaHei"/>
                </a:rPr>
                <a:t>一句话结论：低分辨率主要减少姿态关键点输出，通用检测也会变化。</a:t>
              </a:r>
            </a:p>
          </p:txBody>
        </p:sp>
      </p:grpSp>
    </p:spTree>
    <p:extLst>
      <p:ext uri="{BB962C8B-B14F-4D97-AF65-F5344CB8AC3E}">
        <p14:creationId val="546804307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38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72846" y="425450"/>
            <a:ext cx="10833354" cy="936625"/>
            <a:chOff x="672846" y="425450"/>
            <a:chExt cx="10833354" cy="936625"/>
          </a:xfrm>
        </p:grpSpPr>
        <p:sp>
          <p:nvSpPr>
            <p:cNvPr id="2" name="TextBox 2"/>
            <p:cNvSpPr txBox="1"/>
            <p:nvPr/>
          </p:nvSpPr>
          <p:spPr>
            <a:xfrm>
              <a:off x="680466" y="425450"/>
              <a:ext cx="1015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25B · 条件对比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846" y="749300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低分辨率和遮挡改变了模型输出</a:t>
              </a:r>
            </a:p>
          </p:txBody>
        </p:sp>
        <p:sp>
          <p:nvSpPr>
            <p:cNvPr id="4" name="Freeform 4"/>
            <p:cNvSpPr/>
            <p:nvPr/>
          </p:nvSpPr>
          <p:spPr>
            <a:xfrm>
              <a:off x="685800" y="1352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7DED8"/>
              </a:solidFill>
            </a:ln>
          </p:spPr>
        </p:sp>
      </p:grpSp>
      <p:grpSp>
        <p:nvGrpSpPr>
          <p:cNvPr id="8" name="chart-1"/>
          <p:cNvGrpSpPr/>
          <p:nvPr/>
        </p:nvGrpSpPr>
        <p:grpSpPr>
          <a:xfrm>
            <a:off x="685800" y="1619250"/>
            <a:ext cx="7239000" cy="4095750"/>
            <a:chOff x="685800" y="1619250"/>
            <a:chExt cx="7239000" cy="4095750"/>
          </a:xfrm>
        </p:grpSpPr>
        <p:sp>
          <p:nvSpPr>
            <p:cNvPr id="6" name="Rectangle 6"/>
            <p:cNvSpPr/>
            <p:nvPr/>
          </p:nvSpPr>
          <p:spPr>
            <a:xfrm>
              <a:off x="685800" y="1619250"/>
              <a:ext cx="7239000" cy="4095750"/>
            </a:xfrm>
            <a:prstGeom prst="roundRect">
              <a:avLst>
                <a:gd name="adj" fmla="val 4186"/>
              </a:avLst>
            </a:prstGeom>
            <a:solidFill>
              <a:srgbClr val="FFFDF8"/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6300" y="1971889"/>
              <a:ext cx="6858000" cy="3390472"/>
            </a:xfrm>
            <a:prstGeom prst="rect">
              <a:avLst/>
            </a:prstGeom>
          </p:spPr>
        </p:pic>
      </p:grpSp>
      <p:grpSp>
        <p:nvGrpSpPr>
          <p:cNvPr id="17" name="chart-2"/>
          <p:cNvGrpSpPr/>
          <p:nvPr/>
        </p:nvGrpSpPr>
        <p:grpSpPr>
          <a:xfrm>
            <a:off x="8191500" y="1809750"/>
            <a:ext cx="3314700" cy="3429000"/>
            <a:chOff x="8191500" y="1809750"/>
            <a:chExt cx="3314700" cy="3429000"/>
          </a:xfrm>
        </p:grpSpPr>
        <p:sp>
          <p:nvSpPr>
            <p:cNvPr id="9" name="Rectangle 9"/>
            <p:cNvSpPr/>
            <p:nvPr/>
          </p:nvSpPr>
          <p:spPr>
            <a:xfrm>
              <a:off x="8191500" y="1809750"/>
              <a:ext cx="3314700" cy="3429000"/>
            </a:xfrm>
            <a:prstGeom prst="roundRect">
              <a:avLst>
                <a:gd name="adj" fmla="val 5172"/>
              </a:avLst>
            </a:prstGeom>
            <a:solidFill>
              <a:srgbClr val="19312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87918" y="2063750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DF8"/>
                  </a:solidFill>
                  <a:latin typeface="Microsoft YaHei"/>
                  <a:ea typeface="Microsoft YaHei"/>
                  <a:cs typeface="Microsoft YaHei"/>
                </a:rPr>
                <a:t>读图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89442" y="255905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CEBE6"/>
                  </a:solidFill>
                  <a:latin typeface="Microsoft YaHei"/>
                  <a:ea typeface="Microsoft YaHei"/>
                  <a:cs typeface="Microsoft YaHei"/>
                </a:rPr>
                <a:t>姿态实例：低分辨率后明显减少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85632" y="2889250"/>
              <a:ext cx="18320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FFBA69"/>
                  </a:solidFill>
                  <a:latin typeface="Microsoft YaHei"/>
                  <a:ea typeface="Microsoft YaHei"/>
                  <a:cs typeface="Microsoft YaHei"/>
                </a:rPr>
                <a:t>10.83 → 6.67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89442" y="351155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CEBE6"/>
                  </a:solidFill>
                  <a:latin typeface="Microsoft YaHei"/>
                  <a:ea typeface="Microsoft YaHei"/>
                  <a:cs typeface="Microsoft YaHei"/>
                </a:rPr>
                <a:t>另一种检测模型输出框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85632" y="3841750"/>
              <a:ext cx="199530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8CC8FF"/>
                  </a:solidFill>
                  <a:latin typeface="Microsoft YaHei"/>
                  <a:ea typeface="Microsoft YaHei"/>
                  <a:cs typeface="Microsoft YaHei"/>
                </a:rPr>
                <a:t>63.67 → 45.83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89823" y="4476750"/>
              <a:ext cx="278720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DCEBE6"/>
                  </a:solidFill>
                  <a:latin typeface="Microsoft YaHei"/>
                  <a:ea typeface="Microsoft YaHei"/>
                  <a:cs typeface="Microsoft YaHei"/>
                </a:rPr>
                <a:t>框变多/变少，不等于模型变准/变差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89823" y="4762500"/>
              <a:ext cx="259765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DCEBE6"/>
                  </a:solidFill>
                  <a:latin typeface="Microsoft YaHei"/>
                  <a:ea typeface="Microsoft YaHei"/>
                  <a:cs typeface="Microsoft YaHei"/>
                </a:rPr>
                <a:t>要算准确率，必须有人工正确答案</a:t>
              </a:r>
            </a:p>
          </p:txBody>
        </p:sp>
      </p:grpSp>
      <p:grpSp>
        <p:nvGrpSpPr>
          <p:cNvPr id="20" name="conclusion-chart"/>
          <p:cNvGrpSpPr/>
          <p:nvPr/>
        </p:nvGrpSpPr>
        <p:grpSpPr>
          <a:xfrm>
            <a:off x="685800" y="5476875"/>
            <a:ext cx="10820400" cy="400050"/>
            <a:chOff x="685800" y="5476875"/>
            <a:chExt cx="10820400" cy="400050"/>
          </a:xfrm>
        </p:grpSpPr>
        <p:sp>
          <p:nvSpPr>
            <p:cNvPr id="18" name="Rectangle 18"/>
            <p:cNvSpPr/>
            <p:nvPr/>
          </p:nvSpPr>
          <p:spPr>
            <a:xfrm>
              <a:off x="685800" y="5476875"/>
              <a:ext cx="10820400" cy="400050"/>
            </a:xfrm>
            <a:prstGeom prst="roundRect">
              <a:avLst>
                <a:gd name="adj" fmla="val 33333"/>
              </a:avLst>
            </a:prstGeom>
            <a:solidFill>
              <a:srgbClr val="19312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6973" y="5581650"/>
              <a:ext cx="432079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DF8"/>
                  </a:solidFill>
                  <a:latin typeface="Microsoft YaHei"/>
                  <a:ea typeface="Microsoft YaHei"/>
                  <a:cs typeface="Microsoft YaHei"/>
                </a:rPr>
                <a:t>一句话结论：本次最明显的退化发生在姿态关键点数量。</a:t>
              </a:r>
            </a:p>
          </p:txBody>
        </p:sp>
      </p:grpSp>
    </p:spTree>
    <p:extLst>
      <p:ext uri="{BB962C8B-B14F-4D97-AF65-F5344CB8AC3E}">
        <p14:creationId val="546804307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39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72846" y="425450"/>
            <a:ext cx="10833354" cy="936625"/>
            <a:chOff x="672846" y="425450"/>
            <a:chExt cx="10833354" cy="936625"/>
          </a:xfrm>
        </p:grpSpPr>
        <p:sp>
          <p:nvSpPr>
            <p:cNvPr id="2" name="TextBox 2"/>
            <p:cNvSpPr txBox="1"/>
            <p:nvPr/>
          </p:nvSpPr>
          <p:spPr>
            <a:xfrm>
              <a:off x="680466" y="425450"/>
              <a:ext cx="1015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25C · 结果解释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846" y="749300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投入度基线的结果与边界</a:t>
              </a:r>
            </a:p>
          </p:txBody>
        </p:sp>
        <p:sp>
          <p:nvSpPr>
            <p:cNvPr id="4" name="Freeform 4"/>
            <p:cNvSpPr/>
            <p:nvPr/>
          </p:nvSpPr>
          <p:spPr>
            <a:xfrm>
              <a:off x="685800" y="1352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7DED8"/>
              </a:solidFill>
            </a:ln>
          </p:spPr>
        </p:sp>
      </p:grpSp>
      <p:grpSp>
        <p:nvGrpSpPr>
          <p:cNvPr id="8" name="eng-1"/>
          <p:cNvGrpSpPr/>
          <p:nvPr/>
        </p:nvGrpSpPr>
        <p:grpSpPr>
          <a:xfrm>
            <a:off x="685800" y="1619250"/>
            <a:ext cx="5905500" cy="3905250"/>
            <a:chOff x="685800" y="1619250"/>
            <a:chExt cx="5905500" cy="3905250"/>
          </a:xfrm>
        </p:grpSpPr>
        <p:sp>
          <p:nvSpPr>
            <p:cNvPr id="6" name="Rectangle 6"/>
            <p:cNvSpPr/>
            <p:nvPr/>
          </p:nvSpPr>
          <p:spPr>
            <a:xfrm>
              <a:off x="685800" y="1619250"/>
              <a:ext cx="5905500" cy="3905250"/>
            </a:xfrm>
            <a:prstGeom prst="roundRect">
              <a:avLst>
                <a:gd name="adj" fmla="val 4390"/>
              </a:avLst>
            </a:prstGeom>
            <a:solidFill>
              <a:srgbClr val="FFFDF8"/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2771" y="1809750"/>
              <a:ext cx="5331558" cy="3524250"/>
            </a:xfrm>
            <a:prstGeom prst="rect">
              <a:avLst/>
            </a:prstGeom>
          </p:spPr>
        </p:pic>
      </p:grpSp>
      <p:grpSp>
        <p:nvGrpSpPr>
          <p:cNvPr id="17" name="eng-2"/>
          <p:cNvGrpSpPr/>
          <p:nvPr/>
        </p:nvGrpSpPr>
        <p:grpSpPr>
          <a:xfrm>
            <a:off x="7067550" y="1809750"/>
            <a:ext cx="4438650" cy="3333750"/>
            <a:chOff x="7067550" y="1809750"/>
            <a:chExt cx="4438650" cy="3333750"/>
          </a:xfrm>
        </p:grpSpPr>
        <p:sp>
          <p:nvSpPr>
            <p:cNvPr id="9" name="Rectangle 9"/>
            <p:cNvSpPr/>
            <p:nvPr/>
          </p:nvSpPr>
          <p:spPr>
            <a:xfrm>
              <a:off x="7067550" y="1809750"/>
              <a:ext cx="4438650" cy="3333750"/>
            </a:xfrm>
            <a:prstGeom prst="roundRect">
              <a:avLst>
                <a:gd name="adj" fmla="val 5143"/>
              </a:avLst>
            </a:prstGeom>
            <a:solidFill>
              <a:srgbClr val="E5E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363968" y="2044700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为什么不能直接下结论？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65492" y="2540000"/>
              <a:ext cx="27775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DAiSEE 投入度验证集前 20 个视频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360920" y="2768600"/>
              <a:ext cx="408316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C85B4A"/>
                  </a:solidFill>
                  <a:latin typeface="Microsoft YaHei"/>
                  <a:ea typeface="Microsoft YaHei"/>
                  <a:cs typeface="Microsoft YaHei"/>
                </a:rPr>
                <a:t>答对率 30% · 平均差 1.20 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65873" y="3409950"/>
              <a:ext cx="328691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放到课堂图片上时，模型全部判成同一类；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65873" y="3695700"/>
              <a:ext cx="330414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所以这组结果只作为“先跑通”的参考起点。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365873" y="4152900"/>
              <a:ext cx="322660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遮挡：5% / 1.85级 · 1/4：10% / 1.85级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65873" y="4438650"/>
              <a:ext cx="239088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组合：0% / 2.15级 · 参考起点</a:t>
              </a:r>
            </a:p>
          </p:txBody>
        </p:sp>
      </p:grpSp>
      <p:grpSp>
        <p:nvGrpSpPr>
          <p:cNvPr id="20" name="conclusion-engagement"/>
          <p:cNvGrpSpPr/>
          <p:nvPr/>
        </p:nvGrpSpPr>
        <p:grpSpPr>
          <a:xfrm>
            <a:off x="685800" y="5000625"/>
            <a:ext cx="10820400" cy="400050"/>
            <a:chOff x="685800" y="5000625"/>
            <a:chExt cx="10820400" cy="400050"/>
          </a:xfrm>
        </p:grpSpPr>
        <p:sp>
          <p:nvSpPr>
            <p:cNvPr id="18" name="Rectangle 18"/>
            <p:cNvSpPr/>
            <p:nvPr/>
          </p:nvSpPr>
          <p:spPr>
            <a:xfrm>
              <a:off x="685800" y="5000625"/>
              <a:ext cx="10820400" cy="400050"/>
            </a:xfrm>
            <a:prstGeom prst="roundRect">
              <a:avLst>
                <a:gd name="adj" fmla="val 33333"/>
              </a:avLst>
            </a:prstGeom>
            <a:solidFill>
              <a:srgbClr val="E5E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6973" y="5105400"/>
              <a:ext cx="414848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一句话结论：公开投入度模型换到课堂场景后会失配。</a:t>
              </a:r>
            </a:p>
          </p:txBody>
        </p:sp>
      </p:grpSp>
    </p:spTree>
    <p:extLst>
      <p:ext uri="{BB962C8B-B14F-4D97-AF65-F5344CB8AC3E}">
        <p14:creationId val="546804307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40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72846" y="374650"/>
            <a:ext cx="10833354" cy="987425"/>
            <a:chOff x="672846" y="374650"/>
            <a:chExt cx="10833354" cy="987425"/>
          </a:xfrm>
        </p:grpSpPr>
        <p:sp>
          <p:nvSpPr>
            <p:cNvPr id="2" name="TextBox 2"/>
            <p:cNvSpPr txBox="1"/>
            <p:nvPr/>
          </p:nvSpPr>
          <p:spPr>
            <a:xfrm>
              <a:off x="678180" y="374650"/>
              <a:ext cx="14203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25D · 一页看懂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846" y="749300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这些英文到底在问什么？</a:t>
              </a:r>
            </a:p>
          </p:txBody>
        </p:sp>
        <p:sp>
          <p:nvSpPr>
            <p:cNvPr id="4" name="Freeform 4"/>
            <p:cNvSpPr/>
            <p:nvPr/>
          </p:nvSpPr>
          <p:spPr>
            <a:xfrm>
              <a:off x="685800" y="1352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7DED8"/>
              </a:solidFill>
            </a:ln>
          </p:spPr>
        </p:sp>
      </p:grpSp>
      <p:grpSp>
        <p:nvGrpSpPr>
          <p:cNvPr id="16" name="glossary-find"/>
          <p:cNvGrpSpPr/>
          <p:nvPr/>
        </p:nvGrpSpPr>
        <p:grpSpPr>
          <a:xfrm>
            <a:off x="685800" y="1676400"/>
            <a:ext cx="3333750" cy="3733800"/>
            <a:chOff x="685800" y="1676400"/>
            <a:chExt cx="3333750" cy="373380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3333750" cy="3733800"/>
            </a:xfrm>
            <a:prstGeom prst="roundRect">
              <a:avLst>
                <a:gd name="adj" fmla="val 5143"/>
              </a:avLst>
            </a:prstGeom>
            <a:solidFill>
              <a:srgbClr val="FFFDF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1456" y="191770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一、找没找到？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3361" y="2413000"/>
              <a:ext cx="18596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Accuracy（答对率）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84123" y="2743200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整体答对了多少。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3361" y="3175000"/>
              <a:ext cx="18690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Precision（报真率）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4123" y="3505200"/>
              <a:ext cx="242534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报出来的目标，有多少是真的。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3361" y="3937000"/>
              <a:ext cx="15375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Recall（找全率）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4123" y="4267200"/>
              <a:ext cx="225303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真实目标，有多少被找到了。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3361" y="4775200"/>
              <a:ext cx="17379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D27A55"/>
                  </a:solidFill>
                  <a:latin typeface="Microsoft YaHei"/>
                  <a:ea typeface="Microsoft YaHei"/>
                  <a:cs typeface="Microsoft YaHei"/>
                </a:rPr>
                <a:t>mAP（框得准不准）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4123" y="5105400"/>
              <a:ext cx="190840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综合看类别和框的位置。</a:t>
              </a:r>
            </a:p>
          </p:txBody>
        </p:sp>
      </p:grpSp>
      <p:grpSp>
        <p:nvGrpSpPr>
          <p:cNvPr id="27" name="glossary-pose"/>
          <p:cNvGrpSpPr/>
          <p:nvPr/>
        </p:nvGrpSpPr>
        <p:grpSpPr>
          <a:xfrm>
            <a:off x="4429125" y="1676400"/>
            <a:ext cx="3333750" cy="3733800"/>
            <a:chOff x="4429125" y="1676400"/>
            <a:chExt cx="3333750" cy="3733800"/>
          </a:xfrm>
        </p:grpSpPr>
        <p:sp>
          <p:nvSpPr>
            <p:cNvPr id="17" name="Rectangle 17"/>
            <p:cNvSpPr/>
            <p:nvPr/>
          </p:nvSpPr>
          <p:spPr>
            <a:xfrm>
              <a:off x="4429125" y="1676400"/>
              <a:ext cx="3333750" cy="3733800"/>
            </a:xfrm>
            <a:prstGeom prst="roundRect">
              <a:avLst>
                <a:gd name="adj" fmla="val 5143"/>
              </a:avLst>
            </a:prstGeom>
            <a:solidFill>
              <a:srgbClr val="E5E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724781" y="191770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二、点准不准？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26686" y="2413000"/>
              <a:ext cx="17025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PCK（点够不够近）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27448" y="2743200"/>
              <a:ext cx="242534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肩、肘、腕离正确位置近不近。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26686" y="3175000"/>
              <a:ext cx="19361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OKS（按人体大小看）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27448" y="3505200"/>
              <a:ext cx="294228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同样的偏差，对大人和小人区别对待。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26686" y="3937000"/>
              <a:ext cx="21367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IDF1 / HOTA（跟住没）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27448" y="4267200"/>
              <a:ext cx="208071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视频前后是不是同一个人。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726686" y="4775200"/>
              <a:ext cx="16810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D27A55"/>
                  </a:solidFill>
                  <a:latin typeface="Microsoft YaHei"/>
                  <a:ea typeface="Microsoft YaHei"/>
                  <a:cs typeface="Microsoft YaHei"/>
                </a:rPr>
                <a:t>ID Switch（换号）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27448" y="5105400"/>
              <a:ext cx="242534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把甲同学错认成乙同学的次数。</a:t>
              </a:r>
            </a:p>
          </p:txBody>
        </p:sp>
      </p:grpSp>
      <p:grpSp>
        <p:nvGrpSpPr>
          <p:cNvPr id="38" name="glossary-data"/>
          <p:cNvGrpSpPr/>
          <p:nvPr/>
        </p:nvGrpSpPr>
        <p:grpSpPr>
          <a:xfrm>
            <a:off x="8172450" y="1676400"/>
            <a:ext cx="3333750" cy="3733800"/>
            <a:chOff x="8172450" y="1676400"/>
            <a:chExt cx="3333750" cy="3733800"/>
          </a:xfrm>
        </p:grpSpPr>
        <p:sp>
          <p:nvSpPr>
            <p:cNvPr id="28" name="Rectangle 28"/>
            <p:cNvSpPr/>
            <p:nvPr/>
          </p:nvSpPr>
          <p:spPr>
            <a:xfrm>
              <a:off x="8172450" y="1676400"/>
              <a:ext cx="3333750" cy="3733800"/>
            </a:xfrm>
            <a:prstGeom prst="roundRect">
              <a:avLst>
                <a:gd name="adj" fmla="val 5143"/>
              </a:avLst>
            </a:prstGeom>
            <a:solidFill>
              <a:srgbClr val="FFFDF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68106" y="191770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三、论文怎么做？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70011" y="2413000"/>
              <a:ext cx="18830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ROI（只看选中的人）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70773" y="2743200"/>
              <a:ext cx="225303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手动画框，单独分析一个人。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70011" y="3175000"/>
              <a:ext cx="19040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LOSO（留一人测试）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70773" y="3505200"/>
              <a:ext cx="259765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训练时不看这个人，专测新的人。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70011" y="3937000"/>
              <a:ext cx="22654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MIL（整段视频一个标签）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70773" y="4267200"/>
              <a:ext cx="242534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先看片段，再汇总成整段结果。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70011" y="4775200"/>
              <a:ext cx="28336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D27A55"/>
                  </a:solidFill>
                  <a:latin typeface="Microsoft YaHei"/>
                  <a:ea typeface="Microsoft YaHei"/>
                  <a:cs typeface="Microsoft YaHei"/>
                </a:rPr>
                <a:t>Super-resolution（低清增强）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70773" y="5105400"/>
              <a:ext cx="210656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小图放大 ≠ 找回真实细节。</a:t>
              </a:r>
            </a:p>
          </p:txBody>
        </p:sp>
      </p:grpSp>
      <p:grpSp>
        <p:nvGrpSpPr>
          <p:cNvPr id="41" name="glossary-tip"/>
          <p:cNvGrpSpPr/>
          <p:nvPr/>
        </p:nvGrpSpPr>
        <p:grpSpPr>
          <a:xfrm>
            <a:off x="685800" y="5715000"/>
            <a:ext cx="10820400" cy="514350"/>
            <a:chOff x="685800" y="5715000"/>
            <a:chExt cx="10820400" cy="514350"/>
          </a:xfrm>
        </p:grpSpPr>
        <p:sp>
          <p:nvSpPr>
            <p:cNvPr id="39" name="Rectangle 39"/>
            <p:cNvSpPr/>
            <p:nvPr/>
          </p:nvSpPr>
          <p:spPr>
            <a:xfrm>
              <a:off x="685800" y="5715000"/>
              <a:ext cx="10820400" cy="514350"/>
            </a:xfrm>
            <a:prstGeom prst="roundRect">
              <a:avLst>
                <a:gd name="adj" fmla="val 33333"/>
              </a:avLst>
            </a:prstGeom>
            <a:solidFill>
              <a:srgbClr val="19312E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83361" y="5861050"/>
              <a:ext cx="69258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DF8"/>
                  </a:solidFill>
                  <a:latin typeface="Microsoft YaHei"/>
                  <a:ea typeface="Microsoft YaHei"/>
                  <a:cs typeface="Microsoft YaHei"/>
                </a:rPr>
                <a:t>汇报时先说中文，再补英文：观众只需听懂“找没找到、点准不准、有没有跟丢”。</a:t>
              </a:r>
            </a:p>
          </p:txBody>
        </p:sp>
      </p:grpSp>
    </p:spTree>
    <p:extLst>
      <p:ext uri="{BB962C8B-B14F-4D97-AF65-F5344CB8AC3E}">
        <p14:creationId val="546804307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41.xml><?xml version="1.0" encoding="utf-8"?>
<p:sld xmlns:a="http://schemas.openxmlformats.org/drawingml/2006/main" xmlns:mc="http://schemas.openxmlformats.org/markup-compatibility/2006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ns2:creationId id="{6B25005F-D488-44CC-BF8C-6B3D316DD1B3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把论文里的研究条件翻译成实验设置</a:t>
            </a:r>
          </a:p>
        </p:txBody>
      </p:sp>
      <p:sp>
        <p:nvSpPr>
          <p:cNvPr id="2" name="矩形 1">
            <a:extLst>
              <a:ext uri="{FF2B5EF4-FFF2-40B4-BE49-F238E27FC236}">
                <ns2:creationId id="{B6793E8F-2264-4694-BAD1-E4428BDDECBC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26</a:t>
            </a:r>
          </a:p>
        </p:txBody>
      </p:sp>
      <p:sp>
        <p:nvSpPr>
          <p:cNvPr id="3" name="矩形 2"/>
          <p:cNvSpPr/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-25400" rIns="0" bIns="0" anchor="t" anchorCtr="0">
            <a:noAutofit/>
          </a:bodyPr>
          <a:lstStyle/>
          <a:p>
            <a:pPr algn="l"/>
            <a:r>
              <a:rPr lang="zh-CN" sz="2550" b="1" dirty="0">
                <a:solidFill>
                  <a:srgbClr val="19312E"/>
                </a:solidFill>
                <a:latin typeface="SimSun"/>
                <a:ea typeface="SimSun"/>
                <a:cs typeface="SimSun"/>
              </a:rPr>
              <a:t>论文里的英文：先翻译成大白话（1）</a:t>
            </a:r>
          </a:p>
        </p:txBody>
      </p:sp>
      <p:sp>
        <p:nvSpPr>
          <p:cNvPr id="4" name="直接连接符 3">
            <a:extLst>
              <a:ext uri="{FF2B5EF4-FFF2-40B4-BE49-F238E27FC236}">
                <ns2:creationId id="{A426A68B-A1B2-43FF-946D-7C0EAF87F5AA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ns2:creationId id="{10396A1E-7CF2-462D-AF04-19AC837CDE2E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95350" y="183832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面部动作编号（FACS / AU）</a:t>
            </a:r>
          </a:p>
        </p:txBody>
      </p:sp>
      <p:sp>
        <p:nvSpPr>
          <p:cNvPr id="7" name="矩形 6">
            <a:extLst>
              <a:ext uri="{FF2B5EF4-FFF2-40B4-BE49-F238E27FC236}">
                <ns2:creationId id="{05BABCAD-238B-4A3D-A661-43AC58DE1453}"/>
              </a:ext>
            </a:extLst>
          </p:cNvPr>
          <p:cNvSpPr>
            <a:spLocks noGrp="1"/>
          </p:cNvSpPr>
          <p:nvPr/>
        </p:nvSpPr>
        <p:spPr>
          <a:xfrm>
            <a:off x="3238500" y="1800225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面部动作编码系统 / 面部动作单元，用来描述眉毛、嘴角、眼睑等肌肉动作。</a:t>
            </a:r>
          </a:p>
        </p:txBody>
      </p:sp>
      <p:sp>
        <p:nvSpPr>
          <p:cNvPr id="8" name="矩形: 圆角 7">
            <a:extLst>
              <a:ext uri="{FF2B5EF4-FFF2-40B4-BE49-F238E27FC236}">
                <ns2:creationId id="{7F32E6DE-7426-440D-B141-FDAEFEF3ECEA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95350" y="250507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留一人测试（LOSO）</a:t>
            </a:r>
          </a:p>
        </p:txBody>
      </p:sp>
      <p:sp>
        <p:nvSpPr>
          <p:cNvPr id="10" name="矩形 9">
            <a:extLst>
              <a:ext uri="{FF2B5EF4-FFF2-40B4-BE49-F238E27FC236}">
                <ns2:creationId id="{7ADACB6F-3C47-4893-A73E-AD3707C1466D}"/>
              </a:ext>
            </a:extLst>
          </p:cNvPr>
          <p:cNvSpPr>
            <a:spLocks noGrp="1"/>
          </p:cNvSpPr>
          <p:nvPr/>
        </p:nvSpPr>
        <p:spPr>
          <a:xfrm>
            <a:off x="3238500" y="2466975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Leave-One-Subject-Out：每次把一个人完全留作测试集，检验模型能否识别新的人。</a:t>
            </a:r>
          </a:p>
        </p:txBody>
      </p:sp>
      <p:sp>
        <p:nvSpPr>
          <p:cNvPr id="11" name="矩形: 圆角 10">
            <a:extLst>
              <a:ext uri="{FF2B5EF4-FFF2-40B4-BE49-F238E27FC236}">
                <ns2:creationId id="{F65C0B02-C21B-4DFB-A756-EAA9CBCF412F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95350" y="317182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不重复人物（新人测试）</a:t>
            </a:r>
          </a:p>
        </p:txBody>
      </p:sp>
      <p:sp>
        <p:nvSpPr>
          <p:cNvPr id="13" name="矩形 12">
            <a:extLst>
              <a:ext uri="{FF2B5EF4-FFF2-40B4-BE49-F238E27FC236}">
                <ns2:creationId id="{E1284417-C482-4AFC-BB0D-E1737697186E}"/>
              </a:ext>
            </a:extLst>
          </p:cNvPr>
          <p:cNvSpPr>
            <a:spLocks noGrp="1"/>
          </p:cNvSpPr>
          <p:nvPr/>
        </p:nvSpPr>
        <p:spPr>
          <a:xfrm>
            <a:off x="3238500" y="3133725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训练集和测试集不包含同一个人的视频，避免模型记住人的脸而不是学会任务。</a:t>
            </a:r>
          </a:p>
        </p:txBody>
      </p:sp>
      <p:sp>
        <p:nvSpPr>
          <p:cNvPr id="14" name="矩形: 圆角 13">
            <a:extLst>
              <a:ext uri="{FF2B5EF4-FFF2-40B4-BE49-F238E27FC236}">
                <ns2:creationId id="{8A2D7C50-7772-4477-AF4B-8364378BCE86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95350" y="383857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整段视频标签（MIL）</a:t>
            </a:r>
          </a:p>
        </p:txBody>
      </p:sp>
      <p:sp>
        <p:nvSpPr>
          <p:cNvPr id="16" name="矩形 15">
            <a:extLst>
              <a:ext uri="{FF2B5EF4-FFF2-40B4-BE49-F238E27FC236}">
                <ns2:creationId id="{9C5A4B43-BFCA-4FC2-988C-5ACFDFA314AF}"/>
              </a:ext>
            </a:extLst>
          </p:cNvPr>
          <p:cNvSpPr>
            <a:spLocks noGrp="1"/>
          </p:cNvSpPr>
          <p:nvPr/>
        </p:nvSpPr>
        <p:spPr>
          <a:xfrm>
            <a:off x="3238500" y="3800475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Multiple Instance Learning：只有整段视频有标签，模型先预测片段，再把片段聚合成视频结果。</a:t>
            </a:r>
          </a:p>
        </p:txBody>
      </p:sp>
      <p:sp>
        <p:nvSpPr>
          <p:cNvPr id="17" name="矩形: 圆角 16">
            <a:extLst>
              <a:ext uri="{FF2B5EF4-FFF2-40B4-BE49-F238E27FC236}">
                <ns2:creationId id="{53B4EB92-D1E0-4F1B-8A7D-5722A0528B31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95350" y="450532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插值缩放 / 缩小 1/2–1/8</a:t>
            </a:r>
          </a:p>
        </p:txBody>
      </p:sp>
      <p:sp>
        <p:nvSpPr>
          <p:cNvPr id="19" name="矩形 18">
            <a:extLst>
              <a:ext uri="{FF2B5EF4-FFF2-40B4-BE49-F238E27FC236}">
                <ns2:creationId id="{8A9B778C-5880-45D0-B5BD-44AD3131AD82}"/>
              </a:ext>
            </a:extLst>
          </p:cNvPr>
          <p:cNvSpPr>
            <a:spLocks noGrp="1"/>
          </p:cNvSpPr>
          <p:nvPr/>
        </p:nvSpPr>
        <p:spPr>
          <a:xfrm>
            <a:off x="3238500" y="4467225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Bicubic 是插值缩放方法；x2-x8 表示线性尺寸缩小到 1/2 至 1/8，面积约变为 1/4 至 1/64。</a:t>
            </a:r>
          </a:p>
        </p:txBody>
      </p:sp>
      <p:sp>
        <p:nvSpPr>
          <p:cNvPr id="20" name="矩形: 圆角 19">
            <a:extLst>
              <a:ext uri="{FF2B5EF4-FFF2-40B4-BE49-F238E27FC236}">
                <ns2:creationId id="{0E72F4EE-E4B3-458F-94E5-35130C2E999B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895350" y="517207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低清增强（放大特征）</a:t>
            </a:r>
          </a:p>
        </p:txBody>
      </p:sp>
      <p:sp>
        <p:nvSpPr>
          <p:cNvPr id="22" name="矩形 21">
            <a:extLst>
              <a:ext uri="{FF2B5EF4-FFF2-40B4-BE49-F238E27FC236}">
                <ns2:creationId id="{08555CC2-34F6-4CB5-8B47-FC20058B82E5}"/>
              </a:ext>
            </a:extLst>
          </p:cNvPr>
          <p:cNvSpPr>
            <a:spLocks noGrp="1"/>
          </p:cNvSpPr>
          <p:nvPr/>
        </p:nvSpPr>
        <p:spPr>
          <a:xfrm>
            <a:off x="3238500" y="5133975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超分辨率重建：从低分辨率输入生成更大或更有判别性的特征，不等于恢复真实丢失信息。</a:t>
            </a:r>
          </a:p>
        </p:txBody>
      </p:sp>
      <p:sp>
        <p:nvSpPr>
          <p:cNvPr id="23" name="矩形: 圆角 22">
            <a:extLst>
              <a:ext uri="{FF2B5EF4-FFF2-40B4-BE49-F238E27FC236}">
                <ns2:creationId id="{1502EA48-9E0D-41C1-AEDF-89C6EC926DF3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820400" cy="438150"/>
          </a:xfrm>
          <a:prstGeom prst="roundRect">
            <a:avLst>
              <a:gd name="adj" fmla="val 26087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914400" y="5943600"/>
            <a:ext cx="10287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看论文时只先记住四件事：标签是什么、图像多大、训练和测试是不是同一个人、答案标到了哪一层。</a:t>
            </a:r>
          </a:p>
        </p:txBody>
      </p:sp>
      <p:sp>
        <p:nvSpPr>
          <p:cNvPr id="25" name="直接连接符 24">
            <a:extLst>
              <a:ext uri="{FF2B5EF4-FFF2-40B4-BE49-F238E27FC236}">
                <ns2:creationId id="{78EE55DF-541C-4AEF-A31A-7BB1428EED5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ns2:creationId id="{39D8AD45-F9D2-4720-B1DC-36D3C3805CFE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术语解释</a:t>
            </a:r>
          </a:p>
        </p:txBody>
      </p:sp>
      <p:sp>
        <p:nvSpPr>
          <p:cNvPr id="27" name="矩形 26">
            <a:extLst>
              <a:ext uri="{FF2B5EF4-FFF2-40B4-BE49-F238E27FC236}">
                <ns2:creationId id="{9CE399AB-BF6F-424D-B9C1-E57FF24D226C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val="1038247056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42.xml><?xml version="1.0" encoding="utf-8"?>
<p:sld xmlns:a="http://schemas.openxmlformats.org/drawingml/2006/main" xmlns:mc="http://schemas.openxmlformats.org/markup-compatibility/2006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ns2:creationId id="{E08515DB-632D-4A99-A738-5C3F557E04AB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同一个“准确率”不能替代所有评价指标</a:t>
            </a:r>
          </a:p>
        </p:txBody>
      </p:sp>
      <p:sp>
        <p:nvSpPr>
          <p:cNvPr id="2" name="矩形 1">
            <a:extLst>
              <a:ext uri="{FF2B5EF4-FFF2-40B4-BE49-F238E27FC236}">
                <ns2:creationId id="{A4AE0C80-E139-4F53-BA89-4E69516B3241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27</a:t>
            </a:r>
          </a:p>
        </p:txBody>
      </p:sp>
      <p:sp>
        <p:nvSpPr>
          <p:cNvPr id="3" name="矩形 2"/>
          <p:cNvSpPr/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-25400" rIns="0" bIns="0" anchor="t" anchorCtr="0">
            <a:noAutofit/>
          </a:bodyPr>
          <a:lstStyle/>
          <a:p>
            <a:pPr algn="l"/>
            <a:r>
              <a:rPr lang="zh-CN" sz="2550" b="1" dirty="0">
                <a:solidFill>
                  <a:srgbClr val="19312E"/>
                </a:solidFill>
                <a:latin typeface="SimSun"/>
                <a:ea typeface="SimSun"/>
                <a:cs typeface="SimSun"/>
              </a:rPr>
              <a:t>论文里的英文：先翻译成大白话（2）</a:t>
            </a:r>
          </a:p>
        </p:txBody>
      </p:sp>
      <p:sp>
        <p:nvSpPr>
          <p:cNvPr id="4" name="直接连接符 3">
            <a:extLst>
              <a:ext uri="{FF2B5EF4-FFF2-40B4-BE49-F238E27FC236}">
                <ns2:creationId id="{FBDAA6F7-2299-40EB-ABB4-8F9F3067314B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ns2:creationId id="{AA32F659-E277-4154-956B-362788FB471E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95350" y="183832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整体答对率（Accuracy）</a:t>
            </a:r>
          </a:p>
        </p:txBody>
      </p:sp>
      <p:sp>
        <p:nvSpPr>
          <p:cNvPr id="7" name="矩形 6">
            <a:extLst>
              <a:ext uri="{FF2B5EF4-FFF2-40B4-BE49-F238E27FC236}">
                <ns2:creationId id="{4BE4DFCF-ABDA-4891-8707-F6EF0CA56C1B}"/>
              </a:ext>
            </a:extLst>
          </p:cNvPr>
          <p:cNvSpPr>
            <a:spLocks noGrp="1"/>
          </p:cNvSpPr>
          <p:nvPr/>
        </p:nvSpPr>
        <p:spPr>
          <a:xfrm>
            <a:off x="3238500" y="1800225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所有样本中预测正确的比例；类别不平衡时可能掩盖少数类效果。</a:t>
            </a:r>
          </a:p>
        </p:txBody>
      </p:sp>
      <p:sp>
        <p:nvSpPr>
          <p:cNvPr id="8" name="矩形: 圆角 7">
            <a:extLst>
              <a:ext uri="{FF2B5EF4-FFF2-40B4-BE49-F238E27FC236}">
                <ns2:creationId id="{078C7150-E141-4D01-8637-0D0D34AC22D2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95350" y="250507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报真 / 找全</a:t>
            </a:r>
          </a:p>
        </p:txBody>
      </p:sp>
      <p:sp>
        <p:nvSpPr>
          <p:cNvPr id="10" name="矩形 9">
            <a:extLst>
              <a:ext uri="{FF2B5EF4-FFF2-40B4-BE49-F238E27FC236}">
                <ns2:creationId id="{8CCFC222-A5B9-47D3-B425-82AE5829B8E5}"/>
              </a:ext>
            </a:extLst>
          </p:cNvPr>
          <p:cNvSpPr>
            <a:spLocks noGrp="1"/>
          </p:cNvSpPr>
          <p:nvPr/>
        </p:nvSpPr>
        <p:spPr>
          <a:xfrm>
            <a:off x="3238500" y="2466975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Precision：预测为某类的样本有多少是真的；Recall：真实属于某类的样本有多少被找到了。</a:t>
            </a:r>
          </a:p>
        </p:txBody>
      </p:sp>
      <p:sp>
        <p:nvSpPr>
          <p:cNvPr id="11" name="矩形: 圆角 10">
            <a:extLst>
              <a:ext uri="{FF2B5EF4-FFF2-40B4-BE49-F238E27FC236}">
                <ns2:creationId id="{9657C616-A7E0-438E-A87F-D48138BD8480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95350" y="317182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各类分别算，再取平均</a:t>
            </a:r>
          </a:p>
        </p:txBody>
      </p:sp>
      <p:sp>
        <p:nvSpPr>
          <p:cNvPr id="13" name="矩形 12">
            <a:extLst>
              <a:ext uri="{FF2B5EF4-FFF2-40B4-BE49-F238E27FC236}">
                <ns2:creationId id="{6C153909-DB55-49C6-9BEB-C797BF57A24D}"/>
              </a:ext>
            </a:extLst>
          </p:cNvPr>
          <p:cNvSpPr>
            <a:spLocks noGrp="1"/>
          </p:cNvSpPr>
          <p:nvPr/>
        </p:nvSpPr>
        <p:spPr>
          <a:xfrm>
            <a:off x="3238500" y="3133725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先分别计算每个类别的 F1 或 Recall，再平均，避免大类别完全主导结果。</a:t>
            </a:r>
          </a:p>
        </p:txBody>
      </p:sp>
      <p:sp>
        <p:nvSpPr>
          <p:cNvPr id="14" name="矩形: 圆角 13">
            <a:extLst>
              <a:ext uri="{FF2B5EF4-FFF2-40B4-BE49-F238E27FC236}">
                <ns2:creationId id="{151E2B35-6C15-4B6C-9961-75DAA04231DB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95350" y="383857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预测框和真实框重叠多少（IoU）</a:t>
            </a:r>
          </a:p>
        </p:txBody>
      </p:sp>
      <p:sp>
        <p:nvSpPr>
          <p:cNvPr id="16" name="矩形 15">
            <a:extLst>
              <a:ext uri="{FF2B5EF4-FFF2-40B4-BE49-F238E27FC236}">
                <ns2:creationId id="{55F875A7-5C33-4689-A0E4-7A50390B09DB}"/>
              </a:ext>
            </a:extLst>
          </p:cNvPr>
          <p:cNvSpPr>
            <a:spLocks noGrp="1"/>
          </p:cNvSpPr>
          <p:nvPr/>
        </p:nvSpPr>
        <p:spPr>
          <a:xfrm>
            <a:off x="3238500" y="3800475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预测框和真实框的重叠面积 ÷ 并集面积，用来判断检测框是否对准目标。</a:t>
            </a:r>
          </a:p>
        </p:txBody>
      </p:sp>
      <p:sp>
        <p:nvSpPr>
          <p:cNvPr id="17" name="矩形: 圆角 16">
            <a:extLst>
              <a:ext uri="{FF2B5EF4-FFF2-40B4-BE49-F238E27FC236}">
                <ns2:creationId id="{8582B422-F620-4C54-AE47-7A7FB3E1F004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95350" y="450532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单类 / 各类平均</a:t>
            </a:r>
          </a:p>
        </p:txBody>
      </p:sp>
      <p:sp>
        <p:nvSpPr>
          <p:cNvPr id="19" name="矩形 18"/>
          <p:cNvSpPr/>
          <p:nvPr/>
        </p:nvSpPr>
        <p:spPr>
          <a:xfrm>
            <a:off x="3238500" y="4467225"/>
            <a:ext cx="80010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AP 看一类，mAP 看各类平均；@50 表示框的重叠至少一半。</a:t>
            </a:r>
          </a:p>
        </p:txBody>
      </p:sp>
      <p:sp>
        <p:nvSpPr>
          <p:cNvPr id="20" name="矩形: 圆角 19">
            <a:extLst>
              <a:ext uri="{FF2B5EF4-FFF2-40B4-BE49-F238E27FC236}">
                <ns2:creationId id="{AAA6AB33-6E78-4945-A265-E1CE8D26931F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895350" y="517207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多阈值平均（mAP@50:95）</a:t>
            </a:r>
          </a:p>
        </p:txBody>
      </p:sp>
      <p:sp>
        <p:nvSpPr>
          <p:cNvPr id="22" name="矩形 21"/>
          <p:cNvSpPr/>
          <p:nvPr/>
        </p:nvSpPr>
        <p:spPr>
          <a:xfrm>
            <a:off x="3238500" y="5133975"/>
            <a:ext cx="80010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19312E"/>
                </a:solidFill>
                <a:latin typeface="Microsoft YaHei"/>
                <a:ea typeface="Microsoft YaHei"/>
                <a:cs typeface="Microsoft YaHei"/>
              </a:rPr>
              <a:t>在 预测框和真实框重叠多少（IoU） 0.50、0.55 一直到 0.95 多个阈值上平均，更严格地评价定位质量。</a:t>
            </a:r>
          </a:p>
        </p:txBody>
      </p:sp>
      <p:sp>
        <p:nvSpPr>
          <p:cNvPr id="23" name="矩形: 圆角 22">
            <a:extLst>
              <a:ext uri="{FF2B5EF4-FFF2-40B4-BE49-F238E27FC236}">
                <ns2:creationId id="{75262C1B-74E4-4276-91F9-55BF24C4195A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820400" cy="438150"/>
          </a:xfrm>
          <a:prstGeom prst="roundRect">
            <a:avLst>
              <a:gd name="adj" fmla="val 26087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914400" y="5943600"/>
            <a:ext cx="10287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课堂行为检测建议同时报告 Precision、Recall、mAP@50 和 多阈值平均（mAP@50:95）。</a:t>
            </a:r>
          </a:p>
        </p:txBody>
      </p:sp>
      <p:sp>
        <p:nvSpPr>
          <p:cNvPr id="25" name="直接连接符 24">
            <a:extLst>
              <a:ext uri="{FF2B5EF4-FFF2-40B4-BE49-F238E27FC236}">
                <ns2:creationId id="{F15930EE-B01C-4827-B9B5-902A5C4C29D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ns2:creationId id="{4F649069-F538-4E12-A92F-5472D5C13DCF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术语解释</a:t>
            </a:r>
          </a:p>
        </p:txBody>
      </p:sp>
      <p:sp>
        <p:nvSpPr>
          <p:cNvPr id="27" name="矩形 26">
            <a:extLst>
              <a:ext uri="{FF2B5EF4-FFF2-40B4-BE49-F238E27FC236}">
                <ns2:creationId id="{AAA2195D-0581-45B3-8964-117F302311BE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val="1163417007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43.xml><?xml version="1.0" encoding="utf-8"?>
<p:sld xmlns:a="http://schemas.openxmlformats.org/drawingml/2006/main" xmlns:mc="http://schemas.openxmlformats.org/markup-compatibility/2006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ns2:creationId id="{6FEAF5E4-6824-478F-9450-267385215FF4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把“看到了谁”和“跟住了谁”分开评价</a:t>
            </a:r>
          </a:p>
        </p:txBody>
      </p:sp>
      <p:sp>
        <p:nvSpPr>
          <p:cNvPr id="2" name="矩形 1">
            <a:extLst>
              <a:ext uri="{FF2B5EF4-FFF2-40B4-BE49-F238E27FC236}">
                <ns2:creationId id="{115BEEA9-DA03-4833-961E-9DF6F619BB18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28</a:t>
            </a:r>
          </a:p>
        </p:txBody>
      </p:sp>
      <p:sp>
        <p:nvSpPr>
          <p:cNvPr id="3" name="矩形 2"/>
          <p:cNvSpPr/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-25400" rIns="0" bIns="0" anchor="t" anchorCtr="0">
            <a:noAutofit/>
          </a:bodyPr>
          <a:lstStyle/>
          <a:p>
            <a:pPr algn="l"/>
            <a:r>
              <a:rPr lang="zh-CN" sz="2550" b="1" dirty="0">
                <a:solidFill>
                  <a:srgbClr val="19312E"/>
                </a:solidFill>
                <a:latin typeface="SimSun"/>
                <a:ea typeface="SimSun"/>
                <a:cs typeface="SimSun"/>
              </a:rPr>
              <a:t>论文里的英文：先翻译成大白话（3）</a:t>
            </a:r>
          </a:p>
        </p:txBody>
      </p:sp>
      <p:sp>
        <p:nvSpPr>
          <p:cNvPr id="4" name="直接连接符 3">
            <a:extLst>
              <a:ext uri="{FF2B5EF4-FFF2-40B4-BE49-F238E27FC236}">
                <ns2:creationId id="{63F8633C-F75E-4514-AD18-403B543B6F65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ns2:creationId id="{A4A22B90-4182-4A45-BA24-230B6E223612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95350" y="183832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关键点够不够近（PCK / PCKh）</a:t>
            </a:r>
          </a:p>
        </p:txBody>
      </p:sp>
      <p:sp>
        <p:nvSpPr>
          <p:cNvPr id="7" name="矩形 6">
            <a:extLst>
              <a:ext uri="{FF2B5EF4-FFF2-40B4-BE49-F238E27FC236}">
                <ns2:creationId id="{C072FF04-AAF2-427E-A8A9-361C99D8207F}"/>
              </a:ext>
            </a:extLst>
          </p:cNvPr>
          <p:cNvSpPr>
            <a:spLocks noGrp="1"/>
          </p:cNvSpPr>
          <p:nvPr/>
        </p:nvSpPr>
        <p:spPr>
          <a:xfrm>
            <a:off x="3238500" y="1800225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关键点距离真实位置足够近就算正确；PCKh 用头部尺寸做归一化。</a:t>
            </a:r>
          </a:p>
        </p:txBody>
      </p:sp>
      <p:sp>
        <p:nvSpPr>
          <p:cNvPr id="8" name="矩形: 圆角 7">
            <a:extLst>
              <a:ext uri="{FF2B5EF4-FFF2-40B4-BE49-F238E27FC236}">
                <ns2:creationId id="{E161F7A5-5A65-4592-A9D7-EFA8D9AD6978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95350" y="250507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人体大小评分（OKS）</a:t>
            </a:r>
          </a:p>
        </p:txBody>
      </p:sp>
      <p:sp>
        <p:nvSpPr>
          <p:cNvPr id="10" name="矩形 9">
            <a:extLst>
              <a:ext uri="{FF2B5EF4-FFF2-40B4-BE49-F238E27FC236}">
                <ns2:creationId id="{174C8DD2-CDCE-401A-A69A-0EC7FE95145D}"/>
              </a:ext>
            </a:extLst>
          </p:cNvPr>
          <p:cNvSpPr>
            <a:spLocks noGrp="1"/>
          </p:cNvSpPr>
          <p:nvPr/>
        </p:nvSpPr>
        <p:spPr>
          <a:xfrm>
            <a:off x="3238500" y="2466975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OKS 衡量关键点与人体尺度的匹配程度；MPJPE 是平均每个关节的定位误差，越小越好。</a:t>
            </a:r>
          </a:p>
        </p:txBody>
      </p:sp>
      <p:sp>
        <p:nvSpPr>
          <p:cNvPr id="11" name="矩形: 圆角 10">
            <a:extLst>
              <a:ext uri="{FF2B5EF4-FFF2-40B4-BE49-F238E27FC236}">
                <ns2:creationId id="{11D78943-5F36-4EB7-839B-6799F7C96C8C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95350" y="317182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漏检误检换号（MOTA）</a:t>
            </a:r>
          </a:p>
        </p:txBody>
      </p:sp>
      <p:sp>
        <p:nvSpPr>
          <p:cNvPr id="13" name="矩形 12">
            <a:extLst>
              <a:ext uri="{FF2B5EF4-FFF2-40B4-BE49-F238E27FC236}">
                <ns2:creationId id="{56EFBE72-02A0-4423-B108-A3BC74A418A9}"/>
              </a:ext>
            </a:extLst>
          </p:cNvPr>
          <p:cNvSpPr>
            <a:spLocks noGrp="1"/>
          </p:cNvSpPr>
          <p:nvPr/>
        </p:nvSpPr>
        <p:spPr>
          <a:xfrm>
            <a:off x="3238500" y="3133725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MOTA 综合漏检、误检和身份切换；MOTP 衡量匹配位置的精度。</a:t>
            </a:r>
          </a:p>
        </p:txBody>
      </p:sp>
      <p:sp>
        <p:nvSpPr>
          <p:cNvPr id="14" name="矩形: 圆角 13">
            <a:extLst>
              <a:ext uri="{FF2B5EF4-FFF2-40B4-BE49-F238E27FC236}">
                <ns2:creationId id="{86F6D260-3FE9-4B04-8A64-95C52ED01E53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95350" y="383857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同一人跟住没（IDF1）</a:t>
            </a:r>
          </a:p>
        </p:txBody>
      </p:sp>
      <p:sp>
        <p:nvSpPr>
          <p:cNvPr id="16" name="矩形 15">
            <a:extLst>
              <a:ext uri="{FF2B5EF4-FFF2-40B4-BE49-F238E27FC236}">
                <ns2:creationId id="{CE6AB55D-1C9A-4123-922D-F3C2C5A165AF}"/>
              </a:ext>
            </a:extLst>
          </p:cNvPr>
          <p:cNvSpPr>
            <a:spLocks noGrp="1"/>
          </p:cNvSpPr>
          <p:nvPr/>
        </p:nvSpPr>
        <p:spPr>
          <a:xfrm>
            <a:off x="3238500" y="3800475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IDF1 衡量身份轨迹是否连续一致；HOTA 同时考虑检测准确度和关联准确度。</a:t>
            </a:r>
          </a:p>
        </p:txBody>
      </p:sp>
      <p:sp>
        <p:nvSpPr>
          <p:cNvPr id="17" name="矩形: 圆角 16">
            <a:extLst>
              <a:ext uri="{FF2B5EF4-FFF2-40B4-BE49-F238E27FC236}">
                <ns2:creationId id="{9E021E31-8EE4-4567-90B7-0890BA4A437C}"/>
              </a:ext>
            </a:extLst>
          </p:cNvPr>
          <p:cNvSpPr>
            <a:spLocks noGrp="1"/>
          </p:cNvSpPr>
          <p:nvPr/>
        </p:nvSpPr>
        <p:spPr>
          <a:xfrm>
            <a:off x="685800" y="434340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95350" y="450532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固定人物编号（person_id）</a:t>
            </a:r>
          </a:p>
        </p:txBody>
      </p:sp>
      <p:sp>
        <p:nvSpPr>
          <p:cNvPr id="19" name="矩形 18">
            <a:extLst>
              <a:ext uri="{FF2B5EF4-FFF2-40B4-BE49-F238E27FC236}">
                <ns2:creationId id="{BDA9E212-A5C7-41B9-BF34-FFCF80CDD7BD}"/>
              </a:ext>
            </a:extLst>
          </p:cNvPr>
          <p:cNvSpPr>
            <a:spLocks noGrp="1"/>
          </p:cNvSpPr>
          <p:nvPr/>
        </p:nvSpPr>
        <p:spPr>
          <a:xfrm>
            <a:off x="3238500" y="4467225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系统给每个人的固定编号，同一个人跨帧应保持同一个 ID。</a:t>
            </a:r>
          </a:p>
        </p:txBody>
      </p:sp>
      <p:sp>
        <p:nvSpPr>
          <p:cNvPr id="20" name="矩形: 圆角 19">
            <a:extLst>
              <a:ext uri="{FF2B5EF4-FFF2-40B4-BE49-F238E27FC236}">
                <ns2:creationId id="{2F707108-2FD8-475D-94C3-314F40C030F8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10820400" cy="552450"/>
          </a:xfrm>
          <a:prstGeom prst="roundRect">
            <a:avLst>
              <a:gd name="adj" fmla="val 20690"/>
            </a:avLst>
          </a:prstGeom>
          <a:solidFill>
            <a:srgbClr val="DDEAE5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895350" y="5172075"/>
            <a:ext cx="2238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12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不计分区域 / 关键点是否看得见</a:t>
            </a:r>
          </a:p>
        </p:txBody>
      </p:sp>
      <p:sp>
        <p:nvSpPr>
          <p:cNvPr id="22" name="矩形 21">
            <a:extLst>
              <a:ext uri="{FF2B5EF4-FFF2-40B4-BE49-F238E27FC236}">
                <ns2:creationId id="{603B6B3B-A06B-4B43-A7E0-8B08BC63EA1C}"/>
              </a:ext>
            </a:extLst>
          </p:cNvPr>
          <p:cNvSpPr>
            <a:spLocks noGrp="1"/>
          </p:cNvSpPr>
          <p:nvPr/>
        </p:nvSpPr>
        <p:spPr>
          <a:xfrm>
            <a:off x="3238500" y="5133975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ignore regions 是不可靠区域；可见、遮挡、截断标签用于区分关键点是否真的能看到。</a:t>
            </a:r>
          </a:p>
        </p:txBody>
      </p:sp>
      <p:sp>
        <p:nvSpPr>
          <p:cNvPr id="23" name="矩形: 圆角 22">
            <a:extLst>
              <a:ext uri="{FF2B5EF4-FFF2-40B4-BE49-F238E27FC236}">
                <ns2:creationId id="{D456B68E-E6AD-4113-A1BF-7E9DA321202A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820400" cy="438150"/>
          </a:xfrm>
          <a:prstGeom prst="roundRect">
            <a:avLst>
              <a:gd name="adj" fmla="val 26087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914400" y="5943600"/>
            <a:ext cx="10287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D27A55"/>
                </a:solidFill>
                <a:latin typeface="Microsoft YaHei"/>
                <a:ea typeface="Microsoft YaHei"/>
                <a:cs typeface="Microsoft YaHei"/>
              </a:rPr>
              <a:t>复杂多人场景只看四件事：点有没有找准、哪里被挡住、每个人编号有没有串、轨迹有没有断。</a:t>
            </a:r>
          </a:p>
        </p:txBody>
      </p:sp>
      <p:sp>
        <p:nvSpPr>
          <p:cNvPr id="25" name="直接连接符 24">
            <a:extLst>
              <a:ext uri="{FF2B5EF4-FFF2-40B4-BE49-F238E27FC236}">
                <ns2:creationId id="{8B37CD10-01E2-436E-AF0B-5113361D4BE9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ns2:creationId id="{85AF423A-9C21-499A-A4FC-A73059FF34BE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术语解释</a:t>
            </a:r>
          </a:p>
        </p:txBody>
      </p:sp>
      <p:sp>
        <p:nvSpPr>
          <p:cNvPr id="27" name="矩形 26">
            <a:extLst>
              <a:ext uri="{FF2B5EF4-FFF2-40B4-BE49-F238E27FC236}">
                <ns2:creationId id="{D0B520BE-4903-467A-B75A-B71133AFEF35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val="1010915465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44.xml><?xml version="1.0" encoding="utf-8"?>
<p:sld xmlns:a="http://schemas.openxmlformats.org/drawingml/2006/main" xmlns:mc="http://schemas.openxmlformats.org/markup-compatibility/2006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72846" y="425450"/>
            <a:ext cx="10833354" cy="936625"/>
            <a:chOff x="672846" y="425450"/>
            <a:chExt cx="10833354" cy="936625"/>
          </a:xfrm>
        </p:grpSpPr>
        <p:sp>
          <p:nvSpPr>
            <p:cNvPr id="2" name="TextBox 2"/>
            <p:cNvSpPr txBox="1"/>
            <p:nvPr/>
          </p:nvSpPr>
          <p:spPr>
            <a:xfrm>
              <a:off x="680466" y="425450"/>
              <a:ext cx="18632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29A · 实测结果替换原占位页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846" y="749300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先看模型有没有少找，再用真实答案算准确率</a:t>
              </a:r>
            </a:p>
          </p:txBody>
        </p:sp>
        <p:sp>
          <p:nvSpPr>
            <p:cNvPr id="4" name="Freeform 4"/>
            <p:cNvSpPr/>
            <p:nvPr/>
          </p:nvSpPr>
          <p:spPr>
            <a:xfrm>
              <a:off x="685800" y="1352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7DED8"/>
              </a:solidFill>
            </a:ln>
          </p:spPr>
        </p:sp>
      </p:grpSp>
      <p:grpSp>
        <p:nvGrpSpPr>
          <p:cNvPr id="24" name="table"/>
          <p:cNvGrpSpPr/>
          <p:nvPr/>
        </p:nvGrpSpPr>
        <p:grpSpPr>
          <a:xfrm>
            <a:off x="685800" y="1676400"/>
            <a:ext cx="10820400" cy="3238500"/>
            <a:chOff x="685800" y="1676400"/>
            <a:chExt cx="10820400" cy="323850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10820400" cy="3238500"/>
            </a:xfrm>
            <a:prstGeom prst="roundRect">
              <a:avLst>
                <a:gd name="adj" fmla="val 5294"/>
              </a:avLst>
            </a:prstGeom>
            <a:solidFill>
              <a:srgbClr val="FFFDF8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1676400"/>
              <a:ext cx="10820400" cy="514350"/>
            </a:xfrm>
            <a:prstGeom prst="roundRect">
              <a:avLst>
                <a:gd name="adj" fmla="val 33333"/>
              </a:avLst>
            </a:prstGeom>
            <a:solidFill>
              <a:srgbClr val="19312E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64692" y="184467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DF8"/>
                  </a:solidFill>
                  <a:latin typeface="Microsoft YaHei"/>
                  <a:ea typeface="Microsoft YaHei"/>
                  <a:cs typeface="Microsoft YaHei"/>
                </a:rPr>
                <a:t>模型（它在做什么）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422142" y="184467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DF8"/>
                  </a:solidFill>
                  <a:latin typeface="Microsoft YaHei"/>
                  <a:ea typeface="Microsoft YaHei"/>
                  <a:cs typeface="Microsoft YaHei"/>
                </a:rPr>
                <a:t>这次实际看到的变化</a:t>
              </a:r>
            </a:p>
          </p:txBody>
        </p:sp>
        <p:sp>
          <p:nvSpPr>
            <p:cNvPr id="30" name="TextBox 10"/>
            <p:cNvSpPr txBox="1"/>
            <p:nvPr/>
          </p:nvSpPr>
          <p:spPr>
            <a:xfrm>
              <a:off x="8089392" y="184467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DF8"/>
                  </a:solidFill>
                  <a:latin typeface="Microsoft YaHei"/>
                  <a:ea typeface="Microsoft YaHei"/>
                  <a:cs typeface="Microsoft YaHei"/>
                </a:rPr>
                <a:t>用大白话解释</a:t>
              </a:r>
            </a:p>
          </p:txBody>
        </p:sp>
        <p:sp>
          <p:nvSpPr>
            <p:cNvPr id="31" name="Freeform 11"/>
            <p:cNvSpPr/>
            <p:nvPr/>
          </p:nvSpPr>
          <p:spPr>
            <a:xfrm>
              <a:off x="685800" y="2190750"/>
              <a:ext cx="10820400" cy="2000250"/>
            </a:xfrm>
            <a:custGeom>
              <a:avLst/>
              <a:gdLst/>
              <a:ahLst/>
              <a:cxnLst/>
              <a:rect l="l" t="t" r="r" b="b"/>
              <a:pathLst>
                <a:path w="10820400" h="2000250">
                  <a:moveTo>
                    <a:pt x="0" y="0"/>
                  </a:moveTo>
                  <a:lnTo>
                    <a:pt x="10820400" y="0"/>
                  </a:lnTo>
                  <a:moveTo>
                    <a:pt x="0" y="666750"/>
                  </a:moveTo>
                  <a:lnTo>
                    <a:pt x="10820400" y="666750"/>
                  </a:lnTo>
                  <a:moveTo>
                    <a:pt x="0" y="1333500"/>
                  </a:moveTo>
                  <a:lnTo>
                    <a:pt x="10820400" y="1333500"/>
                  </a:lnTo>
                  <a:moveTo>
                    <a:pt x="0" y="2000250"/>
                  </a:moveTo>
                  <a:lnTo>
                    <a:pt x="10820400" y="200025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7DED8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63930" y="2422525"/>
              <a:ext cx="22853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YOLO11n（找人/物体）</a:t>
              </a:r>
            </a:p>
          </p:txBody>
        </p:sp>
        <p:sp>
          <p:nvSpPr>
            <p:cNvPr id="32" name="TextBox 13"/>
            <p:cNvSpPr txBox="1"/>
            <p:nvPr/>
          </p:nvSpPr>
          <p:spPr>
            <a:xfrm>
              <a:off x="3422142" y="2435225"/>
              <a:ext cx="19492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检测框：13.83 → 24.50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089773" y="2447925"/>
              <a:ext cx="190840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框的数量，不等于准确率</a:t>
              </a:r>
            </a:p>
          </p:txBody>
        </p:sp>
        <p:sp>
          <p:nvSpPr>
            <p:cNvPr id="33" name="TextBox 15"/>
            <p:cNvSpPr txBox="1"/>
            <p:nvPr/>
          </p:nvSpPr>
          <p:spPr>
            <a:xfrm>
              <a:off x="963930" y="3089275"/>
              <a:ext cx="31615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YOLO11n-Pose（找身体关键点）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22142" y="3101975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姿态实例：10.83 → 6.67</a:t>
              </a:r>
            </a:p>
          </p:txBody>
        </p:sp>
        <p:sp>
          <p:nvSpPr>
            <p:cNvPr id="34" name="TextBox 17"/>
            <p:cNvSpPr txBox="1"/>
            <p:nvPr/>
          </p:nvSpPr>
          <p:spPr>
            <a:xfrm>
              <a:off x="8089773" y="3114675"/>
              <a:ext cx="104683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低分辨率敏感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63930" y="3756025"/>
              <a:ext cx="33454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RT-DETR-L（另一种找目标的方法）</a:t>
              </a:r>
            </a:p>
          </p:txBody>
        </p:sp>
        <p:sp>
          <p:nvSpPr>
            <p:cNvPr id="35" name="TextBox 19"/>
            <p:cNvSpPr txBox="1"/>
            <p:nvPr/>
          </p:nvSpPr>
          <p:spPr>
            <a:xfrm>
              <a:off x="3422142" y="3768725"/>
              <a:ext cx="19492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检测框：63.67 → 45.83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89773" y="3781425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先跑通的比较起点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63930" y="4422775"/>
              <a:ext cx="25097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DAiSEE（投入度参考模型）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22142" y="4435475"/>
              <a:ext cx="29578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85B4A"/>
                  </a:solidFill>
                  <a:latin typeface="Microsoft YaHei"/>
                  <a:ea typeface="Microsoft YaHei"/>
                  <a:cs typeface="Microsoft YaHei"/>
                </a:rPr>
                <a:t>验证集：答对率30% · 平均差1.20级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89773" y="4448175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先跑通的参考起点</a:t>
              </a:r>
            </a:p>
          </p:txBody>
        </p:sp>
      </p:grpSp>
      <p:grpSp>
        <p:nvGrpSpPr>
          <p:cNvPr id="26" name="note"/>
          <p:cNvGrpSpPr/>
          <p:nvPr/>
        </p:nvGrpSpPr>
        <p:grpSpPr>
          <a:xfrm>
            <a:off x="678942" y="5397500"/>
            <a:ext cx="7019677" cy="264033"/>
            <a:chOff x="678942" y="5397500"/>
            <a:chExt cx="7019677" cy="264033"/>
          </a:xfrm>
        </p:grpSpPr>
        <p:sp>
          <p:nvSpPr>
            <p:cNvPr id="25" name="TextBox 25"/>
            <p:cNvSpPr txBox="1"/>
            <p:nvPr/>
          </p:nvSpPr>
          <p:spPr>
            <a:xfrm>
              <a:off x="678942" y="5397500"/>
              <a:ext cx="70196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正式的课堂准确率、姿态准确率、投入度误差：必须逐张图片/逐段视频准备真实答案。</a:t>
              </a:r>
            </a:p>
          </p:txBody>
        </p:sp>
      </p:grpSp>
      <p:grpSp>
        <p:nvGrpSpPr>
          <p:cNvPr id="29" name="conclusion-summary"/>
          <p:cNvGrpSpPr/>
          <p:nvPr/>
        </p:nvGrpSpPr>
        <p:grpSpPr>
          <a:xfrm>
            <a:off x="685800" y="5810250"/>
            <a:ext cx="10820400" cy="400050"/>
            <a:chOff x="685800" y="5810250"/>
            <a:chExt cx="10820400" cy="400050"/>
          </a:xfrm>
        </p:grpSpPr>
        <p:sp>
          <p:nvSpPr>
            <p:cNvPr id="27" name="Rectangle 27"/>
            <p:cNvSpPr/>
            <p:nvPr/>
          </p:nvSpPr>
          <p:spPr>
            <a:xfrm>
              <a:off x="685800" y="5810250"/>
              <a:ext cx="10820400" cy="400050"/>
            </a:xfrm>
            <a:prstGeom prst="roundRect">
              <a:avLst>
                <a:gd name="adj" fmla="val 33333"/>
              </a:avLst>
            </a:prstGeom>
            <a:solidFill>
              <a:srgbClr val="19312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6973" y="5915025"/>
              <a:ext cx="466542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DF8"/>
                  </a:solidFill>
                  <a:latin typeface="Microsoft YaHei"/>
                  <a:ea typeface="Microsoft YaHei"/>
                  <a:cs typeface="Microsoft YaHei"/>
                </a:rPr>
                <a:t>一句话结论：流程已经跑通，正式性能还要用真实答案验证。</a:t>
              </a:r>
            </a:p>
          </p:txBody>
        </p:sp>
      </p:grpSp>
      <p:sp>
        <p:nvSpPr>
          <p:cNvPr id="10" name="直接连接符 9">
            <a:extLst>
              <a:ext uri="{FF2B5EF4-FFF2-40B4-BE49-F238E27FC236}">
                <ns2:creationId id="{C2193700-74D8-4165-B410-0A57E28D1F09}"/>
              </a:ext>
            </a:extLst>
          </p:cNvPr>
          <p:cNvSpPr>
            <a:spLocks noGrp="1"/>
          </p:cNvSpPr>
          <p:nvPr/>
        </p:nvSpPr>
        <p:spPr>
          <a:xfrm>
            <a:off x="1428750" y="2857500"/>
            <a:ext cx="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直接连接符 10">
            <a:extLst>
              <a:ext uri="{FF2B5EF4-FFF2-40B4-BE49-F238E27FC236}">
                <ns2:creationId id="{232330D5-6B0A-4C81-9AA8-9D748C81621E}"/>
              </a:ext>
            </a:extLst>
          </p:cNvPr>
          <p:cNvSpPr>
            <a:spLocks noGrp="1"/>
          </p:cNvSpPr>
          <p:nvPr/>
        </p:nvSpPr>
        <p:spPr>
          <a:xfrm>
            <a:off x="1619250" y="2952750"/>
            <a:ext cx="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直接连接符 12">
            <a:extLst>
              <a:ext uri="{FF2B5EF4-FFF2-40B4-BE49-F238E27FC236}">
                <ns2:creationId id="{5CF2FC74-4334-4BCF-9B0C-E63DA92FD24B}"/>
              </a:ext>
            </a:extLst>
          </p:cNvPr>
          <p:cNvSpPr>
            <a:spLocks noGrp="1"/>
          </p:cNvSpPr>
          <p:nvPr/>
        </p:nvSpPr>
        <p:spPr>
          <a:xfrm>
            <a:off x="2362200" y="2952750"/>
            <a:ext cx="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直接连接符 14">
            <a:extLst>
              <a:ext uri="{FF2B5EF4-FFF2-40B4-BE49-F238E27FC236}">
                <ns2:creationId id="{C57E1FBE-2A11-4519-9BCF-43ABB1E91B71}"/>
              </a:ext>
            </a:extLst>
          </p:cNvPr>
          <p:cNvSpPr>
            <a:spLocks noGrp="1"/>
          </p:cNvSpPr>
          <p:nvPr/>
        </p:nvSpPr>
        <p:spPr>
          <a:xfrm>
            <a:off x="3105150" y="2952750"/>
            <a:ext cx="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直接连接符 16">
            <a:extLst>
              <a:ext uri="{FF2B5EF4-FFF2-40B4-BE49-F238E27FC236}">
                <ns2:creationId id="{4194962A-C1F6-441C-A836-0F7CD5DF30D8}"/>
              </a:ext>
            </a:extLst>
          </p:cNvPr>
          <p:cNvSpPr>
            <a:spLocks noGrp="1"/>
          </p:cNvSpPr>
          <p:nvPr/>
        </p:nvSpPr>
        <p:spPr>
          <a:xfrm>
            <a:off x="3848100" y="2952750"/>
            <a:ext cx="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直接连接符 18">
            <a:extLst>
              <a:ext uri="{FF2B5EF4-FFF2-40B4-BE49-F238E27FC236}">
                <ns2:creationId id="{1CE2C136-3076-4ED5-AEC4-0CC2721B50A6}"/>
              </a:ext>
            </a:extLst>
          </p:cNvPr>
          <p:cNvSpPr>
            <a:spLocks noGrp="1"/>
          </p:cNvSpPr>
          <p:nvPr/>
        </p:nvSpPr>
        <p:spPr>
          <a:xfrm>
            <a:off x="4591050" y="2952750"/>
            <a:ext cx="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val="2050501637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C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67FACB4B-CAD6-44AC-8965-3C54AECF1C49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每次处理都保留参数和输出证据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FDE397E-4F21-434B-A0BB-028B1841297F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DDEAE5"/>
                </a:solidFill>
                <a:latin typeface="Noto Sans SC"/>
                <a:ea typeface="Noto Sans SC"/>
                <a:cs typeface="Noto Sans SC"/>
              </a:rPr>
              <a:t>30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CA4830-9DE6-4CA4-9317-C04C831D9200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FFFDF8"/>
                </a:solidFill>
                <a:latin typeface="Noto Serif SC"/>
                <a:ea typeface="Noto Serif SC"/>
                <a:cs typeface="Noto Serif SC"/>
              </a:rPr>
              <a:t>实验可复现记录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61058031-1440-4474-A1CF-85D2B9CE5C48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6B8C8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D7BC422-2D6C-4A59-98EC-4E79296452DB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647700"/>
          </a:xfrm>
          <a:prstGeom prst="roundRect">
            <a:avLst>
              <a:gd name="adj" fmla="val 17647"/>
            </a:avLst>
          </a:prstGeom>
          <a:solidFill>
            <a:srgbClr val="203F3A"/>
          </a:solidFill>
          <a:ln w="9525">
            <a:solidFill>
              <a:srgbClr val="3154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E549B26-0B48-4545-9E9E-E27252C8ABED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14300" cy="647700"/>
          </a:xfrm>
          <a:prstGeom prst="rect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C66EE2-EFB2-4B19-AE49-2A23A8D84FE7}"/>
              </a:ext>
            </a:extLst>
          </p:cNvPr>
          <p:cNvSpPr>
            <a:spLocks noGrp="1"/>
          </p:cNvSpPr>
          <p:nvPr/>
        </p:nvSpPr>
        <p:spPr>
          <a:xfrm>
            <a:off x="1066800" y="1952625"/>
            <a:ext cx="285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experiment_config.json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3B8D96D-7B13-42F7-974A-31C16BDECEFC}"/>
              </a:ext>
            </a:extLst>
          </p:cNvPr>
          <p:cNvSpPr>
            <a:spLocks noGrp="1"/>
          </p:cNvSpPr>
          <p:nvPr/>
        </p:nvSpPr>
        <p:spPr>
          <a:xfrm>
            <a:off x="4191000" y="1971675"/>
            <a:ext cx="619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处理参数、随机种子、数据集信息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FAF0F32-4DA3-42C3-86FF-BEB66F380193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10820400" cy="647700"/>
          </a:xfrm>
          <a:prstGeom prst="roundRect">
            <a:avLst>
              <a:gd name="adj" fmla="val 17647"/>
            </a:avLst>
          </a:prstGeom>
          <a:solidFill>
            <a:srgbClr val="203F3A"/>
          </a:solidFill>
          <a:ln w="9525">
            <a:solidFill>
              <a:srgbClr val="3154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53A77C8-2B2E-4115-AA07-547EF2949E81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114300" cy="647700"/>
          </a:xfrm>
          <a:prstGeom prst="rect">
            <a:avLst/>
          </a:prstGeom>
          <a:solidFill>
            <a:srgbClr val="D27A5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D34206B-D3AE-46C4-9C6E-5FB6B0B6D00B}"/>
              </a:ext>
            </a:extLst>
          </p:cNvPr>
          <p:cNvSpPr>
            <a:spLocks noGrp="1"/>
          </p:cNvSpPr>
          <p:nvPr/>
        </p:nvSpPr>
        <p:spPr>
          <a:xfrm>
            <a:off x="1066800" y="2828925"/>
            <a:ext cx="285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reproducibility.json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7FB949-85D5-4E17-A887-615E4C4C7CF6}"/>
              </a:ext>
            </a:extLst>
          </p:cNvPr>
          <p:cNvSpPr>
            <a:spLocks noGrp="1"/>
          </p:cNvSpPr>
          <p:nvPr/>
        </p:nvSpPr>
        <p:spPr>
          <a:xfrm>
            <a:off x="4191000" y="2847975"/>
            <a:ext cx="619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程序版本、运行时间、数据版本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B6D7DB3-2428-4554-A86A-47AA098B0C58}"/>
              </a:ext>
            </a:extLst>
          </p:cNvPr>
          <p:cNvSpPr>
            <a:spLocks noGrp="1"/>
          </p:cNvSpPr>
          <p:nvPr/>
        </p:nvSpPr>
        <p:spPr>
          <a:xfrm>
            <a:off x="685800" y="3562350"/>
            <a:ext cx="10820400" cy="647700"/>
          </a:xfrm>
          <a:prstGeom prst="roundRect">
            <a:avLst>
              <a:gd name="adj" fmla="val 17647"/>
            </a:avLst>
          </a:prstGeom>
          <a:solidFill>
            <a:srgbClr val="203F3A"/>
          </a:solidFill>
          <a:ln w="9525">
            <a:solidFill>
              <a:srgbClr val="3154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48CD9B5-166B-4897-9F08-895631A46F35}"/>
              </a:ext>
            </a:extLst>
          </p:cNvPr>
          <p:cNvSpPr>
            <a:spLocks noGrp="1"/>
          </p:cNvSpPr>
          <p:nvPr/>
        </p:nvSpPr>
        <p:spPr>
          <a:xfrm>
            <a:off x="685800" y="3562350"/>
            <a:ext cx="114300" cy="647700"/>
          </a:xfrm>
          <a:prstGeom prst="rect">
            <a:avLst/>
          </a:prstGeom>
          <a:solidFill>
            <a:srgbClr val="6E947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DB877A9-009D-465E-AC25-C39DD6B1A09C}"/>
              </a:ext>
            </a:extLst>
          </p:cNvPr>
          <p:cNvSpPr>
            <a:spLocks noGrp="1"/>
          </p:cNvSpPr>
          <p:nvPr/>
        </p:nvSpPr>
        <p:spPr>
          <a:xfrm>
            <a:off x="1066800" y="3705225"/>
            <a:ext cx="285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output_hashes.csv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D4E8265-78A4-4B4A-A715-3478FBC27802}"/>
              </a:ext>
            </a:extLst>
          </p:cNvPr>
          <p:cNvSpPr>
            <a:spLocks noGrp="1"/>
          </p:cNvSpPr>
          <p:nvPr/>
        </p:nvSpPr>
        <p:spPr>
          <a:xfrm>
            <a:off x="4191000" y="3724275"/>
            <a:ext cx="619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输出文件哈希，验证文件是否变化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E3BF454-EB4D-4A90-8F64-BEF94769A2F4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10820400" cy="647700"/>
          </a:xfrm>
          <a:prstGeom prst="roundRect">
            <a:avLst>
              <a:gd name="adj" fmla="val 17647"/>
            </a:avLst>
          </a:prstGeom>
          <a:solidFill>
            <a:srgbClr val="203F3A"/>
          </a:solidFill>
          <a:ln w="9525">
            <a:solidFill>
              <a:srgbClr val="3154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01A696A-ABCC-44D8-88F4-A202185D5072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114300" cy="647700"/>
          </a:xfrm>
          <a:prstGeom prst="rect">
            <a:avLst/>
          </a:prstGeom>
          <a:solidFill>
            <a:srgbClr val="D7AA5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3772B87-B372-4CC1-8CE3-6B2B810C606F}"/>
              </a:ext>
            </a:extLst>
          </p:cNvPr>
          <p:cNvSpPr>
            <a:spLocks noGrp="1"/>
          </p:cNvSpPr>
          <p:nvPr/>
        </p:nvSpPr>
        <p:spPr>
          <a:xfrm>
            <a:off x="1066800" y="4581525"/>
            <a:ext cx="285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checkpoint.json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3C42984-9A9F-4740-A4D6-BDA075E6589B}"/>
              </a:ext>
            </a:extLst>
          </p:cNvPr>
          <p:cNvSpPr>
            <a:spLocks noGrp="1"/>
          </p:cNvSpPr>
          <p:nvPr/>
        </p:nvSpPr>
        <p:spPr>
          <a:xfrm>
            <a:off x="4191000" y="4600575"/>
            <a:ext cx="619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C4D4DA"/>
                </a:solidFill>
                <a:latin typeface="Noto Sans SC"/>
                <a:ea typeface="Noto Sans SC"/>
                <a:cs typeface="Noto Sans SC"/>
              </a:rPr>
              <a:t>断点续跑和已完成记录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0C996C1-24B6-4248-B095-C4D81DAB8B5B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这样可以回答：这张图片如何得到、参数是什么、结果是否能够复现。</a:t>
            </a:r>
          </a:p>
        </p:txBody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325E6B2B-6E72-4382-900D-65A68769121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02DF6B-486B-44DB-B042-461164A28079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实验管理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9679079-47A6-4775-8546-4218C3B90551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13158197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202F6FCE-E45D-4FF0-807A-33DF2980F6EA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用一个样本完成一次完整实验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E271F0B-E4CA-49AE-AB7C-C69821B8BD73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31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62EA422-8A26-4F70-B686-E58CBDA62403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程序演示路线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CA898DDC-8DA4-4549-BBED-31174E209B61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E8D3849-8E19-4F5F-82D7-591EC301C793}"/>
              </a:ext>
            </a:extLst>
          </p:cNvPr>
          <p:cNvSpPr>
            <a:spLocks noGrp="1"/>
          </p:cNvSpPr>
          <p:nvPr/>
        </p:nvSpPr>
        <p:spPr>
          <a:xfrm>
            <a:off x="876300" y="2076450"/>
            <a:ext cx="876300" cy="876300"/>
          </a:xfrm>
          <a:prstGeom prst="ellipse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8DE44AC-D7AD-4FC0-918E-13BA25CF8983}"/>
              </a:ext>
            </a:extLst>
          </p:cNvPr>
          <p:cNvSpPr>
            <a:spLocks noGrp="1"/>
          </p:cNvSpPr>
          <p:nvPr/>
        </p:nvSpPr>
        <p:spPr>
          <a:xfrm>
            <a:off x="1162050" y="234315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C23D659-43B2-4A1F-B0A2-AB38AFC8ADA2}"/>
              </a:ext>
            </a:extLst>
          </p:cNvPr>
          <p:cNvSpPr>
            <a:spLocks noGrp="1"/>
          </p:cNvSpPr>
          <p:nvPr/>
        </p:nvSpPr>
        <p:spPr>
          <a:xfrm>
            <a:off x="400050" y="32194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选择数据集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4F7D2E75-4620-4F05-977D-135200D6C58B}"/>
              </a:ext>
            </a:extLst>
          </p:cNvPr>
          <p:cNvSpPr>
            <a:spLocks noGrp="1"/>
          </p:cNvSpPr>
          <p:nvPr/>
        </p:nvSpPr>
        <p:spPr>
          <a:xfrm>
            <a:off x="1828800" y="2514600"/>
            <a:ext cx="1028700" cy="0"/>
          </a:xfrm>
          <a:prstGeom prst="line">
            <a:avLst/>
          </a:prstGeom>
          <a:noFill/>
          <a:ln w="1905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4E18606A-D4B1-4250-9792-BBC8A9379FA1}"/>
              </a:ext>
            </a:extLst>
          </p:cNvPr>
          <p:cNvSpPr>
            <a:spLocks noGrp="1"/>
          </p:cNvSpPr>
          <p:nvPr/>
        </p:nvSpPr>
        <p:spPr>
          <a:xfrm>
            <a:off x="2971800" y="2076450"/>
            <a:ext cx="876300" cy="876300"/>
          </a:xfrm>
          <a:prstGeom prst="ellipse">
            <a:avLst/>
          </a:prstGeom>
          <a:solidFill>
            <a:srgbClr val="2B6D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046CCB-3545-4BC1-85CF-4F0F5725A072}"/>
              </a:ext>
            </a:extLst>
          </p:cNvPr>
          <p:cNvSpPr>
            <a:spLocks noGrp="1"/>
          </p:cNvSpPr>
          <p:nvPr/>
        </p:nvSpPr>
        <p:spPr>
          <a:xfrm>
            <a:off x="3257550" y="234315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679DD97-5F13-4047-8D2A-20D48A79D456}"/>
              </a:ext>
            </a:extLst>
          </p:cNvPr>
          <p:cNvSpPr>
            <a:spLocks noGrp="1"/>
          </p:cNvSpPr>
          <p:nvPr/>
        </p:nvSpPr>
        <p:spPr>
          <a:xfrm>
            <a:off x="2495550" y="32194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选择图片或视频</a:t>
            </a: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889495CB-53C0-4735-A2AC-569A94FC0779}"/>
              </a:ext>
            </a:extLst>
          </p:cNvPr>
          <p:cNvSpPr>
            <a:spLocks noGrp="1"/>
          </p:cNvSpPr>
          <p:nvPr/>
        </p:nvSpPr>
        <p:spPr>
          <a:xfrm>
            <a:off x="3924300" y="2514600"/>
            <a:ext cx="1028700" cy="0"/>
          </a:xfrm>
          <a:prstGeom prst="line">
            <a:avLst/>
          </a:prstGeom>
          <a:noFill/>
          <a:ln w="1905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0833A82-343E-4BC6-A134-747F3FCEBD1F}"/>
              </a:ext>
            </a:extLst>
          </p:cNvPr>
          <p:cNvSpPr>
            <a:spLocks noGrp="1"/>
          </p:cNvSpPr>
          <p:nvPr/>
        </p:nvSpPr>
        <p:spPr>
          <a:xfrm>
            <a:off x="5067300" y="2076450"/>
            <a:ext cx="876300" cy="876300"/>
          </a:xfrm>
          <a:prstGeom prst="ellipse">
            <a:avLst/>
          </a:prstGeom>
          <a:solidFill>
            <a:srgbClr val="D27A5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5BAA0E6-9057-429A-ABCA-C64177754CED}"/>
              </a:ext>
            </a:extLst>
          </p:cNvPr>
          <p:cNvSpPr>
            <a:spLocks noGrp="1"/>
          </p:cNvSpPr>
          <p:nvPr/>
        </p:nvSpPr>
        <p:spPr>
          <a:xfrm>
            <a:off x="5353050" y="234315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4AF09DD-3569-403C-B70A-BEB2BAD9C748}"/>
              </a:ext>
            </a:extLst>
          </p:cNvPr>
          <p:cNvSpPr>
            <a:spLocks noGrp="1"/>
          </p:cNvSpPr>
          <p:nvPr/>
        </p:nvSpPr>
        <p:spPr>
          <a:xfrm>
            <a:off x="4591050" y="32194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设置缩放比例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0CD5CB39-EA8A-47F2-A356-23849B2FACFE}"/>
              </a:ext>
            </a:extLst>
          </p:cNvPr>
          <p:cNvSpPr>
            <a:spLocks noGrp="1"/>
          </p:cNvSpPr>
          <p:nvPr/>
        </p:nvSpPr>
        <p:spPr>
          <a:xfrm>
            <a:off x="6019800" y="2514600"/>
            <a:ext cx="1028700" cy="0"/>
          </a:xfrm>
          <a:prstGeom prst="line">
            <a:avLst/>
          </a:prstGeom>
          <a:noFill/>
          <a:ln w="1905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F5B500FB-B237-4166-B03F-6AD37ABBF9D2}"/>
              </a:ext>
            </a:extLst>
          </p:cNvPr>
          <p:cNvSpPr>
            <a:spLocks noGrp="1"/>
          </p:cNvSpPr>
          <p:nvPr/>
        </p:nvSpPr>
        <p:spPr>
          <a:xfrm>
            <a:off x="7162800" y="2076450"/>
            <a:ext cx="876300" cy="876300"/>
          </a:xfrm>
          <a:prstGeom prst="ellipse">
            <a:avLst/>
          </a:prstGeom>
          <a:solidFill>
            <a:srgbClr val="C86B6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F7DE26D-E372-424F-8299-34F4EB2448D8}"/>
              </a:ext>
            </a:extLst>
          </p:cNvPr>
          <p:cNvSpPr>
            <a:spLocks noGrp="1"/>
          </p:cNvSpPr>
          <p:nvPr/>
        </p:nvSpPr>
        <p:spPr>
          <a:xfrm>
            <a:off x="7448550" y="234315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600E5CA-9CC4-44A3-B90A-408A06B1194E}"/>
              </a:ext>
            </a:extLst>
          </p:cNvPr>
          <p:cNvSpPr>
            <a:spLocks noGrp="1"/>
          </p:cNvSpPr>
          <p:nvPr/>
        </p:nvSpPr>
        <p:spPr>
          <a:xfrm>
            <a:off x="6686550" y="32194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设置遮挡方式</a:t>
            </a:r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422E273D-244D-48AC-8609-509E66120721}"/>
              </a:ext>
            </a:extLst>
          </p:cNvPr>
          <p:cNvSpPr>
            <a:spLocks noGrp="1"/>
          </p:cNvSpPr>
          <p:nvPr/>
        </p:nvSpPr>
        <p:spPr>
          <a:xfrm>
            <a:off x="8115300" y="2514600"/>
            <a:ext cx="1028700" cy="0"/>
          </a:xfrm>
          <a:prstGeom prst="line">
            <a:avLst/>
          </a:prstGeom>
          <a:noFill/>
          <a:ln w="19050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95C64C85-E873-47FE-B97F-71355BC4DB6F}"/>
              </a:ext>
            </a:extLst>
          </p:cNvPr>
          <p:cNvSpPr>
            <a:spLocks noGrp="1"/>
          </p:cNvSpPr>
          <p:nvPr/>
        </p:nvSpPr>
        <p:spPr>
          <a:xfrm>
            <a:off x="9258300" y="2076450"/>
            <a:ext cx="876300" cy="876300"/>
          </a:xfrm>
          <a:prstGeom prst="ellipse">
            <a:avLst/>
          </a:prstGeom>
          <a:solidFill>
            <a:srgbClr val="6E947C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F3DA73B-787A-44E7-BF63-EAAFCC259E14}"/>
              </a:ext>
            </a:extLst>
          </p:cNvPr>
          <p:cNvSpPr>
            <a:spLocks noGrp="1"/>
          </p:cNvSpPr>
          <p:nvPr/>
        </p:nvSpPr>
        <p:spPr>
          <a:xfrm>
            <a:off x="9544050" y="2343150"/>
            <a:ext cx="30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142A809-CE9C-4F2F-9D05-260458A6989F}"/>
              </a:ext>
            </a:extLst>
          </p:cNvPr>
          <p:cNvSpPr>
            <a:spLocks noGrp="1"/>
          </p:cNvSpPr>
          <p:nvPr/>
        </p:nvSpPr>
        <p:spPr>
          <a:xfrm>
            <a:off x="8782050" y="32194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聚焦人物并导出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285798D8-E5A4-4FF4-B125-E4A0AAE70DB8}"/>
              </a:ext>
            </a:extLst>
          </p:cNvPr>
          <p:cNvSpPr>
            <a:spLocks noGrp="1"/>
          </p:cNvSpPr>
          <p:nvPr/>
        </p:nvSpPr>
        <p:spPr>
          <a:xfrm>
            <a:off x="1104900" y="4267200"/>
            <a:ext cx="9982200" cy="857250"/>
          </a:xfrm>
          <a:prstGeom prst="roundRect">
            <a:avLst>
              <a:gd name="adj" fmla="val 17778"/>
            </a:avLst>
          </a:prstGeom>
          <a:solidFill>
            <a:srgbClr val="DDEAE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2A8B0DA-CA85-4D3E-97CF-2295B517B1A9}"/>
              </a:ext>
            </a:extLst>
          </p:cNvPr>
          <p:cNvSpPr>
            <a:spLocks noGrp="1"/>
          </p:cNvSpPr>
          <p:nvPr/>
        </p:nvSpPr>
        <p:spPr>
          <a:xfrm>
            <a:off x="1390650" y="44577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现场展示重点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F8AF7E8-23A4-4452-851E-A30A92D00184}"/>
              </a:ext>
            </a:extLst>
          </p:cNvPr>
          <p:cNvSpPr>
            <a:spLocks noGrp="1"/>
          </p:cNvSpPr>
          <p:nvPr/>
        </p:nvSpPr>
        <p:spPr>
          <a:xfrm>
            <a:off x="3143250" y="443865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同一人物、同一视频帧、只改变一个处理条件，然后查看前后图像和结果表。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7CE73B0-649A-446E-9DF0-B1AB3DE22482}"/>
              </a:ext>
            </a:extLst>
          </p:cNvPr>
          <p:cNvSpPr>
            <a:spLocks noGrp="1"/>
          </p:cNvSpPr>
          <p:nvPr/>
        </p:nvSpPr>
        <p:spPr>
          <a:xfrm>
            <a:off x="1104900" y="5638800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建议演示时提前准备小样本，避免现场扫描整套数据产生等待。</a:t>
            </a:r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A91C2084-C6B1-47FD-990E-CDD0AC73631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5CD940B-2481-490B-B865-3A4B4F3CDCE4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研究汇报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CDD9042-C3FF-4D7A-AD1E-A832B735ADBB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13801671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>
            <a:extLst>
              <a:ext uri="{FF2B5EF4-FFF2-40B4-BE49-F238E27FC236}">
                <a16:creationId xmlns:a16="http://schemas.microsoft.com/office/drawing/2014/main" id="{9D02172F-4AFB-400A-9F80-DBBD4AD4650A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每个条件都可以从配置文件复现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F7D5B43-F4E0-4E06-8315-6EA328FB6B7A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32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3092792-DAC2-40C6-8EDF-1065AAEF871C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实验参数附录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EEDCAA81-4572-4154-8EE9-1E5A5F78CAF3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C2E1313-A16C-4C79-AA01-9072A92B8AA1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2476500" cy="4953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EA99F39-4284-44E1-8B24-DE83AFF2DF63}"/>
              </a:ext>
            </a:extLst>
          </p:cNvPr>
          <p:cNvSpPr>
            <a:spLocks noGrp="1"/>
          </p:cNvSpPr>
          <p:nvPr/>
        </p:nvSpPr>
        <p:spPr>
          <a:xfrm>
            <a:off x="800100" y="1866900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参数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9C4C0CC-97C1-4B59-A1A1-12A3C15AAA36}"/>
              </a:ext>
            </a:extLst>
          </p:cNvPr>
          <p:cNvSpPr>
            <a:spLocks noGrp="1"/>
          </p:cNvSpPr>
          <p:nvPr/>
        </p:nvSpPr>
        <p:spPr>
          <a:xfrm>
            <a:off x="3162300" y="1752600"/>
            <a:ext cx="2381250" cy="4953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0A886C1-891D-4FF3-8252-9E732C95606A}"/>
              </a:ext>
            </a:extLst>
          </p:cNvPr>
          <p:cNvSpPr>
            <a:spLocks noGrp="1"/>
          </p:cNvSpPr>
          <p:nvPr/>
        </p:nvSpPr>
        <p:spPr>
          <a:xfrm>
            <a:off x="3276600" y="186690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示例值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B10209-9430-47F9-93C4-77542F0BB93C}"/>
              </a:ext>
            </a:extLst>
          </p:cNvPr>
          <p:cNvSpPr>
            <a:spLocks noGrp="1"/>
          </p:cNvSpPr>
          <p:nvPr/>
        </p:nvSpPr>
        <p:spPr>
          <a:xfrm>
            <a:off x="5543550" y="1752600"/>
            <a:ext cx="3143250" cy="4953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02BFA0-5717-409F-BC94-39A8FF4883F0}"/>
              </a:ext>
            </a:extLst>
          </p:cNvPr>
          <p:cNvSpPr>
            <a:spLocks noGrp="1"/>
          </p:cNvSpPr>
          <p:nvPr/>
        </p:nvSpPr>
        <p:spPr>
          <a:xfrm>
            <a:off x="5657850" y="186690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作用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FE9F3C-3AE2-4CE1-AAB8-17C9D1BBFFB5}"/>
              </a:ext>
            </a:extLst>
          </p:cNvPr>
          <p:cNvSpPr>
            <a:spLocks noGrp="1"/>
          </p:cNvSpPr>
          <p:nvPr/>
        </p:nvSpPr>
        <p:spPr>
          <a:xfrm>
            <a:off x="8686800" y="1752600"/>
            <a:ext cx="2819400" cy="495300"/>
          </a:xfrm>
          <a:prstGeom prst="rect">
            <a:avLst/>
          </a:prstGeom>
          <a:solidFill>
            <a:srgbClr val="173C3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A8367AF-A1E1-4A96-BF9C-49CB04AB3D09}"/>
              </a:ext>
            </a:extLst>
          </p:cNvPr>
          <p:cNvSpPr>
            <a:spLocks noGrp="1"/>
          </p:cNvSpPr>
          <p:nvPr/>
        </p:nvSpPr>
        <p:spPr>
          <a:xfrm>
            <a:off x="8801100" y="1866900"/>
            <a:ext cx="259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记录位置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CF6B0D7-FA24-4617-830B-4295C46F637C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247650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0843BFC-5BD5-4EB8-9338-BD486431E85E}"/>
              </a:ext>
            </a:extLst>
          </p:cNvPr>
          <p:cNvSpPr>
            <a:spLocks noGrp="1"/>
          </p:cNvSpPr>
          <p:nvPr/>
        </p:nvSpPr>
        <p:spPr>
          <a:xfrm>
            <a:off x="800100" y="2362200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resolution_scale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95FBBF-C209-415B-8617-43D776B4D6A0}"/>
              </a:ext>
            </a:extLst>
          </p:cNvPr>
          <p:cNvSpPr>
            <a:spLocks noGrp="1"/>
          </p:cNvSpPr>
          <p:nvPr/>
        </p:nvSpPr>
        <p:spPr>
          <a:xfrm>
            <a:off x="3162300" y="2247900"/>
            <a:ext cx="2381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F5B65B4-74A2-4563-8DFF-9BA3791BF566}"/>
              </a:ext>
            </a:extLst>
          </p:cNvPr>
          <p:cNvSpPr>
            <a:spLocks noGrp="1"/>
          </p:cNvSpPr>
          <p:nvPr/>
        </p:nvSpPr>
        <p:spPr>
          <a:xfrm>
            <a:off x="3276600" y="236220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1.0 / 0.5 / 0.25 / 0.125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AF1C610-0AD0-4D43-BF93-53BCBE990374}"/>
              </a:ext>
            </a:extLst>
          </p:cNvPr>
          <p:cNvSpPr>
            <a:spLocks noGrp="1"/>
          </p:cNvSpPr>
          <p:nvPr/>
        </p:nvSpPr>
        <p:spPr>
          <a:xfrm>
            <a:off x="5543550" y="2247900"/>
            <a:ext cx="3143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4C59CED-7242-494A-84D3-F2E16B194A53}"/>
              </a:ext>
            </a:extLst>
          </p:cNvPr>
          <p:cNvSpPr>
            <a:spLocks noGrp="1"/>
          </p:cNvSpPr>
          <p:nvPr/>
        </p:nvSpPr>
        <p:spPr>
          <a:xfrm>
            <a:off x="5657850" y="236220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控制远距离视觉信息量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CCA951E-A517-4C26-863C-3DE2B4E469CE}"/>
              </a:ext>
            </a:extLst>
          </p:cNvPr>
          <p:cNvSpPr>
            <a:spLocks noGrp="1"/>
          </p:cNvSpPr>
          <p:nvPr/>
        </p:nvSpPr>
        <p:spPr>
          <a:xfrm>
            <a:off x="8686800" y="2247900"/>
            <a:ext cx="281940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02DEA34-59FB-4E47-9959-139F9D92363A}"/>
              </a:ext>
            </a:extLst>
          </p:cNvPr>
          <p:cNvSpPr>
            <a:spLocks noGrp="1"/>
          </p:cNvSpPr>
          <p:nvPr/>
        </p:nvSpPr>
        <p:spPr>
          <a:xfrm>
            <a:off x="8801100" y="2362200"/>
            <a:ext cx="259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experiment_config.json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F1C802C-DAA9-4290-A95F-DB61B178C7A4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247650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0F52A7C-D2B3-4CF0-851C-117D6360C9B2}"/>
              </a:ext>
            </a:extLst>
          </p:cNvPr>
          <p:cNvSpPr>
            <a:spLocks noGrp="1"/>
          </p:cNvSpPr>
          <p:nvPr/>
        </p:nvSpPr>
        <p:spPr>
          <a:xfrm>
            <a:off x="800100" y="2857500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occlusion_type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6879605-DF61-4E16-B6B1-4502EBB575E6}"/>
              </a:ext>
            </a:extLst>
          </p:cNvPr>
          <p:cNvSpPr>
            <a:spLocks noGrp="1"/>
          </p:cNvSpPr>
          <p:nvPr/>
        </p:nvSpPr>
        <p:spPr>
          <a:xfrm>
            <a:off x="3162300" y="2743200"/>
            <a:ext cx="23812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7EF9D55-F41B-49A7-B6AD-C6793C8E41ED}"/>
              </a:ext>
            </a:extLst>
          </p:cNvPr>
          <p:cNvSpPr>
            <a:spLocks noGrp="1"/>
          </p:cNvSpPr>
          <p:nvPr/>
        </p:nvSpPr>
        <p:spPr>
          <a:xfrm>
            <a:off x="3276600" y="285750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pixel / rectangle / keypoint / foreground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0A4C1DD-A4B8-447A-BEE8-463D0567A6DD}"/>
              </a:ext>
            </a:extLst>
          </p:cNvPr>
          <p:cNvSpPr>
            <a:spLocks noGrp="1"/>
          </p:cNvSpPr>
          <p:nvPr/>
        </p:nvSpPr>
        <p:spPr>
          <a:xfrm>
            <a:off x="5543550" y="2743200"/>
            <a:ext cx="31432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788EB57-0DC2-490C-B354-23D9E7D7336C}"/>
              </a:ext>
            </a:extLst>
          </p:cNvPr>
          <p:cNvSpPr>
            <a:spLocks noGrp="1"/>
          </p:cNvSpPr>
          <p:nvPr/>
        </p:nvSpPr>
        <p:spPr>
          <a:xfrm>
            <a:off x="5657850" y="285750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区分遮挡来源和结构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D6084CD-CE41-43F9-A17D-D6F4283AF303}"/>
              </a:ext>
            </a:extLst>
          </p:cNvPr>
          <p:cNvSpPr>
            <a:spLocks noGrp="1"/>
          </p:cNvSpPr>
          <p:nvPr/>
        </p:nvSpPr>
        <p:spPr>
          <a:xfrm>
            <a:off x="8686800" y="2743200"/>
            <a:ext cx="281940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D33C88-3AF9-451A-AFD2-9BBFEE432C02}"/>
              </a:ext>
            </a:extLst>
          </p:cNvPr>
          <p:cNvSpPr>
            <a:spLocks noGrp="1"/>
          </p:cNvSpPr>
          <p:nvPr/>
        </p:nvSpPr>
        <p:spPr>
          <a:xfrm>
            <a:off x="8801100" y="2857500"/>
            <a:ext cx="259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experiment_config.json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319F070-9967-4FA9-A02E-3F33FE022428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247650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4E22467-22CA-4C8D-9F95-4942965F16B2}"/>
              </a:ext>
            </a:extLst>
          </p:cNvPr>
          <p:cNvSpPr>
            <a:spLocks noGrp="1"/>
          </p:cNvSpPr>
          <p:nvPr/>
        </p:nvSpPr>
        <p:spPr>
          <a:xfrm>
            <a:off x="800100" y="3352800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occlusion_area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DF0D39D-C692-4232-BA72-4E9F5700C2C0}"/>
              </a:ext>
            </a:extLst>
          </p:cNvPr>
          <p:cNvSpPr>
            <a:spLocks noGrp="1"/>
          </p:cNvSpPr>
          <p:nvPr/>
        </p:nvSpPr>
        <p:spPr>
          <a:xfrm>
            <a:off x="3162300" y="3238500"/>
            <a:ext cx="2381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C0CF4F3-77C6-4581-8EA3-1D258AE70642}"/>
              </a:ext>
            </a:extLst>
          </p:cNvPr>
          <p:cNvSpPr>
            <a:spLocks noGrp="1"/>
          </p:cNvSpPr>
          <p:nvPr/>
        </p:nvSpPr>
        <p:spPr>
          <a:xfrm>
            <a:off x="3276600" y="335280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2% / 5% / 8%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B03B407-3C7E-41C2-BA30-2AFECDEA6FB5}"/>
              </a:ext>
            </a:extLst>
          </p:cNvPr>
          <p:cNvSpPr>
            <a:spLocks noGrp="1"/>
          </p:cNvSpPr>
          <p:nvPr/>
        </p:nvSpPr>
        <p:spPr>
          <a:xfrm>
            <a:off x="5543550" y="3238500"/>
            <a:ext cx="3143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8AB5EAE-C6D7-4A08-B3BB-B45E42A97DB1}"/>
              </a:ext>
            </a:extLst>
          </p:cNvPr>
          <p:cNvSpPr>
            <a:spLocks noGrp="1"/>
          </p:cNvSpPr>
          <p:nvPr/>
        </p:nvSpPr>
        <p:spPr>
          <a:xfrm>
            <a:off x="5657850" y="335280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控制遮挡强度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13D5415-9721-4A9E-BD05-DA20408F477D}"/>
              </a:ext>
            </a:extLst>
          </p:cNvPr>
          <p:cNvSpPr>
            <a:spLocks noGrp="1"/>
          </p:cNvSpPr>
          <p:nvPr/>
        </p:nvSpPr>
        <p:spPr>
          <a:xfrm>
            <a:off x="8686800" y="3238500"/>
            <a:ext cx="281940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27B75A3-58B8-4CE6-8AF7-1540132CFE3E}"/>
              </a:ext>
            </a:extLst>
          </p:cNvPr>
          <p:cNvSpPr>
            <a:spLocks noGrp="1"/>
          </p:cNvSpPr>
          <p:nvPr/>
        </p:nvSpPr>
        <p:spPr>
          <a:xfrm>
            <a:off x="8801100" y="3352800"/>
            <a:ext cx="259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experiment_config.json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4EFCFEB-30FF-4096-A29B-1FBCE5651EF0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247650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C579890-4CBC-4D95-99FF-404DAAE2FB06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temporal_consistency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9755A42-406E-4288-88FB-1C99E023DACF}"/>
              </a:ext>
            </a:extLst>
          </p:cNvPr>
          <p:cNvSpPr>
            <a:spLocks noGrp="1"/>
          </p:cNvSpPr>
          <p:nvPr/>
        </p:nvSpPr>
        <p:spPr>
          <a:xfrm>
            <a:off x="3162300" y="3733800"/>
            <a:ext cx="23812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1253D88-31EA-438F-8A50-E30024F0FED9}"/>
              </a:ext>
            </a:extLst>
          </p:cNvPr>
          <p:cNvSpPr>
            <a:spLocks noGrp="1"/>
          </p:cNvSpPr>
          <p:nvPr/>
        </p:nvSpPr>
        <p:spPr>
          <a:xfrm>
            <a:off x="3276600" y="384810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on / off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2255426-A43F-4B82-8927-4B7BB0C9C16B}"/>
              </a:ext>
            </a:extLst>
          </p:cNvPr>
          <p:cNvSpPr>
            <a:spLocks noGrp="1"/>
          </p:cNvSpPr>
          <p:nvPr/>
        </p:nvSpPr>
        <p:spPr>
          <a:xfrm>
            <a:off x="5543550" y="3733800"/>
            <a:ext cx="314325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AA4C418-6D0B-4BD8-94C8-79F4A1265A21}"/>
              </a:ext>
            </a:extLst>
          </p:cNvPr>
          <p:cNvSpPr>
            <a:spLocks noGrp="1"/>
          </p:cNvSpPr>
          <p:nvPr/>
        </p:nvSpPr>
        <p:spPr>
          <a:xfrm>
            <a:off x="5657850" y="384810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视频中保持遮挡位置连续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F50A1D5-9402-4C76-8BF4-261C99F7CC69}"/>
              </a:ext>
            </a:extLst>
          </p:cNvPr>
          <p:cNvSpPr>
            <a:spLocks noGrp="1"/>
          </p:cNvSpPr>
          <p:nvPr/>
        </p:nvSpPr>
        <p:spPr>
          <a:xfrm>
            <a:off x="8686800" y="3733800"/>
            <a:ext cx="2819400" cy="495300"/>
          </a:xfrm>
          <a:prstGeom prst="rect">
            <a:avLst/>
          </a:prstGeom>
          <a:solidFill>
            <a:srgbClr val="DDEAE5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43EEF2F-C2DE-4DB3-B95D-0D95953006D3}"/>
              </a:ext>
            </a:extLst>
          </p:cNvPr>
          <p:cNvSpPr>
            <a:spLocks noGrp="1"/>
          </p:cNvSpPr>
          <p:nvPr/>
        </p:nvSpPr>
        <p:spPr>
          <a:xfrm>
            <a:off x="8801100" y="3848100"/>
            <a:ext cx="259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reproducibility.json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F23B321-04B4-4BD8-89AE-F02D62BCF942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247650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D672E3E-6C69-4E06-BA0A-6C8DB15E23BF}"/>
              </a:ext>
            </a:extLst>
          </p:cNvPr>
          <p:cNvSpPr>
            <a:spLocks noGrp="1"/>
          </p:cNvSpPr>
          <p:nvPr/>
        </p:nvSpPr>
        <p:spPr>
          <a:xfrm>
            <a:off x="800100" y="4343400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random_seed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9DDDBCC-76D0-4A65-BC89-E0D69D40B685}"/>
              </a:ext>
            </a:extLst>
          </p:cNvPr>
          <p:cNvSpPr>
            <a:spLocks noGrp="1"/>
          </p:cNvSpPr>
          <p:nvPr/>
        </p:nvSpPr>
        <p:spPr>
          <a:xfrm>
            <a:off x="3162300" y="4229100"/>
            <a:ext cx="2381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2A1F185-BD65-45F6-9DF3-109580434C7C}"/>
              </a:ext>
            </a:extLst>
          </p:cNvPr>
          <p:cNvSpPr>
            <a:spLocks noGrp="1"/>
          </p:cNvSpPr>
          <p:nvPr/>
        </p:nvSpPr>
        <p:spPr>
          <a:xfrm>
            <a:off x="3276600" y="434340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固定整数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BB8D7E4-15A4-40BA-B167-37F086CDD880}"/>
              </a:ext>
            </a:extLst>
          </p:cNvPr>
          <p:cNvSpPr>
            <a:spLocks noGrp="1"/>
          </p:cNvSpPr>
          <p:nvPr/>
        </p:nvSpPr>
        <p:spPr>
          <a:xfrm>
            <a:off x="5543550" y="4229100"/>
            <a:ext cx="314325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025002C-B656-4D79-9C2C-31D8B94AC65F}"/>
              </a:ext>
            </a:extLst>
          </p:cNvPr>
          <p:cNvSpPr>
            <a:spLocks noGrp="1"/>
          </p:cNvSpPr>
          <p:nvPr/>
        </p:nvSpPr>
        <p:spPr>
          <a:xfrm>
            <a:off x="5657850" y="434340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保证随机抽样和遮挡可复现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2A5D50E-9CEC-4BD6-9240-81EF99C0C27B}"/>
              </a:ext>
            </a:extLst>
          </p:cNvPr>
          <p:cNvSpPr>
            <a:spLocks noGrp="1"/>
          </p:cNvSpPr>
          <p:nvPr/>
        </p:nvSpPr>
        <p:spPr>
          <a:xfrm>
            <a:off x="8686800" y="4229100"/>
            <a:ext cx="2819400" cy="495300"/>
          </a:xfrm>
          <a:prstGeom prst="rect">
            <a:avLst/>
          </a:prstGeom>
          <a:solidFill>
            <a:srgbClr val="FFFDF8"/>
          </a:solidFill>
          <a:ln w="9525">
            <a:solidFill>
              <a:srgbClr val="FFF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E95CC56-3363-488D-BA50-7F3361713A24}"/>
              </a:ext>
            </a:extLst>
          </p:cNvPr>
          <p:cNvSpPr>
            <a:spLocks noGrp="1"/>
          </p:cNvSpPr>
          <p:nvPr/>
        </p:nvSpPr>
        <p:spPr>
          <a:xfrm>
            <a:off x="8801100" y="4343400"/>
            <a:ext cx="259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ctr">
              <a:def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reproducibility.json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1FAC325F-F18D-44F8-8974-67ED8910D7F5}"/>
              </a:ext>
            </a:extLst>
          </p:cNvPr>
          <p:cNvSpPr>
            <a:spLocks noGrp="1"/>
          </p:cNvSpPr>
          <p:nvPr/>
        </p:nvSpPr>
        <p:spPr>
          <a:xfrm>
            <a:off x="685800" y="5143500"/>
            <a:ext cx="10820400" cy="666750"/>
          </a:xfrm>
          <a:prstGeom prst="roundRect">
            <a:avLst>
              <a:gd name="adj" fmla="val 17143"/>
            </a:avLst>
          </a:prstGeom>
          <a:solidFill>
            <a:srgbClr val="F3E3D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61817CA-C216-4212-8A84-1A0CC29F9748}"/>
              </a:ext>
            </a:extLst>
          </p:cNvPr>
          <p:cNvSpPr>
            <a:spLocks noGrp="1"/>
          </p:cNvSpPr>
          <p:nvPr/>
        </p:nvSpPr>
        <p:spPr>
          <a:xfrm>
            <a:off x="914400" y="5362575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参数表与输出哈希一起保存，便于复现实验和解释差异。</a:t>
            </a:r>
          </a:p>
        </p:txBody>
      </p:sp>
      <p:sp>
        <p:nvSpPr>
          <p:cNvPr id="55" name="直接连接符 54">
            <a:extLst>
              <a:ext uri="{FF2B5EF4-FFF2-40B4-BE49-F238E27FC236}">
                <a16:creationId xmlns:a16="http://schemas.microsoft.com/office/drawing/2014/main" id="{F3AD4F26-6B5D-4288-828F-2457A7391BC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30B7C4D-9C8F-431E-9F35-89A808CDCAE8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附录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27B00D5-2FBA-42B1-8EAB-AA411F81D705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19788423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DA922EE4-F2F2-440A-9BBE-B6A17DBD2D53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把复杂课堂场景转成可量化的实验条件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09F32B-867A-4119-A26B-A913B5E854CE}"/>
              </a:ext>
            </a:extLst>
          </p:cNvPr>
          <p:cNvSpPr>
            <a:spLocks noGrp="1"/>
          </p:cNvSpPr>
          <p:nvPr/>
        </p:nvSpPr>
        <p:spPr>
          <a:xfrm>
            <a:off x="10668000" y="342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33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7EFEDD1-FAA1-4E8F-A62C-5370ADFC75D8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9334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defPPr>
            <a:lvl1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1pPr>
            <a:lvl2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2pPr>
            <a:lvl3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3pPr>
            <a:lvl4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4pPr>
            <a:lvl5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5pPr>
            <a:lvl6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6pPr>
            <a:lvl7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7pPr>
            <a:lvl8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8pPr>
            <a:lvl9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lvl9pPr>
          </a:lstStyle>
          <a:p>
            <a:pPr algn="l">
              <a:def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>
                <a:solidFill>
                  <a:srgbClr val="19312E"/>
                </a:solidFill>
                <a:latin typeface="Noto Serif SC"/>
                <a:ea typeface="Noto Serif SC"/>
                <a:cs typeface="Noto Serif SC"/>
              </a:rPr>
              <a:t>结论与下一步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F46A3AF8-454B-48A6-AD68-659BA861F4F1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AB36FDE-E601-48AF-8FA6-2EACBAEB7297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4762500" cy="2667000"/>
          </a:xfrm>
          <a:prstGeom prst="roundRect">
            <a:avLst>
              <a:gd name="adj" fmla="val 5714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03F645D-2B9A-4C1D-9E5E-FE9E55A026E5}"/>
              </a:ext>
            </a:extLst>
          </p:cNvPr>
          <p:cNvSpPr>
            <a:spLocks noGrp="1"/>
          </p:cNvSpPr>
          <p:nvPr/>
        </p:nvSpPr>
        <p:spPr>
          <a:xfrm>
            <a:off x="6477000" y="1619250"/>
            <a:ext cx="4762500" cy="2667000"/>
          </a:xfrm>
          <a:prstGeom prst="roundRect">
            <a:avLst>
              <a:gd name="adj" fmla="val 5714"/>
            </a:avLst>
          </a:prstGeom>
          <a:solidFill>
            <a:srgbClr val="FFFDF8"/>
          </a:solidFill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1264DC9-C511-4C3C-872F-B92A654CA6A7}"/>
              </a:ext>
            </a:extLst>
          </p:cNvPr>
          <p:cNvSpPr>
            <a:spLocks noGrp="1"/>
          </p:cNvSpPr>
          <p:nvPr/>
        </p:nvSpPr>
        <p:spPr>
          <a:xfrm>
            <a:off x="914400" y="18478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3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B6D66"/>
                </a:solidFill>
                <a:latin typeface="Noto Sans SC"/>
                <a:ea typeface="Noto Sans SC"/>
                <a:cs typeface="Noto Sans SC"/>
              </a:rPr>
              <a:t>已经形成的能力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5341C1-8807-4002-92E7-B6402FB613F7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4095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数据集扫描与索引</a:t>
            </a:r>
          </a:p>
          <a:p>
            <a: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图片/视频分开处理</a:t>
            </a:r>
          </a:p>
          <a:p>
            <a: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分辨率缩放与恢复</a:t>
            </a:r>
          </a:p>
          <a:p>
            <a: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多种遮挡和隐私处理</a:t>
            </a:r>
          </a:p>
          <a:p>
            <a: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单人物 ROI 与多人跟踪</a:t>
            </a:r>
          </a:p>
          <a:p>
            <a: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结果、配置和哈希导出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1455B023-8126-4B2B-B899-A620FA5F6DFF}"/>
              </a:ext>
            </a:extLst>
          </p:cNvPr>
          <p:cNvSpPr>
            <a:spLocks noGrp="1"/>
          </p:cNvSpPr>
          <p:nvPr/>
        </p:nvSpPr>
        <p:spPr>
          <a:xfrm>
            <a:off x="5829300" y="1771650"/>
            <a:ext cx="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7CDB29C-23A0-45A6-92D9-4D06899FC765}"/>
              </a:ext>
            </a:extLst>
          </p:cNvPr>
          <p:cNvSpPr>
            <a:spLocks noGrp="1"/>
          </p:cNvSpPr>
          <p:nvPr/>
        </p:nvSpPr>
        <p:spPr>
          <a:xfrm>
            <a:off x="6705600" y="18478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D27A55"/>
                </a:solidFill>
                <a:latin typeface="Noto Sans SC"/>
                <a:ea typeface="Noto Sans SC"/>
                <a:cs typeface="Noto Sans SC"/>
              </a:rPr>
              <a:t>下一步需要回答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8C9929-537E-499E-81D9-D1D0B91FD5EA}"/>
              </a:ext>
            </a:extLst>
          </p:cNvPr>
          <p:cNvSpPr>
            <a:spLocks noGrp="1"/>
          </p:cNvSpPr>
          <p:nvPr/>
        </p:nvSpPr>
        <p:spPr>
          <a:xfrm>
            <a:off x="6705600" y="2266950"/>
            <a:ext cx="4095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分辨率下降首先影响哪个任务？</a:t>
            </a:r>
          </a:p>
          <a:p>
            <a: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遮挡对面部、姿态和行为的影响是否不同？</a:t>
            </a:r>
          </a:p>
          <a:p>
            <a:pPr algn="l">
              <a:def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9312E"/>
                </a:solidFill>
                <a:latin typeface="Noto Sans SC"/>
                <a:ea typeface="Noto Sans SC"/>
                <a:cs typeface="Noto Sans SC"/>
              </a:rPr>
              <a:t>恢复分辨率能否改善真实模型性能？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96FAE18-5B4F-40D6-9BF7-D847CA0C2572}"/>
              </a:ext>
            </a:extLst>
          </p:cNvPr>
          <p:cNvSpPr>
            <a:spLocks noGrp="1"/>
          </p:cNvSpPr>
          <p:nvPr/>
        </p:nvSpPr>
        <p:spPr>
          <a:xfrm>
            <a:off x="6477000" y="4343400"/>
            <a:ext cx="4286250" cy="876300"/>
          </a:xfrm>
          <a:prstGeom prst="roundRect">
            <a:avLst>
              <a:gd name="adj" fmla="val 17391"/>
            </a:avLst>
          </a:prstGeom>
          <a:solidFill>
            <a:srgbClr val="173C3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A6F597C-5AEF-472D-B429-C55EB42CDD99}"/>
              </a:ext>
            </a:extLst>
          </p:cNvPr>
          <p:cNvSpPr>
            <a:spLocks noGrp="1"/>
          </p:cNvSpPr>
          <p:nvPr/>
        </p:nvSpPr>
        <p:spPr>
          <a:xfrm>
            <a:off x="6724650" y="4572000"/>
            <a:ext cx="3810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FFDF8"/>
                </a:solidFill>
                <a:latin typeface="Noto Sans SC"/>
                <a:ea typeface="Noto Sans SC"/>
                <a:cs typeface="Noto Sans SC"/>
              </a:rPr>
              <a:t>接入真实模型预测结果，完成性能曲线和显著性比较。</a:t>
            </a:r>
          </a:p>
        </p:txBody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A48A386E-1FD0-431E-9E44-F34E876C6B9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1082040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3086512-14CA-4234-8376-09DF1E330729}"/>
              </a:ext>
            </a:extLst>
          </p:cNvPr>
          <p:cNvSpPr>
            <a:spLocks noGrp="1"/>
          </p:cNvSpPr>
          <p:nvPr/>
        </p:nvSpPr>
        <p:spPr>
          <a:xfrm>
            <a:off x="685800" y="657225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l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结束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09A9C58-19C2-4FC9-91DF-F9AAFED2EB32}"/>
              </a:ext>
            </a:extLst>
          </p:cNvPr>
          <p:cNvSpPr>
            <a:spLocks noGrp="1"/>
          </p:cNvSpPr>
          <p:nvPr/>
        </p:nvSpPr>
        <p:spPr>
          <a:xfrm>
            <a:off x="7905750" y="6572250"/>
            <a:ext cx="3600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defPPr>
            <a:lvl1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1pPr>
            <a:lvl2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2pPr>
            <a:lvl3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3pPr>
            <a:lvl4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4pPr>
            <a:lvl5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5pPr>
            <a:lvl6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6pPr>
            <a:lvl7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7pPr>
            <a:lvl8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8pPr>
            <a:lvl9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lvl9pPr>
          </a:lstStyle>
          <a:p>
            <a:pPr algn="r">
              <a:def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B756F"/>
                </a:solidFill>
                <a:latin typeface="Noto Sans SC"/>
                <a:ea typeface="Noto Sans SC"/>
                <a:cs typeface="Noto Sans SC"/>
              </a:rPr>
              <a:t>课堂视觉数据处理台</a:t>
            </a:r>
          </a:p>
        </p:txBody>
      </p:sp>
    </p:spTree>
    <p:extLst>
      <p:ext uri="{BB962C8B-B14F-4D97-AF65-F5344CB8AC3E}">
        <p14:creationId xmlns:p14="http://schemas.microsoft.com/office/powerpoint/2010/main" val="10272704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49.xml><?xml version="1.0" encoding="utf-8"?>
<p:sld xmlns:a="http://schemas.openxmlformats.org/drawingml/2006/main" xmlns:mc="http://schemas.openxmlformats.org/markup-compatibility/2006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72846" y="425450"/>
            <a:ext cx="10833354" cy="936625"/>
            <a:chOff x="672846" y="425450"/>
            <a:chExt cx="10833354" cy="936625"/>
          </a:xfrm>
        </p:grpSpPr>
        <p:sp>
          <p:nvSpPr>
            <p:cNvPr id="2" name="TextBox 2"/>
            <p:cNvSpPr txBox="1"/>
            <p:nvPr/>
          </p:nvSpPr>
          <p:spPr>
            <a:xfrm>
              <a:off x="680466" y="425450"/>
              <a:ext cx="1015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34A · 最终总结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846" y="749300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最后记住三句话</a:t>
              </a:r>
            </a:p>
          </p:txBody>
        </p:sp>
        <p:sp>
          <p:nvSpPr>
            <p:cNvPr id="4" name="Freeform 4"/>
            <p:cNvSpPr/>
            <p:nvPr/>
          </p:nvSpPr>
          <p:spPr>
            <a:xfrm>
              <a:off x="685800" y="1352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7DED8"/>
              </a:solidFill>
            </a:ln>
          </p:spPr>
        </p:sp>
      </p:grpSp>
      <p:grpSp>
        <p:nvGrpSpPr>
          <p:cNvPr id="12" name="summary-do"/>
          <p:cNvGrpSpPr/>
          <p:nvPr/>
        </p:nvGrpSpPr>
        <p:grpSpPr>
          <a:xfrm>
            <a:off x="685800" y="1676400"/>
            <a:ext cx="3333750" cy="3429000"/>
            <a:chOff x="685800" y="1676400"/>
            <a:chExt cx="3333750" cy="342900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3333750" cy="3429000"/>
            </a:xfrm>
            <a:prstGeom prst="roundRect">
              <a:avLst>
                <a:gd name="adj" fmla="val 4571"/>
              </a:avLst>
            </a:prstGeom>
            <a:solidFill>
              <a:srgbClr val="FFFDF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81456" y="1917700"/>
              <a:ext cx="15224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 xml:space="preserve">1  我做了什么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3742" y="242570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整理课堂行为、投入度、微表情数据</a:t>
              </a:r>
            </a:p>
          </p:txBody>
        </p:sp>
        <p:sp>
          <p:nvSpPr>
            <p:cNvPr id="30" name="TextBox 9"/>
            <p:cNvSpPr txBox="1"/>
            <p:nvPr/>
          </p:nvSpPr>
          <p:spPr>
            <a:xfrm>
              <a:off x="983742" y="2825750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同一张图生成 4 种处理条件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3742" y="322580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接入检测、姿态、投入度参考模型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3742" y="393065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27A55"/>
                  </a:solidFill>
                  <a:latin typeface="Microsoft YaHei"/>
                  <a:ea typeface="Microsoft YaHei"/>
                  <a:cs typeface="Microsoft YaHei"/>
                </a:rPr>
                <a:t>先把复杂课堂场景变成可控实验。</a:t>
              </a:r>
            </a:p>
          </p:txBody>
        </p:sp>
      </p:grpSp>
      <p:grpSp>
        <p:nvGrpSpPr>
          <p:cNvPr id="19" name="summary-see"/>
          <p:cNvGrpSpPr/>
          <p:nvPr/>
        </p:nvGrpSpPr>
        <p:grpSpPr>
          <a:xfrm>
            <a:off x="4429125" y="1676400"/>
            <a:ext cx="3333750" cy="3429000"/>
            <a:chOff x="4429125" y="1676400"/>
            <a:chExt cx="3333750" cy="3429000"/>
          </a:xfrm>
        </p:grpSpPr>
        <p:sp>
          <p:nvSpPr>
            <p:cNvPr id="13" name="Rectangle 13"/>
            <p:cNvSpPr/>
            <p:nvPr/>
          </p:nvSpPr>
          <p:spPr>
            <a:xfrm>
              <a:off x="4429125" y="1676400"/>
              <a:ext cx="3333750" cy="3429000"/>
            </a:xfrm>
            <a:prstGeom prst="roundRect">
              <a:avLst>
                <a:gd name="adj" fmla="val 4571"/>
              </a:avLst>
            </a:prstGeom>
            <a:solidFill>
              <a:srgbClr val="E5EF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724781" y="1917700"/>
              <a:ext cx="17647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 xml:space="preserve">2  目前看到什么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27067" y="2425700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姿态实例：10.83 → 6.67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27067" y="2825750"/>
              <a:ext cx="23826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RT-DETR 框：63.67 → 45.83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27067" y="3225800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投入度：原图30%，组合0%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27067" y="393065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27A55"/>
                  </a:solidFill>
                  <a:latin typeface="Microsoft YaHei"/>
                  <a:ea typeface="Microsoft YaHei"/>
                  <a:cs typeface="Microsoft YaHei"/>
                </a:rPr>
                <a:t>低分辨率对姿态影响最明显。</a:t>
              </a:r>
            </a:p>
          </p:txBody>
        </p:sp>
      </p:grpSp>
      <p:grpSp>
        <p:nvGrpSpPr>
          <p:cNvPr id="26" name="summary-next"/>
          <p:cNvGrpSpPr/>
          <p:nvPr/>
        </p:nvGrpSpPr>
        <p:grpSpPr>
          <a:xfrm>
            <a:off x="8172450" y="1676400"/>
            <a:ext cx="3333750" cy="3429000"/>
            <a:chOff x="8172450" y="1676400"/>
            <a:chExt cx="3333750" cy="3429000"/>
          </a:xfrm>
        </p:grpSpPr>
        <p:sp>
          <p:nvSpPr>
            <p:cNvPr id="20" name="Rectangle 20"/>
            <p:cNvSpPr/>
            <p:nvPr/>
          </p:nvSpPr>
          <p:spPr>
            <a:xfrm>
              <a:off x="8172450" y="1676400"/>
              <a:ext cx="3333750" cy="3429000"/>
            </a:xfrm>
            <a:prstGeom prst="roundRect">
              <a:avLst>
                <a:gd name="adj" fmla="val 4571"/>
              </a:avLst>
            </a:prstGeom>
            <a:solidFill>
              <a:srgbClr val="FFF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68106" y="1917700"/>
              <a:ext cx="17647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 xml:space="preserve">3  边界与下一步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70392" y="2425700"/>
              <a:ext cx="25762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当前结果是“先跑通”的参考起点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70392" y="2825750"/>
              <a:ext cx="26000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框数量不能直接叫准确率或 mAP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70392" y="3225800"/>
              <a:ext cx="29086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补真实标注，再算 mAP、PCK、MAE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70392" y="393065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D27A55"/>
                  </a:solidFill>
                  <a:latin typeface="Microsoft YaHei"/>
                  <a:ea typeface="Microsoft YaHei"/>
                  <a:cs typeface="Microsoft YaHei"/>
                </a:rPr>
                <a:t>正式结论必须用真实答案验证。</a:t>
              </a:r>
            </a:p>
          </p:txBody>
        </p:sp>
      </p:grpSp>
      <p:grpSp>
        <p:nvGrpSpPr>
          <p:cNvPr id="29" name="summary-foot"/>
          <p:cNvGrpSpPr/>
          <p:nvPr/>
        </p:nvGrpSpPr>
        <p:grpSpPr>
          <a:xfrm>
            <a:off x="685800" y="5505450"/>
            <a:ext cx="10820400" cy="571500"/>
            <a:chOff x="685800" y="5505450"/>
            <a:chExt cx="10820400" cy="571500"/>
          </a:xfrm>
        </p:grpSpPr>
        <p:sp>
          <p:nvSpPr>
            <p:cNvPr id="27" name="Rectangle 27"/>
            <p:cNvSpPr/>
            <p:nvPr/>
          </p:nvSpPr>
          <p:spPr>
            <a:xfrm>
              <a:off x="685800" y="5505450"/>
              <a:ext cx="10820400" cy="571500"/>
            </a:xfrm>
            <a:prstGeom prst="roundRect">
              <a:avLst>
                <a:gd name="adj" fmla="val 26667"/>
              </a:avLst>
            </a:prstGeom>
            <a:solidFill>
              <a:srgbClr val="19312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82599" y="5667375"/>
              <a:ext cx="597159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DF8"/>
                  </a:solidFill>
                  <a:latin typeface="Microsoft YaHei"/>
                  <a:ea typeface="Microsoft YaHei"/>
                  <a:cs typeface="Microsoft YaHei"/>
                </a:rPr>
                <a:t>一句话：实验流程已经可复现，模型性能还要靠真实标注说话。</a:t>
              </a:r>
            </a:p>
          </p:txBody>
        </p:sp>
      </p:grpSp>
      <p:sp>
        <p:nvSpPr>
          <p:cNvPr id="9" name="直接连接符 8">
            <a:extLst>
              <a:ext uri="{FF2B5EF4-FFF2-40B4-BE49-F238E27FC236}">
                <ns2:creationId id="{1455B023-8126-4B2B-B899-A620FA5F6DFF}"/>
              </a:ext>
            </a:extLst>
          </p:cNvPr>
          <p:cNvSpPr>
            <a:spLocks noGrp="1"/>
          </p:cNvSpPr>
          <p:nvPr/>
        </p:nvSpPr>
        <p:spPr>
          <a:xfrm>
            <a:off x="5829300" y="1771650"/>
            <a:ext cx="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val="1027270452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slides/slide50.xml><?xml version="1.0" encoding="utf-8"?>
<p:sld xmlns:a="http://schemas.openxmlformats.org/drawingml/2006/main" xmlns:mc="http://schemas.openxmlformats.org/markup-compatibility/2006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672846" y="425450"/>
            <a:ext cx="10833354" cy="936625"/>
            <a:chOff x="672846" y="425450"/>
            <a:chExt cx="10833354" cy="936625"/>
          </a:xfrm>
        </p:grpSpPr>
        <p:sp>
          <p:nvSpPr>
            <p:cNvPr id="2" name="TextBox 2"/>
            <p:cNvSpPr txBox="1"/>
            <p:nvPr/>
          </p:nvSpPr>
          <p:spPr>
            <a:xfrm>
              <a:off x="680466" y="425450"/>
              <a:ext cx="10151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B6D66"/>
                  </a:solidFill>
                  <a:latin typeface="Microsoft YaHei"/>
                  <a:ea typeface="Microsoft YaHei"/>
                  <a:cs typeface="Microsoft YaHei"/>
                </a:rPr>
                <a:t>35A · 现场提示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72846" y="749300"/>
              <a:ext cx="28433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上台按这 6 句话讲</a:t>
              </a:r>
            </a:p>
          </p:txBody>
        </p:sp>
        <p:sp>
          <p:nvSpPr>
            <p:cNvPr id="4" name="Freeform 4"/>
            <p:cNvSpPr/>
            <p:nvPr/>
          </p:nvSpPr>
          <p:spPr>
            <a:xfrm>
              <a:off x="685800" y="1352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7DED8"/>
              </a:solidFill>
            </a:ln>
          </p:spPr>
        </p:sp>
      </p:grpSp>
      <p:grpSp>
        <p:nvGrpSpPr>
          <p:cNvPr id="10" name="talk-1"/>
          <p:cNvGrpSpPr/>
          <p:nvPr/>
        </p:nvGrpSpPr>
        <p:grpSpPr>
          <a:xfrm>
            <a:off x="685800" y="1676400"/>
            <a:ext cx="5314950" cy="1066800"/>
            <a:chOff x="685800" y="1676400"/>
            <a:chExt cx="5314950" cy="106680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5314950" cy="1066800"/>
            </a:xfrm>
            <a:prstGeom prst="roundRect">
              <a:avLst>
                <a:gd name="adj" fmla="val 14286"/>
              </a:avLst>
            </a:prstGeom>
            <a:solidFill>
              <a:srgbClr val="FFFDF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3356" y="182245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D27A55"/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83030" y="18415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问题</a:t>
              </a:r>
            </a:p>
          </p:txBody>
        </p:sp>
        <p:sp>
          <p:nvSpPr>
            <p:cNvPr id="39" name="TextBox 9"/>
            <p:cNvSpPr txBox="1"/>
            <p:nvPr/>
          </p:nvSpPr>
          <p:spPr>
            <a:xfrm>
              <a:off x="1384173" y="2247900"/>
              <a:ext cx="414848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真实课堂里，人离镜头远、图像小、前后排互相遮挡。</a:t>
              </a:r>
            </a:p>
          </p:txBody>
        </p:sp>
      </p:grpSp>
      <p:grpSp>
        <p:nvGrpSpPr>
          <p:cNvPr id="15" name="talk-2"/>
          <p:cNvGrpSpPr/>
          <p:nvPr/>
        </p:nvGrpSpPr>
        <p:grpSpPr>
          <a:xfrm>
            <a:off x="6191250" y="1676400"/>
            <a:ext cx="5314950" cy="1066800"/>
            <a:chOff x="6191250" y="1676400"/>
            <a:chExt cx="5314950" cy="1066800"/>
          </a:xfrm>
        </p:grpSpPr>
        <p:sp>
          <p:nvSpPr>
            <p:cNvPr id="11" name="Rectangle 11"/>
            <p:cNvSpPr/>
            <p:nvPr/>
          </p:nvSpPr>
          <p:spPr>
            <a:xfrm>
              <a:off x="6191250" y="1676400"/>
              <a:ext cx="5314950" cy="1066800"/>
            </a:xfrm>
            <a:prstGeom prst="roundRect">
              <a:avLst>
                <a:gd name="adj" fmla="val 14286"/>
              </a:avLst>
            </a:prstGeom>
            <a:solidFill>
              <a:srgbClr val="E5E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448806" y="182245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D27A55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88480" y="18415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数据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89623" y="2247900"/>
              <a:ext cx="294228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整理课堂行为、投入度、微表情数据。</a:t>
              </a:r>
            </a:p>
          </p:txBody>
        </p:sp>
      </p:grpSp>
      <p:grpSp>
        <p:nvGrpSpPr>
          <p:cNvPr id="20" name="talk-3"/>
          <p:cNvGrpSpPr/>
          <p:nvPr/>
        </p:nvGrpSpPr>
        <p:grpSpPr>
          <a:xfrm>
            <a:off x="685800" y="3048000"/>
            <a:ext cx="5314950" cy="1066800"/>
            <a:chOff x="685800" y="3048000"/>
            <a:chExt cx="5314950" cy="1066800"/>
          </a:xfrm>
        </p:grpSpPr>
        <p:sp>
          <p:nvSpPr>
            <p:cNvPr id="16" name="Rectangle 16"/>
            <p:cNvSpPr/>
            <p:nvPr/>
          </p:nvSpPr>
          <p:spPr>
            <a:xfrm>
              <a:off x="685800" y="3048000"/>
              <a:ext cx="5314950" cy="1066800"/>
            </a:xfrm>
            <a:prstGeom prst="roundRect">
              <a:avLst>
                <a:gd name="adj" fmla="val 14286"/>
              </a:avLst>
            </a:prstGeom>
            <a:solidFill>
              <a:srgbClr val="FFFD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3356" y="319405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D27A55"/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83030" y="32131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程序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84173" y="3619500"/>
              <a:ext cx="425186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选择数据 → 抽样 → 缩放和遮挡 → 框选人物 → 导出结果。</a:t>
              </a:r>
            </a:p>
          </p:txBody>
        </p:sp>
      </p:grpSp>
      <p:grpSp>
        <p:nvGrpSpPr>
          <p:cNvPr id="25" name="talk-4"/>
          <p:cNvGrpSpPr/>
          <p:nvPr/>
        </p:nvGrpSpPr>
        <p:grpSpPr>
          <a:xfrm>
            <a:off x="6191250" y="3048000"/>
            <a:ext cx="5314950" cy="1066800"/>
            <a:chOff x="6191250" y="3048000"/>
            <a:chExt cx="5314950" cy="1066800"/>
          </a:xfrm>
        </p:grpSpPr>
        <p:sp>
          <p:nvSpPr>
            <p:cNvPr id="21" name="Rectangle 21"/>
            <p:cNvSpPr/>
            <p:nvPr/>
          </p:nvSpPr>
          <p:spPr>
            <a:xfrm>
              <a:off x="6191250" y="3048000"/>
              <a:ext cx="5314950" cy="1066800"/>
            </a:xfrm>
            <a:prstGeom prst="roundRect">
              <a:avLst>
                <a:gd name="adj" fmla="val 14286"/>
              </a:avLst>
            </a:prstGeom>
            <a:solidFill>
              <a:srgbClr val="E5E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48806" y="319405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D27A55"/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88480" y="32131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实验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89623" y="3619500"/>
              <a:ext cx="407093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同一图只改一个条件，看模型是否少找人/姿态实例。</a:t>
              </a:r>
            </a:p>
          </p:txBody>
        </p:sp>
      </p:grpSp>
      <p:grpSp>
        <p:nvGrpSpPr>
          <p:cNvPr id="30" name="talk-5"/>
          <p:cNvGrpSpPr/>
          <p:nvPr/>
        </p:nvGrpSpPr>
        <p:grpSpPr>
          <a:xfrm>
            <a:off x="685800" y="4419600"/>
            <a:ext cx="5314950" cy="1066800"/>
            <a:chOff x="685800" y="4419600"/>
            <a:chExt cx="5314950" cy="1066800"/>
          </a:xfrm>
        </p:grpSpPr>
        <p:sp>
          <p:nvSpPr>
            <p:cNvPr id="26" name="Rectangle 26"/>
            <p:cNvSpPr/>
            <p:nvPr/>
          </p:nvSpPr>
          <p:spPr>
            <a:xfrm>
              <a:off x="685800" y="4419600"/>
              <a:ext cx="5314950" cy="1066800"/>
            </a:xfrm>
            <a:prstGeom prst="roundRect">
              <a:avLst>
                <a:gd name="adj" fmla="val 14286"/>
              </a:avLst>
            </a:prstGeom>
            <a:solidFill>
              <a:srgbClr val="FFF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3356" y="456565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D27A55"/>
                  </a:solidFill>
                  <a:latin typeface="Microsoft YaHei"/>
                  <a:ea typeface="Microsoft YaHei"/>
                  <a:cs typeface="Microsoft YaHei"/>
                </a:rPr>
                <a:t>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83030" y="45847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结果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84173" y="4991100"/>
              <a:ext cx="345922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低分辨率让姿态点减少；投入度模型会失配。</a:t>
              </a:r>
            </a:p>
          </p:txBody>
        </p:sp>
      </p:grpSp>
      <p:grpSp>
        <p:nvGrpSpPr>
          <p:cNvPr id="35" name="talk-6"/>
          <p:cNvGrpSpPr/>
          <p:nvPr/>
        </p:nvGrpSpPr>
        <p:grpSpPr>
          <a:xfrm>
            <a:off x="6191250" y="4419600"/>
            <a:ext cx="5314950" cy="1066800"/>
            <a:chOff x="6191250" y="4419600"/>
            <a:chExt cx="5314950" cy="1066800"/>
          </a:xfrm>
        </p:grpSpPr>
        <p:sp>
          <p:nvSpPr>
            <p:cNvPr id="31" name="Rectangle 31"/>
            <p:cNvSpPr/>
            <p:nvPr/>
          </p:nvSpPr>
          <p:spPr>
            <a:xfrm>
              <a:off x="6191250" y="4419600"/>
              <a:ext cx="5314950" cy="1066800"/>
            </a:xfrm>
            <a:prstGeom prst="roundRect">
              <a:avLst>
                <a:gd name="adj" fmla="val 14286"/>
              </a:avLst>
            </a:prstGeom>
            <a:solidFill>
              <a:srgbClr val="E5E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48806" y="456565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D27A55"/>
                  </a:solidFill>
                  <a:latin typeface="Microsoft YaHei"/>
                  <a:ea typeface="Microsoft YaHei"/>
                  <a:cs typeface="Microsoft YaHei"/>
                </a:rPr>
                <a:t>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88480" y="45847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9312E"/>
                  </a:solidFill>
                  <a:latin typeface="Microsoft YaHei"/>
                  <a:ea typeface="Microsoft YaHei"/>
                  <a:cs typeface="Microsoft YaHei"/>
                </a:rPr>
                <a:t>结论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89623" y="4991100"/>
              <a:ext cx="432079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4746D"/>
                  </a:solidFill>
                  <a:latin typeface="Microsoft YaHei"/>
                  <a:ea typeface="Microsoft YaHei"/>
                  <a:cs typeface="Microsoft YaHei"/>
                </a:rPr>
                <a:t>流程已经可复现，正式性能还要用真实标注训练和评价。</a:t>
              </a:r>
            </a:p>
          </p:txBody>
        </p:sp>
      </p:grpSp>
      <p:grpSp>
        <p:nvGrpSpPr>
          <p:cNvPr id="38" name="talk-foot"/>
          <p:cNvGrpSpPr/>
          <p:nvPr/>
        </p:nvGrpSpPr>
        <p:grpSpPr>
          <a:xfrm>
            <a:off x="685800" y="5715000"/>
            <a:ext cx="10820400" cy="457200"/>
            <a:chOff x="685800" y="5715000"/>
            <a:chExt cx="10820400" cy="457200"/>
          </a:xfrm>
        </p:grpSpPr>
        <p:sp>
          <p:nvSpPr>
            <p:cNvPr id="36" name="Rectangle 36"/>
            <p:cNvSpPr/>
            <p:nvPr/>
          </p:nvSpPr>
          <p:spPr>
            <a:xfrm>
              <a:off x="685800" y="5715000"/>
              <a:ext cx="10820400" cy="457200"/>
            </a:xfrm>
            <a:prstGeom prst="roundRect">
              <a:avLst>
                <a:gd name="adj" fmla="val 33333"/>
              </a:avLst>
            </a:prstGeom>
            <a:solidFill>
              <a:srgbClr val="19312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83361" y="5832475"/>
              <a:ext cx="47934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DF8"/>
                  </a:solidFill>
                  <a:latin typeface="Microsoft YaHei"/>
                  <a:ea typeface="Microsoft YaHei"/>
                  <a:cs typeface="Microsoft YaHei"/>
                </a:rPr>
                <a:t>遇到英文指标：先说中文含义，再补括号里的英文名称。</a:t>
              </a:r>
            </a:p>
          </p:txBody>
        </p:sp>
      </p:grpSp>
      <p:sp>
        <p:nvSpPr>
          <p:cNvPr id="9" name="直接连接符 8">
            <a:extLst>
              <a:ext uri="{FF2B5EF4-FFF2-40B4-BE49-F238E27FC236}">
                <ns2:creationId id="{1455B023-8126-4B2B-B899-A620FA5F6DFF}"/>
              </a:ext>
            </a:extLst>
          </p:cNvPr>
          <p:cNvSpPr>
            <a:spLocks noGrp="1"/>
          </p:cNvSpPr>
          <p:nvPr/>
        </p:nvSpPr>
        <p:spPr>
          <a:xfrm>
            <a:off x="5829300" y="1771650"/>
            <a:ext cx="0" cy="0"/>
          </a:xfrm>
          <a:prstGeom prst="line">
            <a:avLst/>
          </a:prstGeom>
          <a:noFill/>
          <a:ln w="9525">
            <a:solidFill>
              <a:srgbClr val="D7DE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val="1027270452"/>
      </p:ext>
    </p:extLst>
  </p:cSld>
  <p:clrMapOvr>
    <a:masterClrMapping/>
  </p:clrMapOvr>
  <mc:AlternateContent>
    <mc:Choice Requires="p14">
      <p:transition p14:dur="4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SC"/>
        <a:ea typeface=""/>
        <a:cs typeface=""/>
      </a:majorFont>
      <a:minorFont>
        <a:latin typeface="Noto Sans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SC"/>
        <a:ea typeface=""/>
        <a:cs typeface=""/>
      </a:majorFont>
      <a:minorFont>
        <a:latin typeface="Noto Sans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3496</ns0:Words>
  <ns0:Application>Microsoft Office PowerPoint</ns0:Application>
  <ns0:DocSecurity>0</ns0:DocSecurity>
  <ns0:PresentationFormat>宽屏</ns0:PresentationFormat>
  <ns0:Paragraphs>782</ns0:Paragraphs>
  <ns0:Slides>50</ns0:Slides>
  <ns0:Notes>33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2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33</ns1:i4>
      </ns1:variant>
    </ns1:vector>
  </ns0:HeadingPairs>
  <ns0:TitlesOfParts>
    <ns1:vector size="36" baseType="lpstr">
      <ns1:lpstr>Noto Sans SC</ns1:lpstr>
      <ns1:lpstr>Noto Serif SC</ns1:lpstr>
      <ns1:lpstr>ChatGPT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</ns1:vector>
  </ns0:TitlesOfParts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Windows</cp:lastModifiedBy>
  <cp:revision>1</cp:revision>
  <dcterms:created xsi:type="dcterms:W3CDTF">2026-10-28T01:15:09Z</dcterms:created>
  <dcterms:modified xsi:type="dcterms:W3CDTF">2026-10-28T01:23:06Z</dcterms:modified>
</cp:coreProperties>
</file>